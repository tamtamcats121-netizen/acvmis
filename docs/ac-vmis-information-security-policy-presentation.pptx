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Types>
</file>

<file path=_rels/.rels><?xml version="1.0" encoding="UTF-8" standalone="yes"?>
<Relationships xmlns="http://schemas.openxmlformats.org/package/2006/relationships">
  <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20"/>
  </p:sldMasterIdLst>
  <p:notesMasterIdLst>
    <p:notesMasterId r:id="rId21"/>
  </p:notesMasterIdLst>
  <p:sldIdLst>
    <p:sldId id="256" r:id="rId1"/>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Lst>
  <p:sldSz cx="12192000" cy="6858000" type="wide"/>
  <p:notesSz cx="6858000" cy="9144000"/>
  <p:defaultTextStyle/>
</p:presentation>
</file>

<file path=ppt/_rels/presentation.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slide" Target="slides/slide2.xml"/><Relationship Id="rId3" Type="http://schemas.openxmlformats.org/officeDocument/2006/relationships/slide" Target="slides/slide3.xml"/><Relationship Id="rId4" Type="http://schemas.openxmlformats.org/officeDocument/2006/relationships/slide" Target="slides/slide4.xml"/><Relationship Id="rId5" Type="http://schemas.openxmlformats.org/officeDocument/2006/relationships/slide" Target="slides/slide5.xml"/><Relationship Id="rId6" Type="http://schemas.openxmlformats.org/officeDocument/2006/relationships/slide" Target="slides/slide6.xml"/><Relationship Id="rId7" Type="http://schemas.openxmlformats.org/officeDocument/2006/relationships/slide" Target="slides/slide7.xml"/><Relationship Id="rId8" Type="http://schemas.openxmlformats.org/officeDocument/2006/relationships/slide" Target="slides/slide8.xml"/><Relationship Id="rId9" Type="http://schemas.openxmlformats.org/officeDocument/2006/relationships/slide" Target="slides/slide9.xml"/><Relationship Id="rId10" Type="http://schemas.openxmlformats.org/officeDocument/2006/relationships/slide" Target="slides/slide10.xml"/><Relationship Id="rId11" Type="http://schemas.openxmlformats.org/officeDocument/2006/relationships/slide" Target="slides/slide11.xml"/><Relationship Id="rId12" Type="http://schemas.openxmlformats.org/officeDocument/2006/relationships/slide" Target="slides/slide12.xml"/><Relationship Id="rId13" Type="http://schemas.openxmlformats.org/officeDocument/2006/relationships/slide" Target="slides/slide13.xml"/><Relationship Id="rId14" Type="http://schemas.openxmlformats.org/officeDocument/2006/relationships/slide" Target="slides/slide14.xml"/><Relationship Id="rId15" Type="http://schemas.openxmlformats.org/officeDocument/2006/relationships/slide" Target="slides/slide15.xml"/><Relationship Id="rId16" Type="http://schemas.openxmlformats.org/officeDocument/2006/relationships/slide" Target="slides/slide16.xml"/><Relationship Id="rId17" Type="http://schemas.openxmlformats.org/officeDocument/2006/relationships/slide" Target="slides/slide17.xml"/><Relationship Id="rId18" Type="http://schemas.openxmlformats.org/officeDocument/2006/relationships/slide" Target="slides/slide18.xml"/><Relationship Id="rId19" Type="http://schemas.openxmlformats.org/officeDocument/2006/relationships/slide" Target="slides/slide19.xml"/><Relationship Id="rId20" Type="http://schemas.openxmlformats.org/officeDocument/2006/relationships/slideMaster" Target="slideMasters/slideMaster1.xml"/><Relationship Id="rId21" Type="http://schemas.openxmlformats.org/officeDocument/2006/relationships/notesMaster" Target="notesMasters/notesMaster1.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6858000" cy="9144000"/>
          <a:chOff x="0" y="0"/>
          <a:chExt cx="6858000" cy="9144000"/>
        </a:xfrm>
      </p:grpSpPr>
    </p:spTree>
  </p:cSld>
  <p:clrMap bg1="lt1" tx1="dk1" bg2="lt2" tx2="dk2" accent1="accent1" accent2="accent2" accent3="accent3" accent4="accent4" accent5="accent5" accent6="accent6" hlink="hlink" folHlink="folHlink"/>
</p:notesMaster>
</file>

<file path=ppt/notesSlides/_rels/notesSlide1.xml.rels><?xml version="1.0" encoding="UTF-8" standalone="yes"?>
<Relationships xmlns="http://schemas.openxmlformats.org/package/2006/relationships">
  <Relationship Id="rId1"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6858000" cy="9144000"/>
          <a:chOff x="0" y="0"/>
          <a:chExt cx="6858000" cy="9144000"/>
        </a:xfrm>
      </p:grpSpPr>
      <p:sp>
        <p:nvSpPr>
          <p:cNvPr id="2" name="Speaker Notes"/>
          <p:cNvSpPr txBox="1"/>
          <p:nvPr/>
        </p:nvSpPr>
        <p:spPr>
          <a:xfrm>
            <a:off x="457200" y="5486400"/>
            <a:ext cx="5943600" cy="2743200"/>
          </a:xfrm>
          <a:prstGeom prst="rect">
            <a:avLst/>
          </a:prstGeom>
          <a:solidFill>
            <a:srgbClr val="FFFFFF"/>
          </a:solidFill>
          <a:ln w="9525">
            <a:solidFill>
              <a:srgbClr val="BBD7F0"/>
            </a:solidFill>
          </a:ln>
        </p:spPr>
        <p:txBody>
          <a:bodyPr wrap="square" anchor="top" lIns="91440" rIns="91440" tIns="45720" bIns="45720"/>
          <a:lstStyle/>
          <a:p>
            <a:r>
              <a:rPr lang="en-US" sz="1200" dirty="0">
                <a:solidFill>
                  <a:srgbClr val="1F2937"/>
                </a:solidFill>
              </a:rPr>
              <a:t>Open by introducing the policy as the high-level framework for protecting information handled by AC-VMIS. Emphasize that the deck is based on the approved policy document dated June 20, 2026.</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6858000" cy="9144000"/>
          <a:chOff x="0" y="0"/>
          <a:chExt cx="6858000" cy="9144000"/>
        </a:xfrm>
      </p:grpSpPr>
      <p:sp>
        <p:nvSpPr>
          <p:cNvPr id="2" name="Speaker Notes"/>
          <p:cNvSpPr txBox="1"/>
          <p:nvPr/>
        </p:nvSpPr>
        <p:spPr>
          <a:xfrm>
            <a:off x="457200" y="5486400"/>
            <a:ext cx="5943600" cy="2743200"/>
          </a:xfrm>
          <a:prstGeom prst="rect">
            <a:avLst/>
          </a:prstGeom>
          <a:solidFill>
            <a:srgbClr val="FFFFFF"/>
          </a:solidFill>
          <a:ln w="9525">
            <a:solidFill>
              <a:srgbClr val="BBD7F0"/>
            </a:solidFill>
          </a:ln>
        </p:spPr>
        <p:txBody>
          <a:bodyPr wrap="square" anchor="top" lIns="91440" rIns="91440" tIns="45720" bIns="45720"/>
          <a:lstStyle/>
          <a:p>
            <a:r>
              <a:rPr lang="en-US" sz="1200" dirty="0">
                <a:solidFill>
                  <a:srgbClr val="1F2937"/>
                </a:solidFill>
              </a:rPr>
              <a:t>Walk the audience through the flow. Mention that the presentation moves from general policy goals into operational controls, then ends with access control and compliance.</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6858000" cy="9144000"/>
          <a:chOff x="0" y="0"/>
          <a:chExt cx="6858000" cy="9144000"/>
        </a:xfrm>
      </p:grpSpPr>
      <p:sp>
        <p:nvSpPr>
          <p:cNvPr id="2" name="Speaker Notes"/>
          <p:cNvSpPr txBox="1"/>
          <p:nvPr/>
        </p:nvSpPr>
        <p:spPr>
          <a:xfrm>
            <a:off x="457200" y="5486400"/>
            <a:ext cx="5943600" cy="2743200"/>
          </a:xfrm>
          <a:prstGeom prst="rect">
            <a:avLst/>
          </a:prstGeom>
          <a:solidFill>
            <a:srgbClr val="FFFFFF"/>
          </a:solidFill>
          <a:ln w="9525">
            <a:solidFill>
              <a:srgbClr val="BBD7F0"/>
            </a:solidFill>
          </a:ln>
        </p:spPr>
        <p:txBody>
          <a:bodyPr wrap="square" anchor="top" lIns="91440" rIns="91440" tIns="45720" bIns="45720"/>
          <a:lstStyle/>
          <a:p>
            <a:r>
              <a:rPr lang="en-US" sz="1200" dirty="0">
                <a:solidFill>
                  <a:srgbClr val="1F2937"/>
                </a:solidFill>
              </a:rPr>
              <a:t>Explain that AC-VMIS processes sensitive academic, athletic, and personal information. The policy exists because incidents can cause privacy violations, reputational damage, operational disruption, financial loss, and non-compliance.</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6858000" cy="9144000"/>
          <a:chOff x="0" y="0"/>
          <a:chExt cx="6858000" cy="9144000"/>
        </a:xfrm>
      </p:grpSpPr>
      <p:sp>
        <p:nvSpPr>
          <p:cNvPr id="2" name="Speaker Notes"/>
          <p:cNvSpPr txBox="1"/>
          <p:nvPr/>
        </p:nvSpPr>
        <p:spPr>
          <a:xfrm>
            <a:off x="457200" y="5486400"/>
            <a:ext cx="5943600" cy="2743200"/>
          </a:xfrm>
          <a:prstGeom prst="rect">
            <a:avLst/>
          </a:prstGeom>
          <a:solidFill>
            <a:srgbClr val="FFFFFF"/>
          </a:solidFill>
          <a:ln w="9525">
            <a:solidFill>
              <a:srgbClr val="BBD7F0"/>
            </a:solidFill>
          </a:ln>
        </p:spPr>
        <p:txBody>
          <a:bodyPr wrap="square" anchor="top" lIns="91440" rIns="91440" tIns="45720" bIns="45720"/>
          <a:lstStyle/>
          <a:p>
            <a:r>
              <a:rPr lang="en-US" sz="1200" dirty="0">
                <a:solidFill>
                  <a:srgbClr val="1F2937"/>
                </a:solidFill>
              </a:rPr>
              <a:t>Review the objectives as the expected outcomes of the policy: risk treatment, secure access, record protection, usability, compliance, awareness, and learning from incidents.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6858000" cy="9144000"/>
          <a:chOff x="0" y="0"/>
          <a:chExt cx="6858000" cy="9144000"/>
        </a:xfrm>
      </p:grpSpPr>
      <p:sp>
        <p:nvSpPr>
          <p:cNvPr id="2" name="Speaker Notes"/>
          <p:cNvSpPr txBox="1"/>
          <p:nvPr/>
        </p:nvSpPr>
        <p:spPr>
          <a:xfrm>
            <a:off x="457200" y="5486400"/>
            <a:ext cx="5943600" cy="2743200"/>
          </a:xfrm>
          <a:prstGeom prst="rect">
            <a:avLst/>
          </a:prstGeom>
          <a:solidFill>
            <a:srgbClr val="FFFFFF"/>
          </a:solidFill>
          <a:ln w="9525">
            <a:solidFill>
              <a:srgbClr val="BBD7F0"/>
            </a:solidFill>
          </a:ln>
        </p:spPr>
        <p:txBody>
          <a:bodyPr wrap="square" anchor="top" lIns="91440" rIns="91440" tIns="45720" bIns="45720"/>
          <a:lstStyle/>
          <a:p>
            <a:r>
              <a:rPr lang="en-US" sz="1200" dirty="0">
                <a:solidFill>
                  <a:srgbClr val="1F2937"/>
                </a:solidFill>
              </a:rPr>
              <a:t>Clarify that the policy applies across formats and users. Everyone with authorized access must follow related privacy, acceptable use, access control, records management, and incident reporting policies.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6858000" cy="9144000"/>
          <a:chOff x="0" y="0"/>
          <a:chExt cx="6858000" cy="9144000"/>
        </a:xfrm>
      </p:grpSpPr>
      <p:sp>
        <p:nvSpPr>
          <p:cNvPr id="2" name="Speaker Notes"/>
          <p:cNvSpPr txBox="1"/>
          <p:nvPr/>
        </p:nvSpPr>
        <p:spPr>
          <a:xfrm>
            <a:off x="457200" y="5486400"/>
            <a:ext cx="5943600" cy="2743200"/>
          </a:xfrm>
          <a:prstGeom prst="rect">
            <a:avLst/>
          </a:prstGeom>
          <a:solidFill>
            <a:srgbClr val="FFFFFF"/>
          </a:solidFill>
          <a:ln w="9525">
            <a:solidFill>
              <a:srgbClr val="BBD7F0"/>
            </a:solidFill>
          </a:ln>
        </p:spPr>
        <p:txBody>
          <a:bodyPr wrap="square" anchor="top" lIns="91440" rIns="91440" tIns="45720" bIns="45720"/>
          <a:lstStyle/>
          <a:p>
            <a:r>
              <a:rPr lang="en-US" sz="1200" dirty="0">
                <a:solidFill>
                  <a:srgbClr val="1F2937"/>
                </a:solidFill>
              </a:rPr>
              <a:t>Use this slide to show that compliance monitoring is active and documented. Monitoring may include access reviews, audit logs, submitted documents, account approvals, eligibility records, incident reports, system changes, and backups.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6858000" cy="9144000"/>
          <a:chOff x="0" y="0"/>
          <a:chExt cx="6858000" cy="9144000"/>
        </a:xfrm>
      </p:grpSpPr>
      <p:sp>
        <p:nvSpPr>
          <p:cNvPr id="2" name="Speaker Notes"/>
          <p:cNvSpPr txBox="1"/>
          <p:nvPr/>
        </p:nvSpPr>
        <p:spPr>
          <a:xfrm>
            <a:off x="457200" y="5486400"/>
            <a:ext cx="5943600" cy="2743200"/>
          </a:xfrm>
          <a:prstGeom prst="rect">
            <a:avLst/>
          </a:prstGeom>
          <a:solidFill>
            <a:srgbClr val="FFFFFF"/>
          </a:solidFill>
          <a:ln w="9525">
            <a:solidFill>
              <a:srgbClr val="BBD7F0"/>
            </a:solidFill>
          </a:ln>
        </p:spPr>
        <p:txBody>
          <a:bodyPr wrap="square" anchor="top" lIns="91440" rIns="91440" tIns="45720" bIns="45720"/>
          <a:lstStyle/>
          <a:p>
            <a:r>
              <a:rPr lang="en-US" sz="1200" dirty="0">
                <a:solidFill>
                  <a:srgbClr val="1F2937"/>
                </a:solidFill>
              </a:rPr>
              <a:t>Explain the CIA triad. The policy requires administrative, technical, physical, and procedural safeguards for records, schedules, documents, reports, and related system information.</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6858000" cy="9144000"/>
          <a:chOff x="0" y="0"/>
          <a:chExt cx="6858000" cy="9144000"/>
        </a:xfrm>
      </p:grpSpPr>
      <p:sp>
        <p:nvSpPr>
          <p:cNvPr id="2" name="Speaker Notes"/>
          <p:cNvSpPr txBox="1"/>
          <p:nvPr/>
        </p:nvSpPr>
        <p:spPr>
          <a:xfrm>
            <a:off x="457200" y="5486400"/>
            <a:ext cx="5943600" cy="2743200"/>
          </a:xfrm>
          <a:prstGeom prst="rect">
            <a:avLst/>
          </a:prstGeom>
          <a:solidFill>
            <a:srgbClr val="FFFFFF"/>
          </a:solidFill>
          <a:ln w="9525">
            <a:solidFill>
              <a:srgbClr val="BBD7F0"/>
            </a:solidFill>
          </a:ln>
        </p:spPr>
        <p:txBody>
          <a:bodyPr wrap="square" anchor="top" lIns="91440" rIns="91440" tIns="45720" bIns="45720"/>
          <a:lstStyle/>
          <a:p>
            <a:r>
              <a:rPr lang="en-US" sz="1200" dirty="0">
                <a:solidFill>
                  <a:srgbClr val="1F2937"/>
                </a:solidFill>
              </a:rPr>
              <a:t>Point out that this policy is the umbrella. Detailed procedures make it practical for daily system use, administration, record handling, incident reporting, and retention.</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6858000" cy="9144000"/>
          <a:chOff x="0" y="0"/>
          <a:chExt cx="6858000" cy="9144000"/>
        </a:xfrm>
      </p:grpSpPr>
      <p:sp>
        <p:nvSpPr>
          <p:cNvPr id="2" name="Speaker Notes"/>
          <p:cNvSpPr txBox="1"/>
          <p:nvPr/>
        </p:nvSpPr>
        <p:spPr>
          <a:xfrm>
            <a:off x="457200" y="5486400"/>
            <a:ext cx="5943600" cy="2743200"/>
          </a:xfrm>
          <a:prstGeom prst="rect">
            <a:avLst/>
          </a:prstGeom>
          <a:solidFill>
            <a:srgbClr val="FFFFFF"/>
          </a:solidFill>
          <a:ln w="9525">
            <a:solidFill>
              <a:srgbClr val="BBD7F0"/>
            </a:solidFill>
          </a:ln>
        </p:spPr>
        <p:txBody>
          <a:bodyPr wrap="square" anchor="top" lIns="91440" rIns="91440" tIns="45720" bIns="45720"/>
          <a:lstStyle/>
          <a:p>
            <a:r>
              <a:rPr lang="en-US" sz="1200" dirty="0">
                <a:solidFill>
                  <a:srgbClr val="1F2937"/>
                </a:solidFill>
              </a:rPr>
              <a:t>Describe governance as shared responsibility. Oversight belongs to institutional authority, while IT or information security personnel handle daily security activities.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6858000" cy="9144000"/>
          <a:chOff x="0" y="0"/>
          <a:chExt cx="6858000" cy="9144000"/>
        </a:xfrm>
      </p:grpSpPr>
      <p:sp>
        <p:nvSpPr>
          <p:cNvPr id="2" name="Speaker Notes"/>
          <p:cNvSpPr txBox="1"/>
          <p:nvPr/>
        </p:nvSpPr>
        <p:spPr>
          <a:xfrm>
            <a:off x="457200" y="5486400"/>
            <a:ext cx="5943600" cy="2743200"/>
          </a:xfrm>
          <a:prstGeom prst="rect">
            <a:avLst/>
          </a:prstGeom>
          <a:solidFill>
            <a:srgbClr val="FFFFFF"/>
          </a:solidFill>
          <a:ln w="9525">
            <a:solidFill>
              <a:srgbClr val="BBD7F0"/>
            </a:solidFill>
          </a:ln>
        </p:spPr>
        <p:txBody>
          <a:bodyPr wrap="square" anchor="top" lIns="91440" rIns="91440" tIns="45720" bIns="45720"/>
          <a:lstStyle/>
          <a:p>
            <a:r>
              <a:rPr lang="en-US" sz="1200" dirty="0">
                <a:solidFill>
                  <a:srgbClr val="1F2937"/>
                </a:solidFill>
              </a:rPr>
              <a:t>Connect user awareness with asset accountability. A system cannot be secured only through technology; people must know their duties and assets must be classified and owned.</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6858000" cy="9144000"/>
          <a:chOff x="0" y="0"/>
          <a:chExt cx="6858000" cy="9144000"/>
        </a:xfrm>
      </p:grpSpPr>
      <p:sp>
        <p:nvSpPr>
          <p:cNvPr id="2" name="Speaker Notes"/>
          <p:cNvSpPr txBox="1"/>
          <p:nvPr/>
        </p:nvSpPr>
        <p:spPr>
          <a:xfrm>
            <a:off x="457200" y="5486400"/>
            <a:ext cx="5943600" cy="2743200"/>
          </a:xfrm>
          <a:prstGeom prst="rect">
            <a:avLst/>
          </a:prstGeom>
          <a:solidFill>
            <a:srgbClr val="FFFFFF"/>
          </a:solidFill>
          <a:ln w="9525">
            <a:solidFill>
              <a:srgbClr val="BBD7F0"/>
            </a:solidFill>
          </a:ln>
        </p:spPr>
        <p:txBody>
          <a:bodyPr wrap="square" anchor="top" lIns="91440" rIns="91440" tIns="45720" bIns="45720"/>
          <a:lstStyle/>
          <a:p>
            <a:r>
              <a:rPr lang="en-US" sz="1200" dirty="0">
                <a:solidFill>
                  <a:srgbClr val="1F2937"/>
                </a:solidFill>
              </a:rPr>
              <a:t>Explain that access control limits who can do what in AC-VMIS. Cryptography supports protection of information, especially passwords, secure connections, and storage where applicable.</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6858000" cy="9144000"/>
          <a:chOff x="0" y="0"/>
          <a:chExt cx="6858000" cy="9144000"/>
        </a:xfrm>
      </p:grpSpPr>
      <p:sp>
        <p:nvSpPr>
          <p:cNvPr id="2" name="Speaker Notes"/>
          <p:cNvSpPr txBox="1"/>
          <p:nvPr/>
        </p:nvSpPr>
        <p:spPr>
          <a:xfrm>
            <a:off x="457200" y="5486400"/>
            <a:ext cx="5943600" cy="2743200"/>
          </a:xfrm>
          <a:prstGeom prst="rect">
            <a:avLst/>
          </a:prstGeom>
          <a:solidFill>
            <a:srgbClr val="FFFFFF"/>
          </a:solidFill>
          <a:ln w="9525">
            <a:solidFill>
              <a:srgbClr val="BBD7F0"/>
            </a:solidFill>
          </a:ln>
        </p:spPr>
        <p:txBody>
          <a:bodyPr wrap="square" anchor="top" lIns="91440" rIns="91440" tIns="45720" bIns="45720"/>
          <a:lstStyle/>
          <a:p>
            <a:r>
              <a:rPr lang="en-US" sz="1200" dirty="0">
                <a:solidFill>
                  <a:srgbClr val="1F2937"/>
                </a:solidFill>
              </a:rPr>
              <a:t>Use this slide to show that controls apply beyond login screens. Facilities, devices, operational procedures, logs, backups, uploaded files, and communications must all be protected.</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6858000" cy="9144000"/>
          <a:chOff x="0" y="0"/>
          <a:chExt cx="6858000" cy="9144000"/>
        </a:xfrm>
      </p:grpSpPr>
      <p:sp>
        <p:nvSpPr>
          <p:cNvPr id="2" name="Speaker Notes"/>
          <p:cNvSpPr txBox="1"/>
          <p:nvPr/>
        </p:nvSpPr>
        <p:spPr>
          <a:xfrm>
            <a:off x="457200" y="5486400"/>
            <a:ext cx="5943600" cy="2743200"/>
          </a:xfrm>
          <a:prstGeom prst="rect">
            <a:avLst/>
          </a:prstGeom>
          <a:solidFill>
            <a:srgbClr val="FFFFFF"/>
          </a:solidFill>
          <a:ln w="9525">
            <a:solidFill>
              <a:srgbClr val="BBD7F0"/>
            </a:solidFill>
          </a:ln>
        </p:spPr>
        <p:txBody>
          <a:bodyPr wrap="square" anchor="top" lIns="91440" rIns="91440" tIns="45720" bIns="45720"/>
          <a:lstStyle/>
          <a:p>
            <a:r>
              <a:rPr lang="en-US" sz="1200" dirty="0">
                <a:solidFill>
                  <a:srgbClr val="1F2937"/>
                </a:solidFill>
              </a:rPr>
              <a:t>Discuss the importance of change management and supplier oversight. External parties should only receive controlled access appropriate to the sensitivity and value of the information involved.</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6858000" cy="9144000"/>
          <a:chOff x="0" y="0"/>
          <a:chExt cx="6858000" cy="9144000"/>
        </a:xfrm>
      </p:grpSpPr>
      <p:sp>
        <p:nvSpPr>
          <p:cNvPr id="2" name="Speaker Notes"/>
          <p:cNvSpPr txBox="1"/>
          <p:nvPr/>
        </p:nvSpPr>
        <p:spPr>
          <a:xfrm>
            <a:off x="457200" y="5486400"/>
            <a:ext cx="5943600" cy="2743200"/>
          </a:xfrm>
          <a:prstGeom prst="rect">
            <a:avLst/>
          </a:prstGeom>
          <a:solidFill>
            <a:srgbClr val="FFFFFF"/>
          </a:solidFill>
          <a:ln w="9525">
            <a:solidFill>
              <a:srgbClr val="BBD7F0"/>
            </a:solidFill>
          </a:ln>
        </p:spPr>
        <p:txBody>
          <a:bodyPr wrap="square" anchor="top" lIns="91440" rIns="91440" tIns="45720" bIns="45720"/>
          <a:lstStyle/>
          <a:p>
            <a:r>
              <a:rPr lang="en-US" sz="1200" dirty="0">
                <a:solidFill>
                  <a:srgbClr val="1F2937"/>
                </a:solidFill>
              </a:rPr>
              <a:t>Explain that actual or suspected breaches must be reported immediately. Corrective action must contain and resolve the incident, and lessons learned should improve controls, awareness, procedures, and safeguards.</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6858000" cy="9144000"/>
          <a:chOff x="0" y="0"/>
          <a:chExt cx="6858000" cy="9144000"/>
        </a:xfrm>
      </p:grpSpPr>
      <p:sp>
        <p:nvSpPr>
          <p:cNvPr id="2" name="Speaker Notes"/>
          <p:cNvSpPr txBox="1"/>
          <p:nvPr/>
        </p:nvSpPr>
        <p:spPr>
          <a:xfrm>
            <a:off x="457200" y="5486400"/>
            <a:ext cx="5943600" cy="2743200"/>
          </a:xfrm>
          <a:prstGeom prst="rect">
            <a:avLst/>
          </a:prstGeom>
          <a:solidFill>
            <a:srgbClr val="FFFFFF"/>
          </a:solidFill>
          <a:ln w="9525">
            <a:solidFill>
              <a:srgbClr val="BBD7F0"/>
            </a:solidFill>
          </a:ln>
        </p:spPr>
        <p:txBody>
          <a:bodyPr wrap="square" anchor="top" lIns="91440" rIns="91440" tIns="45720" bIns="45720"/>
          <a:lstStyle/>
          <a:p>
            <a:r>
              <a:rPr lang="en-US" sz="1200" dirty="0">
                <a:solidFill>
                  <a:srgbClr val="1F2937"/>
                </a:solidFill>
              </a:rPr>
              <a:t>This slide condenses the policy's incident table. Stress that every suspected incident should be documented, severity should guide response, evidence should be preserved, and privacy incidents may require legal or DPO escalation.</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6858000" cy="9144000"/>
          <a:chOff x="0" y="0"/>
          <a:chExt cx="6858000" cy="9144000"/>
        </a:xfrm>
      </p:grpSpPr>
      <p:sp>
        <p:nvSpPr>
          <p:cNvPr id="2" name="Speaker Notes"/>
          <p:cNvSpPr txBox="1"/>
          <p:nvPr/>
        </p:nvSpPr>
        <p:spPr>
          <a:xfrm>
            <a:off x="457200" y="5486400"/>
            <a:ext cx="5943600" cy="2743200"/>
          </a:xfrm>
          <a:prstGeom prst="rect">
            <a:avLst/>
          </a:prstGeom>
          <a:solidFill>
            <a:srgbClr val="FFFFFF"/>
          </a:solidFill>
          <a:ln w="9525">
            <a:solidFill>
              <a:srgbClr val="BBD7F0"/>
            </a:solidFill>
          </a:ln>
        </p:spPr>
        <p:txBody>
          <a:bodyPr wrap="square" anchor="top" lIns="91440" rIns="91440" tIns="45720" bIns="45720"/>
          <a:lstStyle/>
          <a:p>
            <a:r>
              <a:rPr lang="en-US" sz="1200" dirty="0">
                <a:solidFill>
                  <a:srgbClr val="1F2937"/>
                </a:solidFill>
              </a:rPr>
              <a:t>Emphasize that compliance is ongoing. The policy must be reviewed annually or after significant changes in system, operations, law, technology, or risk level.</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6858000" cy="9144000"/>
          <a:chOff x="0" y="0"/>
          <a:chExt cx="6858000" cy="9144000"/>
        </a:xfrm>
      </p:grpSpPr>
      <p:sp>
        <p:nvSpPr>
          <p:cNvPr id="2" name="Speaker Notes"/>
          <p:cNvSpPr txBox="1"/>
          <p:nvPr/>
        </p:nvSpPr>
        <p:spPr>
          <a:xfrm>
            <a:off x="457200" y="5486400"/>
            <a:ext cx="5943600" cy="2743200"/>
          </a:xfrm>
          <a:prstGeom prst="rect">
            <a:avLst/>
          </a:prstGeom>
          <a:solidFill>
            <a:srgbClr val="FFFFFF"/>
          </a:solidFill>
          <a:ln w="9525">
            <a:solidFill>
              <a:srgbClr val="BBD7F0"/>
            </a:solidFill>
          </a:ln>
        </p:spPr>
        <p:txBody>
          <a:bodyPr wrap="square" anchor="top" lIns="91440" rIns="91440" tIns="45720" bIns="45720"/>
          <a:lstStyle/>
          <a:p>
            <a:r>
              <a:rPr lang="en-US" sz="1200" dirty="0">
                <a:solidFill>
                  <a:srgbClr val="1F2937"/>
                </a:solidFill>
              </a:rPr>
              <a:t>Explain that access is based on role. Administrators have broad oversight, coaches manage assigned sport/team resources, and student-athletes mainly access their own records and submissions.</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6858000" cy="9144000"/>
          <a:chOff x="0" y="0"/>
          <a:chExt cx="6858000" cy="9144000"/>
        </a:xfrm>
      </p:grpSpPr>
      <p:sp>
        <p:nvSpPr>
          <p:cNvPr id="2" name="Speaker Notes"/>
          <p:cNvSpPr txBox="1"/>
          <p:nvPr/>
        </p:nvSpPr>
        <p:spPr>
          <a:xfrm>
            <a:off x="457200" y="5486400"/>
            <a:ext cx="5943600" cy="2743200"/>
          </a:xfrm>
          <a:prstGeom prst="rect">
            <a:avLst/>
          </a:prstGeom>
          <a:solidFill>
            <a:srgbClr val="FFFFFF"/>
          </a:solidFill>
          <a:ln w="9525">
            <a:solidFill>
              <a:srgbClr val="BBD7F0"/>
            </a:solidFill>
          </a:ln>
        </p:spPr>
        <p:txBody>
          <a:bodyPr wrap="square" anchor="top" lIns="91440" rIns="91440" tIns="45720" bIns="45720"/>
          <a:lstStyle/>
          <a:p>
            <a:r>
              <a:rPr lang="en-US" sz="1200" dirty="0">
                <a:solidFill>
                  <a:srgbClr val="1F2937"/>
                </a:solidFill>
              </a:rPr>
              <a:t>This slide shows the effect of assigning a role to a user. Use it to demonstrate least privilege: users receive only the capabilities needed for their approved responsibilities.</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6858000" cy="9144000"/>
          <a:chOff x="0" y="0"/>
          <a:chExt cx="6858000" cy="9144000"/>
        </a:xfrm>
      </p:grpSpPr>
      <p:sp>
        <p:nvSpPr>
          <p:cNvPr id="2" name="Speaker Notes"/>
          <p:cNvSpPr txBox="1"/>
          <p:nvPr/>
        </p:nvSpPr>
        <p:spPr>
          <a:xfrm>
            <a:off x="457200" y="5486400"/>
            <a:ext cx="5943600" cy="2743200"/>
          </a:xfrm>
          <a:prstGeom prst="rect">
            <a:avLst/>
          </a:prstGeom>
          <a:solidFill>
            <a:srgbClr val="FFFFFF"/>
          </a:solidFill>
          <a:ln w="9525">
            <a:solidFill>
              <a:srgbClr val="BBD7F0"/>
            </a:solidFill>
          </a:ln>
        </p:spPr>
        <p:txBody>
          <a:bodyPr wrap="square" anchor="top" lIns="91440" rIns="91440" tIns="45720" bIns="45720"/>
          <a:lstStyle/>
          <a:p>
            <a:r>
              <a:rPr lang="en-US" sz="1200" dirty="0">
                <a:solidFill>
                  <a:srgbClr val="1F2937"/>
                </a:solidFill>
              </a:rPr>
              <a:t>Close by emphasizing shared responsibility and continuous improvement. The policy provides the institutional direction for protecting AC-VMIS information and keeping access aligned with user responsibilities.</a:t>
            </a:r>
          </a:p>
        </p:txBody>
      </p:sp>
    </p:spTree>
  </p:cSld>
  <p:clrMapOvr>
    <a:masterClrMapping/>
  </p:clrMapOvr>
</p:notes>
</file>

<file path=ppt/slideLayouts/_rels/slideLayout1.xml.rels><?xml version="1.0" encoding="UTF-8" standalone="yes"?>
<Relationships xmlns="http://schemas.openxmlformats.org/package/2006/relationships">
  <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12192000" cy="6858000"/>
          <a:chOff x="0" y="0"/>
          <a:chExt cx="12192000" cy="6858000"/>
        </a:xfrm>
      </p:grpSpPr>
    </p:spTree>
  </p:cSld>
  <p:clrMapOvr>
    <a:masterClrMapping/>
  </p:clrMapOvr>
</p:sldLayout>
</file>

<file path=ppt/slideMasters/_rels/slideMaster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theme" Target="../theme/theme1.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2192000" cy="6858000"/>
          <a:chOff x="0" y="0"/>
          <a:chExt cx="12192000" cy="6858000"/>
        </a:xfrm>
      </p:grpSpPr>
    </p:spTree>
  </p:cSld>
  <p:clrMap bg1="lt1" tx1="dk1" bg2="lt2" tx2="dk2" accent1="accent1" accent2="accent2" accent3="accent3" accent4="accent4" accent5="accent5" accent6="accent6" hlink="hlink" folHlink="folHlink"/>
  <p:sldLayoutIdLst>
    <p:sldLayoutId id="2147483649" r:id="rId1"/>
  </p:sldLayoutIdLst>
  <p:txStyles>
    <p:titleStyle/>
    <p:bodyStyle/>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5.xml"/>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6.xml"/>
</Relationships>
</file>

<file path=ppt/slides/_rels/slide17.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7.xml"/>
</Relationships>
</file>

<file path=ppt/slides/_rels/slide18.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8.xml"/>
</Relationships>
</file>

<file path=ppt/slides/_rels/slide19.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9.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2192000" cy="6858000"/>
          <a:chOff x="0" y="0"/>
          <a:chExt cx="12192000" cy="6858000"/>
        </a:xfrm>
      </p:grpSpPr>
      <p:sp>
        <p:nvSpPr>
          <p:cNvPr id="2" name="Text Box"/>
          <p:cNvSpPr txBox="1"/>
          <p:nvPr/>
        </p:nvSpPr>
        <p:spPr>
          <a:xfrm>
            <a:off x="0" y="0"/>
            <a:ext cx="12192000" cy="530352"/>
          </a:xfrm>
          <a:prstGeom prst="rect">
            <a:avLst/>
          </a:prstGeom>
          <a:solidFill>
            <a:srgbClr val="034485"/>
          </a:solidFill>
          <a:ln>
            <a:noFill/>
          </a:ln>
        </p:spPr>
        <p:txBody>
          <a:bodyPr wrap="square" anchor="mid" lIns="384048" rIns="91440" tIns="109728" bIns="109728"/>
          <a:lstStyle/>
          <a:p>
            <a:r>
              <a:rPr lang="en-US" sz="1300" dirty="0">
                <a:b/>
                <a:solidFill>
                  <a:srgbClr val="FFFFFF"/>
                </a:solidFill>
              </a:rPr>
              <a:t>Asian College Varsity Management Information Security Policy</a:t>
            </a:r>
          </a:p>
        </p:txBody>
      </p:sp>
      <p:sp>
        <p:nvSpPr>
          <p:cNvPr id="4" name="Text Box"/>
          <p:cNvSpPr txBox="1"/>
          <p:nvPr/>
        </p:nvSpPr>
        <p:spPr>
          <a:xfrm>
            <a:off x="502920" y="749808"/>
            <a:ext cx="10881360" cy="502920"/>
          </a:xfrm>
          <a:prstGeom prst="rect">
            <a:avLst/>
          </a:prstGeom>
          <a:noFill/>
          <a:ln>
            <a:noFill/>
          </a:ln>
        </p:spPr>
        <p:txBody>
          <a:bodyPr wrap="square" anchor="top" lIns="0" rIns="91440" tIns="0" bIns="0"/>
          <a:lstStyle/>
          <a:p>
            <a:r>
              <a:rPr lang="en-US" sz="2700" dirty="0">
                <a:b/>
                <a:solidFill>
                  <a:srgbClr val="102A43"/>
                </a:solidFill>
              </a:rPr>
              <a:t>Asian College Varsity Management Information Security Policy</a:t>
            </a:r>
          </a:p>
        </p:txBody>
      </p:sp>
      <p:sp>
        <p:nvSpPr>
          <p:cNvPr id="5" name="Text Box"/>
          <p:cNvSpPr txBox="1"/>
          <p:nvPr/>
        </p:nvSpPr>
        <p:spPr>
          <a:xfrm>
            <a:off x="521207" y="1216152"/>
            <a:ext cx="10241280" cy="301752"/>
          </a:xfrm>
          <a:prstGeom prst="rect">
            <a:avLst/>
          </a:prstGeom>
          <a:noFill/>
          <a:ln>
            <a:noFill/>
          </a:ln>
        </p:spPr>
        <p:txBody>
          <a:bodyPr wrap="square" anchor="top" lIns="0" rIns="91440" tIns="0" bIns="0"/>
          <a:lstStyle/>
          <a:p>
            <a:r>
              <a:rPr lang="en-US" sz="1400" dirty="0">
                <a:solidFill>
                  <a:srgbClr val="64748B"/>
                </a:solidFill>
              </a:rPr>
              <a:t>Institutional policy presentation for AC-VMIS</a:t>
            </a:r>
          </a:p>
        </p:txBody>
      </p:sp>
      <p:sp>
        <p:nvSpPr>
          <p:cNvPr id="10" name="Text Box"/>
          <p:cNvSpPr txBox="1"/>
          <p:nvPr/>
        </p:nvSpPr>
        <p:spPr>
          <a:xfrm>
            <a:off x="731520" y="1965960"/>
            <a:ext cx="6309360" cy="960120"/>
          </a:xfrm>
          <a:prstGeom prst="rect">
            <a:avLst/>
          </a:prstGeom>
          <a:noFill/>
          <a:ln>
            <a:noFill/>
          </a:ln>
        </p:spPr>
        <p:txBody>
          <a:bodyPr wrap="square" anchor="top" lIns="0" rIns="91440" tIns="0" bIns="0"/>
          <a:lstStyle/>
          <a:p>
            <a:r>
              <a:rPr lang="en-US" sz="3000" dirty="0">
                <a:b/>
                <a:solidFill>
                  <a:srgbClr val="034485"/>
                </a:solidFill>
              </a:rPr>
              <a:t>Asian College Varsity Management</a:t>
            </a:r>
          </a:p>
          <a:p>
            <a:r>
              <a:rPr lang="en-US" sz="3000" dirty="0">
                <a:b/>
                <a:solidFill>
                  <a:srgbClr val="102A43"/>
                </a:solidFill>
              </a:rPr>
              <a:t>Information Security Policy</a:t>
            </a:r>
          </a:p>
        </p:txBody>
      </p:sp>
      <p:sp>
        <p:nvSpPr>
          <p:cNvPr id="11" name="Text Box"/>
          <p:cNvSpPr txBox="1"/>
          <p:nvPr/>
        </p:nvSpPr>
        <p:spPr>
          <a:xfrm>
            <a:off x="749808" y="3090672"/>
            <a:ext cx="5029200" cy="411480"/>
          </a:xfrm>
          <a:prstGeom prst="rect">
            <a:avLst/>
          </a:prstGeom>
          <a:noFill/>
          <a:ln>
            <a:noFill/>
          </a:ln>
        </p:spPr>
        <p:txBody>
          <a:bodyPr wrap="square" anchor="top" lIns="0" rIns="91440" tIns="0" bIns="0"/>
          <a:lstStyle/>
          <a:p>
            <a:r>
              <a:rPr lang="en-US" sz="1600" dirty="0">
                <a:solidFill>
                  <a:srgbClr val="64748B"/>
                </a:solidFill>
              </a:rPr>
              <a:t>Date: June 20, 2026</a:t>
            </a:r>
          </a:p>
        </p:txBody>
      </p:sp>
      <p:sp>
        <p:nvSpPr>
          <p:cNvPr id="12" name="Text Box"/>
          <p:cNvSpPr txBox="1"/>
          <p:nvPr/>
        </p:nvSpPr>
        <p:spPr>
          <a:xfrm>
            <a:off x="7406640" y="1508760"/>
            <a:ext cx="3886200" cy="3291840"/>
          </a:xfrm>
          <a:prstGeom prst="roundRect">
            <a:avLst/>
          </a:prstGeom>
          <a:solidFill>
            <a:srgbClr val="F4F9FF"/>
          </a:solidFill>
          <a:ln w="9525">
            <a:solidFill>
              <a:srgbClr val="BBD7F0"/>
            </a:solidFill>
          </a:ln>
        </p:spPr>
        <p:txBody>
          <a:bodyPr wrap="square" anchor="mid" lIns="91440" rIns="91440" tIns="45720" bIns="45720"/>
          <a:lstStyle/>
          <a:p>
            <a:r>
              <a:rPr lang="en-US" sz="6800" dirty="0">
                <a:solidFill>
                  <a:srgbClr val="034485"/>
                </a:solidFill>
              </a:rPr>
              <a:t>🔐</a:t>
            </a:r>
          </a:p>
          <a:p>
            <a:r>
              <a:rPr lang="en-US" sz="1600" dirty="0">
                <a:b/>
                <a:solidFill>
                  <a:srgbClr val="034485"/>
                </a:solidFill>
              </a:rPr>
              <a:t>Confidentiality • Integrity • Availability</a:t>
            </a:r>
          </a:p>
          <a:p>
            <a:r>
              <a:rPr lang="en-US" sz="1400" dirty="0">
                <a:solidFill>
                  <a:srgbClr val="1F2937"/>
                </a:solidFill>
              </a:rPr>
              <a:t>A risk-based framework for protecting varsity management information.</a:t>
            </a:r>
          </a:p>
        </p:txBody>
      </p:sp>
      <p:sp>
        <p:nvSpPr>
          <p:cNvPr id="3" name="Text Box"/>
          <p:cNvSpPr txBox="1"/>
          <p:nvPr/>
        </p:nvSpPr>
        <p:spPr>
          <a:xfrm>
            <a:off x="411480" y="6446520"/>
            <a:ext cx="11384280" cy="228600"/>
          </a:xfrm>
          <a:prstGeom prst="rect">
            <a:avLst/>
          </a:prstGeom>
          <a:noFill/>
          <a:ln>
            <a:noFill/>
          </a:ln>
        </p:spPr>
        <p:txBody>
          <a:bodyPr wrap="square" anchor="top" lIns="0" rIns="91440" tIns="0" bIns="0"/>
          <a:lstStyle/>
          <a:p>
            <a:r>
              <a:rPr lang="en-US" sz="900" dirty="0">
                <a:solidFill>
                  <a:srgbClr val="64748B"/>
                </a:solidFill>
              </a:rPr>
              <a:t>Title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2192000" cy="6858000"/>
          <a:chOff x="0" y="0"/>
          <a:chExt cx="12192000" cy="6858000"/>
        </a:xfrm>
      </p:grpSpPr>
      <p:sp>
        <p:nvSpPr>
          <p:cNvPr id="2" name="Text Box"/>
          <p:cNvSpPr txBox="1"/>
          <p:nvPr/>
        </p:nvSpPr>
        <p:spPr>
          <a:xfrm>
            <a:off x="0" y="0"/>
            <a:ext cx="12192000" cy="530352"/>
          </a:xfrm>
          <a:prstGeom prst="rect">
            <a:avLst/>
          </a:prstGeom>
          <a:solidFill>
            <a:srgbClr val="034485"/>
          </a:solidFill>
          <a:ln>
            <a:noFill/>
          </a:ln>
        </p:spPr>
        <p:txBody>
          <a:bodyPr wrap="square" anchor="mid" lIns="384048" rIns="91440" tIns="109728" bIns="109728"/>
          <a:lstStyle/>
          <a:p>
            <a:r>
              <a:rPr lang="en-US" sz="1300" dirty="0">
                <a:b/>
                <a:solidFill>
                  <a:srgbClr val="FFFFFF"/>
                </a:solidFill>
              </a:rPr>
              <a:t>Asian College Varsity Management Information Security Policy</a:t>
            </a:r>
          </a:p>
        </p:txBody>
      </p:sp>
      <p:sp>
        <p:nvSpPr>
          <p:cNvPr id="4" name="Text Box"/>
          <p:cNvSpPr txBox="1"/>
          <p:nvPr/>
        </p:nvSpPr>
        <p:spPr>
          <a:xfrm>
            <a:off x="502920" y="749808"/>
            <a:ext cx="10881360" cy="502920"/>
          </a:xfrm>
          <a:prstGeom prst="rect">
            <a:avLst/>
          </a:prstGeom>
          <a:noFill/>
          <a:ln>
            <a:noFill/>
          </a:ln>
        </p:spPr>
        <p:txBody>
          <a:bodyPr wrap="square" anchor="top" lIns="0" rIns="91440" tIns="0" bIns="0"/>
          <a:lstStyle/>
          <a:p>
            <a:r>
              <a:rPr lang="en-US" sz="2700" dirty="0">
                <a:b/>
                <a:solidFill>
                  <a:srgbClr val="102A43"/>
                </a:solidFill>
              </a:rPr>
              <a:t>Agenda</a:t>
            </a:r>
          </a:p>
        </p:txBody>
      </p:sp>
      <p:sp>
        <p:nvSpPr>
          <p:cNvPr id="5" name="Text Box"/>
          <p:cNvSpPr txBox="1"/>
          <p:nvPr/>
        </p:nvSpPr>
        <p:spPr>
          <a:xfrm>
            <a:off x="521207" y="1216152"/>
            <a:ext cx="10241280" cy="301752"/>
          </a:xfrm>
          <a:prstGeom prst="rect">
            <a:avLst/>
          </a:prstGeom>
          <a:noFill/>
          <a:ln>
            <a:noFill/>
          </a:ln>
        </p:spPr>
        <p:txBody>
          <a:bodyPr wrap="square" anchor="top" lIns="0" rIns="91440" tIns="0" bIns="0"/>
          <a:lstStyle/>
          <a:p>
            <a:r>
              <a:rPr lang="en-US" sz="1400" dirty="0">
                <a:solidFill>
                  <a:srgbClr val="64748B"/>
                </a:solidFill>
              </a:rPr>
              <a:t>How the policy will be discussed</a:t>
            </a:r>
          </a:p>
        </p:txBody>
      </p:sp>
      <p:sp>
        <p:nvSpPr>
          <p:cNvPr id="10" name="Text Box"/>
          <p:cNvSpPr txBox="1"/>
          <p:nvPr/>
        </p:nvSpPr>
        <p:spPr>
          <a:xfrm>
            <a:off x="731520" y="1508760"/>
            <a:ext cx="5349240" cy="4297680"/>
          </a:xfrm>
          <a:prstGeom prst="roundRect">
            <a:avLst/>
          </a:prstGeom>
          <a:solidFill>
            <a:srgbClr val="FFFFFF"/>
          </a:solidFill>
          <a:ln w="9525">
            <a:solidFill>
              <a:srgbClr val="BBD7F0"/>
            </a:solidFill>
          </a:ln>
        </p:spPr>
        <p:txBody>
          <a:bodyPr wrap="square" anchor="top" lIns="91440" rIns="91440" tIns="45720" bIns="45720"/>
          <a:lstStyle/>
          <a:p>
            <a:r>
              <a:rPr lang="en-US" sz="2100" dirty="0">
                <a:b/>
                <a:solidFill>
                  <a:srgbClr val="034485"/>
                </a:solidFill>
              </a:rPr>
              <a:t>☰ Presentation Flow</a:t>
            </a:r>
          </a:p>
          <a:p>
            <a:r>
              <a:rPr lang="en-US" sz="1500" dirty="0">
                <a:solidFill>
                  <a:srgbClr val="1F2937"/>
                </a:solidFill>
              </a:rPr>
              <a:t>• Purpose, objectives, and scope</a:t>
            </a:r>
          </a:p>
          <a:p>
            <a:r>
              <a:rPr lang="en-US" sz="1500" dirty="0">
                <a:solidFill>
                  <a:srgbClr val="1F2937"/>
                </a:solidFill>
              </a:rPr>
              <a:t>• Governance, risk, and compliance monitoring</a:t>
            </a:r>
          </a:p>
          <a:p>
            <a:r>
              <a:rPr lang="en-US" sz="1500" dirty="0">
                <a:solidFill>
                  <a:srgbClr val="1F2937"/>
                </a:solidFill>
              </a:rPr>
              <a:t>• Core policy statement and CIA principles</a:t>
            </a:r>
          </a:p>
          <a:p>
            <a:r>
              <a:rPr lang="en-US" sz="1500" dirty="0">
                <a:solidFill>
                  <a:srgbClr val="1F2937"/>
                </a:solidFill>
              </a:rPr>
              <a:t>• Information security control areas</a:t>
            </a:r>
          </a:p>
          <a:p>
            <a:r>
              <a:rPr lang="en-US" sz="1500" dirty="0">
                <a:solidFill>
                  <a:srgbClr val="1F2937"/>
                </a:solidFill>
              </a:rPr>
              <a:t>• Incident management and compliance</a:t>
            </a:r>
          </a:p>
          <a:p>
            <a:r>
              <a:rPr lang="en-US" sz="1500" dirty="0">
                <a:solidFill>
                  <a:srgbClr val="1F2937"/>
                </a:solidFill>
              </a:rPr>
              <a:t>• Role-based access model and summary</a:t>
            </a:r>
          </a:p>
        </p:txBody>
      </p:sp>
      <p:sp>
        <p:nvSpPr>
          <p:cNvPr id="11" name="Text Box"/>
          <p:cNvSpPr txBox="1"/>
          <p:nvPr/>
        </p:nvSpPr>
        <p:spPr>
          <a:xfrm>
            <a:off x="6400800" y="1508760"/>
            <a:ext cx="4663440" cy="4297680"/>
          </a:xfrm>
          <a:prstGeom prst="roundRect">
            <a:avLst/>
          </a:prstGeom>
          <a:solidFill>
            <a:srgbClr val="FFFFFF"/>
          </a:solidFill>
          <a:ln w="9525">
            <a:solidFill>
              <a:srgbClr val="BBD7F0"/>
            </a:solidFill>
          </a:ln>
        </p:spPr>
        <p:txBody>
          <a:bodyPr wrap="square" anchor="top" lIns="91440" rIns="91440" tIns="45720" bIns="45720"/>
          <a:lstStyle/>
          <a:p>
            <a:r>
              <a:rPr lang="en-US" sz="2100" dirty="0">
                <a:b/>
                <a:solidFill>
                  <a:srgbClr val="034485"/>
                </a:solidFill>
              </a:rPr>
              <a:t>🎓 Academic Framing</a:t>
            </a:r>
          </a:p>
          <a:p>
            <a:r>
              <a:rPr lang="en-US" sz="1500" dirty="0">
                <a:solidFill>
                  <a:srgbClr val="1F2937"/>
                </a:solidFill>
              </a:rPr>
              <a:t>• Shows institutional responsibilities</a:t>
            </a:r>
          </a:p>
          <a:p>
            <a:r>
              <a:rPr lang="en-US" sz="1500" dirty="0">
                <a:solidFill>
                  <a:srgbClr val="1F2937"/>
                </a:solidFill>
              </a:rPr>
              <a:t>• Connects policy controls to system resources</a:t>
            </a:r>
          </a:p>
          <a:p>
            <a:r>
              <a:rPr lang="en-US" sz="1500" dirty="0">
                <a:solidFill>
                  <a:srgbClr val="1F2937"/>
                </a:solidFill>
              </a:rPr>
              <a:t>• Highlights legal and privacy obligations</a:t>
            </a:r>
          </a:p>
          <a:p>
            <a:r>
              <a:rPr lang="en-US" sz="1500" dirty="0">
                <a:solidFill>
                  <a:srgbClr val="1F2937"/>
                </a:solidFill>
              </a:rPr>
              <a:t>• Supports security awareness for all users</a:t>
            </a:r>
          </a:p>
        </p:txBody>
      </p:sp>
      <p:sp>
        <p:nvSpPr>
          <p:cNvPr id="3" name="Text Box"/>
          <p:cNvSpPr txBox="1"/>
          <p:nvPr/>
        </p:nvSpPr>
        <p:spPr>
          <a:xfrm>
            <a:off x="411480" y="6446520"/>
            <a:ext cx="11384280" cy="228600"/>
          </a:xfrm>
          <a:prstGeom prst="rect">
            <a:avLst/>
          </a:prstGeom>
          <a:noFill/>
          <a:ln>
            <a:noFill/>
          </a:ln>
        </p:spPr>
        <p:txBody>
          <a:bodyPr wrap="square" anchor="top" lIns="0" rIns="91440" tIns="0" bIns="0"/>
          <a:lstStyle/>
          <a:p>
            <a:r>
              <a:rPr lang="en-US" sz="900" dirty="0">
                <a:solidFill>
                  <a:srgbClr val="64748B"/>
                </a:solidFill>
              </a:rPr>
              <a:t>Agenda</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2192000" cy="6858000"/>
          <a:chOff x="0" y="0"/>
          <a:chExt cx="12192000" cy="6858000"/>
        </a:xfrm>
      </p:grpSpPr>
      <p:sp>
        <p:nvSpPr>
          <p:cNvPr id="2" name="Text Box"/>
          <p:cNvSpPr txBox="1"/>
          <p:nvPr/>
        </p:nvSpPr>
        <p:spPr>
          <a:xfrm>
            <a:off x="0" y="0"/>
            <a:ext cx="12192000" cy="530352"/>
          </a:xfrm>
          <a:prstGeom prst="rect">
            <a:avLst/>
          </a:prstGeom>
          <a:solidFill>
            <a:srgbClr val="034485"/>
          </a:solidFill>
          <a:ln>
            <a:noFill/>
          </a:ln>
        </p:spPr>
        <p:txBody>
          <a:bodyPr wrap="square" anchor="mid" lIns="384048" rIns="91440" tIns="109728" bIns="109728"/>
          <a:lstStyle/>
          <a:p>
            <a:r>
              <a:rPr lang="en-US" sz="1300" dirty="0">
                <a:b/>
                <a:solidFill>
                  <a:srgbClr val="FFFFFF"/>
                </a:solidFill>
              </a:rPr>
              <a:t>Asian College Varsity Management Information Security Policy</a:t>
            </a:r>
          </a:p>
        </p:txBody>
      </p:sp>
      <p:sp>
        <p:nvSpPr>
          <p:cNvPr id="4" name="Text Box"/>
          <p:cNvSpPr txBox="1"/>
          <p:nvPr/>
        </p:nvSpPr>
        <p:spPr>
          <a:xfrm>
            <a:off x="502920" y="749808"/>
            <a:ext cx="10881360" cy="502920"/>
          </a:xfrm>
          <a:prstGeom prst="rect">
            <a:avLst/>
          </a:prstGeom>
          <a:noFill/>
          <a:ln>
            <a:noFill/>
          </a:ln>
        </p:spPr>
        <p:txBody>
          <a:bodyPr wrap="square" anchor="top" lIns="0" rIns="91440" tIns="0" bIns="0"/>
          <a:lstStyle/>
          <a:p>
            <a:r>
              <a:rPr lang="en-US" sz="2700" dirty="0">
                <a:b/>
                <a:solidFill>
                  <a:srgbClr val="102A43"/>
                </a:solidFill>
              </a:rPr>
              <a:t>Purpose of the Policy</a:t>
            </a:r>
          </a:p>
        </p:txBody>
      </p:sp>
      <p:sp>
        <p:nvSpPr>
          <p:cNvPr id="5" name="Text Box"/>
          <p:cNvSpPr txBox="1"/>
          <p:nvPr/>
        </p:nvSpPr>
        <p:spPr>
          <a:xfrm>
            <a:off x="521207" y="1216152"/>
            <a:ext cx="10241280" cy="301752"/>
          </a:xfrm>
          <a:prstGeom prst="rect">
            <a:avLst/>
          </a:prstGeom>
          <a:noFill/>
          <a:ln>
            <a:noFill/>
          </a:ln>
        </p:spPr>
        <p:txBody>
          <a:bodyPr wrap="square" anchor="top" lIns="0" rIns="91440" tIns="0" bIns="0"/>
          <a:lstStyle/>
          <a:p>
            <a:r>
              <a:rPr lang="en-US" sz="1400" dirty="0">
                <a:solidFill>
                  <a:srgbClr val="64748B"/>
                </a:solidFill>
              </a:rPr>
              <a:t>Why information security is necessary for AC-VMIS</a:t>
            </a:r>
          </a:p>
        </p:txBody>
      </p:sp>
      <p:sp>
        <p:nvSpPr>
          <p:cNvPr id="10" name="Text Box"/>
          <p:cNvSpPr txBox="1"/>
          <p:nvPr/>
        </p:nvSpPr>
        <p:spPr>
          <a:xfrm>
            <a:off x="594360" y="1508760"/>
            <a:ext cx="3566160" cy="4297680"/>
          </a:xfrm>
          <a:prstGeom prst="roundRect">
            <a:avLst/>
          </a:prstGeom>
          <a:solidFill>
            <a:srgbClr val="FFFFFF"/>
          </a:solidFill>
          <a:ln w="9525">
            <a:solidFill>
              <a:srgbClr val="BBD7F0"/>
            </a:solidFill>
          </a:ln>
        </p:spPr>
        <p:txBody>
          <a:bodyPr wrap="square" anchor="top" lIns="91440" rIns="91440" tIns="45720" bIns="45720"/>
          <a:lstStyle/>
          <a:p>
            <a:r>
              <a:rPr lang="en-US" sz="2100" dirty="0">
                <a:b/>
                <a:solidFill>
                  <a:srgbClr val="034485"/>
                </a:solidFill>
              </a:rPr>
              <a:t>🗂 Information Handled</a:t>
            </a:r>
          </a:p>
          <a:p>
            <a:r>
              <a:rPr lang="en-US" sz="1500" dirty="0">
                <a:solidFill>
                  <a:srgbClr val="1F2937"/>
                </a:solidFill>
              </a:rPr>
              <a:t>• Student-athlete records</a:t>
            </a:r>
          </a:p>
          <a:p>
            <a:r>
              <a:rPr lang="en-US" sz="1500" dirty="0">
                <a:solidFill>
                  <a:srgbClr val="1F2937"/>
                </a:solidFill>
              </a:rPr>
              <a:t>• Coach and team information</a:t>
            </a:r>
          </a:p>
          <a:p>
            <a:r>
              <a:rPr lang="en-US" sz="1500" dirty="0">
                <a:solidFill>
                  <a:srgbClr val="1F2937"/>
                </a:solidFill>
              </a:rPr>
              <a:t>• Academic eligibility and schedules</a:t>
            </a:r>
          </a:p>
          <a:p>
            <a:r>
              <a:rPr lang="en-US" sz="1500" dirty="0">
                <a:solidFill>
                  <a:srgbClr val="1F2937"/>
                </a:solidFill>
              </a:rPr>
              <a:t>• Performance records and medical notes where applicable</a:t>
            </a:r>
          </a:p>
          <a:p>
            <a:r>
              <a:rPr lang="en-US" sz="1500" dirty="0">
                <a:solidFill>
                  <a:srgbClr val="1F2937"/>
                </a:solidFill>
              </a:rPr>
              <a:t>• Administrative operations and reports</a:t>
            </a:r>
          </a:p>
        </p:txBody>
      </p:sp>
      <p:sp>
        <p:nvSpPr>
          <p:cNvPr id="11" name="Text Box"/>
          <p:cNvSpPr txBox="1"/>
          <p:nvPr/>
        </p:nvSpPr>
        <p:spPr>
          <a:xfrm>
            <a:off x="4343400" y="1508760"/>
            <a:ext cx="3474720" cy="4297680"/>
          </a:xfrm>
          <a:prstGeom prst="roundRect">
            <a:avLst/>
          </a:prstGeom>
          <a:solidFill>
            <a:srgbClr val="FFFFFF"/>
          </a:solidFill>
          <a:ln w="9525">
            <a:solidFill>
              <a:srgbClr val="BBD7F0"/>
            </a:solidFill>
          </a:ln>
        </p:spPr>
        <p:txBody>
          <a:bodyPr wrap="square" anchor="top" lIns="91440" rIns="91440" tIns="45720" bIns="45720"/>
          <a:lstStyle/>
          <a:p>
            <a:r>
              <a:rPr lang="en-US" sz="2100" dirty="0">
                <a:b/>
                <a:solidFill>
                  <a:srgbClr val="034485"/>
                </a:solidFill>
              </a:rPr>
              <a:t>⚠ Main Risks</a:t>
            </a:r>
          </a:p>
          <a:p>
            <a:r>
              <a:rPr lang="en-US" sz="1500" dirty="0">
                <a:solidFill>
                  <a:srgbClr val="1F2937"/>
                </a:solidFill>
              </a:rPr>
              <a:t>• Theft, misuse, or unauthorized access</a:t>
            </a:r>
          </a:p>
          <a:p>
            <a:r>
              <a:rPr lang="en-US" sz="1500" dirty="0">
                <a:solidFill>
                  <a:srgbClr val="1F2937"/>
                </a:solidFill>
              </a:rPr>
              <a:t>• Accidental loss or data corruption</a:t>
            </a:r>
          </a:p>
          <a:p>
            <a:r>
              <a:rPr lang="en-US" sz="1500" dirty="0">
                <a:solidFill>
                  <a:srgbClr val="1F2937"/>
                </a:solidFill>
              </a:rPr>
              <a:t>• Disclosure caused by weak controls</a:t>
            </a:r>
          </a:p>
          <a:p>
            <a:r>
              <a:rPr lang="en-US" sz="1500" dirty="0">
                <a:solidFill>
                  <a:srgbClr val="1F2937"/>
                </a:solidFill>
              </a:rPr>
              <a:t>• Poor awareness, training gaps, or system misuse</a:t>
            </a:r>
          </a:p>
          <a:p>
            <a:r>
              <a:rPr lang="en-US" sz="1500" dirty="0">
                <a:solidFill>
                  <a:srgbClr val="1F2937"/>
                </a:solidFill>
              </a:rPr>
              <a:t>• Cyber threats against records and services</a:t>
            </a:r>
          </a:p>
        </p:txBody>
      </p:sp>
      <p:sp>
        <p:nvSpPr>
          <p:cNvPr id="12" name="Text Box"/>
          <p:cNvSpPr txBox="1"/>
          <p:nvPr/>
        </p:nvSpPr>
        <p:spPr>
          <a:xfrm>
            <a:off x="8001000" y="1508760"/>
            <a:ext cx="3291840" cy="4297680"/>
          </a:xfrm>
          <a:prstGeom prst="roundRect">
            <a:avLst/>
          </a:prstGeom>
          <a:solidFill>
            <a:srgbClr val="FFFFFF"/>
          </a:solidFill>
          <a:ln w="9525">
            <a:solidFill>
              <a:srgbClr val="BBD7F0"/>
            </a:solidFill>
          </a:ln>
        </p:spPr>
        <p:txBody>
          <a:bodyPr wrap="square" anchor="top" lIns="91440" rIns="91440" tIns="45720" bIns="45720"/>
          <a:lstStyle/>
          <a:p>
            <a:r>
              <a:rPr lang="en-US" sz="2100" dirty="0">
                <a:b/>
                <a:solidFill>
                  <a:srgbClr val="034485"/>
                </a:solidFill>
              </a:rPr>
              <a:t>🛡 Policy Purpose</a:t>
            </a:r>
          </a:p>
          <a:p>
            <a:r>
              <a:rPr lang="en-US" sz="1500" dirty="0">
                <a:solidFill>
                  <a:srgbClr val="1F2937"/>
                </a:solidFill>
              </a:rPr>
              <a:t>• Protect confidentiality, integrity, and availability</a:t>
            </a:r>
          </a:p>
          <a:p>
            <a:r>
              <a:rPr lang="en-US" sz="1500" dirty="0">
                <a:solidFill>
                  <a:srgbClr val="1F2937"/>
                </a:solidFill>
              </a:rPr>
              <a:t>• Reduce privacy, financial, reputational, and operational impact</a:t>
            </a:r>
          </a:p>
          <a:p>
            <a:r>
              <a:rPr lang="en-US" sz="1500" dirty="0">
                <a:solidFill>
                  <a:srgbClr val="1F2937"/>
                </a:solidFill>
              </a:rPr>
              <a:t>• Support compliance with institutional policies and the Philippine Data Privacy Act of 2012</a:t>
            </a:r>
          </a:p>
        </p:txBody>
      </p:sp>
      <p:sp>
        <p:nvSpPr>
          <p:cNvPr id="3" name="Text Box"/>
          <p:cNvSpPr txBox="1"/>
          <p:nvPr/>
        </p:nvSpPr>
        <p:spPr>
          <a:xfrm>
            <a:off x="411480" y="6446520"/>
            <a:ext cx="11384280" cy="228600"/>
          </a:xfrm>
          <a:prstGeom prst="rect">
            <a:avLst/>
          </a:prstGeom>
          <a:noFill/>
          <a:ln>
            <a:noFill/>
          </a:ln>
        </p:spPr>
        <p:txBody>
          <a:bodyPr wrap="square" anchor="top" lIns="0" rIns="91440" tIns="0" bIns="0"/>
          <a:lstStyle/>
          <a:p>
            <a:r>
              <a:rPr lang="en-US" sz="900" dirty="0">
                <a:solidFill>
                  <a:srgbClr val="64748B"/>
                </a:solidFill>
              </a:rPr>
              <a:t>Purpose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2192000" cy="6858000"/>
          <a:chOff x="0" y="0"/>
          <a:chExt cx="12192000" cy="6858000"/>
        </a:xfrm>
      </p:grpSpPr>
      <p:sp>
        <p:nvSpPr>
          <p:cNvPr id="2" name="Text Box"/>
          <p:cNvSpPr txBox="1"/>
          <p:nvPr/>
        </p:nvSpPr>
        <p:spPr>
          <a:xfrm>
            <a:off x="0" y="0"/>
            <a:ext cx="12192000" cy="530352"/>
          </a:xfrm>
          <a:prstGeom prst="rect">
            <a:avLst/>
          </a:prstGeom>
          <a:solidFill>
            <a:srgbClr val="034485"/>
          </a:solidFill>
          <a:ln>
            <a:noFill/>
          </a:ln>
        </p:spPr>
        <p:txBody>
          <a:bodyPr wrap="square" anchor="mid" lIns="384048" rIns="91440" tIns="109728" bIns="109728"/>
          <a:lstStyle/>
          <a:p>
            <a:r>
              <a:rPr lang="en-US" sz="1300" dirty="0">
                <a:b/>
                <a:solidFill>
                  <a:srgbClr val="FFFFFF"/>
                </a:solidFill>
              </a:rPr>
              <a:t>Asian College Varsity Management Information Security Policy</a:t>
            </a:r>
          </a:p>
        </p:txBody>
      </p:sp>
      <p:sp>
        <p:nvSpPr>
          <p:cNvPr id="4" name="Text Box"/>
          <p:cNvSpPr txBox="1"/>
          <p:nvPr/>
        </p:nvSpPr>
        <p:spPr>
          <a:xfrm>
            <a:off x="502920" y="749808"/>
            <a:ext cx="10881360" cy="502920"/>
          </a:xfrm>
          <a:prstGeom prst="rect">
            <a:avLst/>
          </a:prstGeom>
          <a:noFill/>
          <a:ln>
            <a:noFill/>
          </a:ln>
        </p:spPr>
        <p:txBody>
          <a:bodyPr wrap="square" anchor="top" lIns="0" rIns="91440" tIns="0" bIns="0"/>
          <a:lstStyle/>
          <a:p>
            <a:r>
              <a:rPr lang="en-US" sz="2700" dirty="0">
                <a:b/>
                <a:solidFill>
                  <a:srgbClr val="102A43"/>
                </a:solidFill>
              </a:rPr>
              <a:t>Information Security Objectives</a:t>
            </a:r>
          </a:p>
        </p:txBody>
      </p:sp>
      <p:sp>
        <p:nvSpPr>
          <p:cNvPr id="5" name="Text Box"/>
          <p:cNvSpPr txBox="1"/>
          <p:nvPr/>
        </p:nvSpPr>
        <p:spPr>
          <a:xfrm>
            <a:off x="521207" y="1216152"/>
            <a:ext cx="10241280" cy="301752"/>
          </a:xfrm>
          <a:prstGeom prst="rect">
            <a:avLst/>
          </a:prstGeom>
          <a:noFill/>
          <a:ln>
            <a:noFill/>
          </a:ln>
        </p:spPr>
        <p:txBody>
          <a:bodyPr wrap="square" anchor="top" lIns="0" rIns="91440" tIns="0" bIns="0"/>
          <a:lstStyle/>
          <a:p>
            <a:r>
              <a:rPr lang="en-US" sz="1400" dirty="0">
                <a:solidFill>
                  <a:srgbClr val="64748B"/>
                </a:solidFill>
              </a:rPr>
              <a:t>Policy goals for AC-VMIS</a:t>
            </a:r>
          </a:p>
        </p:txBody>
      </p:sp>
      <p:sp>
        <p:nvSpPr>
          <p:cNvPr id="20" name="Text Box"/>
          <p:cNvSpPr txBox="1"/>
          <p:nvPr/>
        </p:nvSpPr>
        <p:spPr>
          <a:xfrm>
            <a:off x="822960" y="1417320"/>
            <a:ext cx="502920" cy="384048"/>
          </a:xfrm>
          <a:prstGeom prst="roundRect">
            <a:avLst/>
          </a:prstGeom>
          <a:solidFill>
            <a:srgbClr val="034485"/>
          </a:solidFill>
          <a:ln w="9525">
            <a:solidFill>
              <a:srgbClr val="034485"/>
            </a:solidFill>
          </a:ln>
        </p:spPr>
        <p:txBody>
          <a:bodyPr wrap="square" anchor="mid" lIns="91440" rIns="91440" tIns="45720" bIns="45720"/>
          <a:lstStyle/>
          <a:p>
            <a:r>
              <a:rPr lang="en-US" sz="1400" dirty="0">
                <a:b/>
                <a:solidFill>
                  <a:srgbClr val="FFFFFF"/>
                </a:solidFill>
              </a:rPr>
              <a:t>1</a:t>
            </a:r>
          </a:p>
        </p:txBody>
      </p:sp>
      <p:sp>
        <p:nvSpPr>
          <p:cNvPr id="40" name="Text Box"/>
          <p:cNvSpPr txBox="1"/>
          <p:nvPr/>
        </p:nvSpPr>
        <p:spPr>
          <a:xfrm>
            <a:off x="1481328" y="1389888"/>
            <a:ext cx="9692640" cy="457200"/>
          </a:xfrm>
          <a:prstGeom prst="roundRect">
            <a:avLst/>
          </a:prstGeom>
          <a:solidFill>
            <a:srgbClr val="F4F9FF"/>
          </a:solidFill>
          <a:ln w="9525">
            <a:solidFill>
              <a:srgbClr val="BBD7F0"/>
            </a:solidFill>
          </a:ln>
        </p:spPr>
        <p:txBody>
          <a:bodyPr wrap="square" anchor="mid" lIns="91440" rIns="91440" tIns="45720" bIns="45720"/>
          <a:lstStyle/>
          <a:p>
            <a:r>
              <a:rPr lang="en-US" sz="1600" dirty="0">
                <a:solidFill>
                  <a:srgbClr val="1F2937"/>
                </a:solidFill>
              </a:rPr>
              <a:t>Identify and treat information risks according to accepted risk tolerance</a:t>
            </a:r>
          </a:p>
        </p:txBody>
      </p:sp>
      <p:sp>
        <p:nvSpPr>
          <p:cNvPr id="21" name="Text Box"/>
          <p:cNvSpPr txBox="1"/>
          <p:nvPr/>
        </p:nvSpPr>
        <p:spPr>
          <a:xfrm>
            <a:off x="822960" y="2075688"/>
            <a:ext cx="502920" cy="384048"/>
          </a:xfrm>
          <a:prstGeom prst="roundRect">
            <a:avLst/>
          </a:prstGeom>
          <a:solidFill>
            <a:srgbClr val="0F766E"/>
          </a:solidFill>
          <a:ln w="9525">
            <a:solidFill>
              <a:srgbClr val="0F766E"/>
            </a:solidFill>
          </a:ln>
        </p:spPr>
        <p:txBody>
          <a:bodyPr wrap="square" anchor="mid" lIns="91440" rIns="91440" tIns="45720" bIns="45720"/>
          <a:lstStyle/>
          <a:p>
            <a:r>
              <a:rPr lang="en-US" sz="1400" dirty="0">
                <a:b/>
                <a:solidFill>
                  <a:srgbClr val="FFFFFF"/>
                </a:solidFill>
              </a:rPr>
              <a:t>2</a:t>
            </a:r>
          </a:p>
        </p:txBody>
      </p:sp>
      <p:sp>
        <p:nvSpPr>
          <p:cNvPr id="41" name="Text Box"/>
          <p:cNvSpPr txBox="1"/>
          <p:nvPr/>
        </p:nvSpPr>
        <p:spPr>
          <a:xfrm>
            <a:off x="1481328" y="2048256"/>
            <a:ext cx="9692640" cy="457200"/>
          </a:xfrm>
          <a:prstGeom prst="roundRect">
            <a:avLst/>
          </a:prstGeom>
          <a:solidFill>
            <a:srgbClr val="FFFFFF"/>
          </a:solidFill>
          <a:ln w="9525">
            <a:solidFill>
              <a:srgbClr val="BBD7F0"/>
            </a:solidFill>
          </a:ln>
        </p:spPr>
        <p:txBody>
          <a:bodyPr wrap="square" anchor="mid" lIns="91440" rIns="91440" tIns="45720" bIns="45720"/>
          <a:lstStyle/>
          <a:p>
            <a:r>
              <a:rPr lang="en-US" sz="1600" dirty="0">
                <a:solidFill>
                  <a:srgbClr val="1F2937"/>
                </a:solidFill>
              </a:rPr>
              <a:t>Enable authorized users to securely access and share required information</a:t>
            </a:r>
          </a:p>
        </p:txBody>
      </p:sp>
      <p:sp>
        <p:nvSpPr>
          <p:cNvPr id="22" name="Text Box"/>
          <p:cNvSpPr txBox="1"/>
          <p:nvPr/>
        </p:nvSpPr>
        <p:spPr>
          <a:xfrm>
            <a:off x="822960" y="2734056"/>
            <a:ext cx="502920" cy="384048"/>
          </a:xfrm>
          <a:prstGeom prst="roundRect">
            <a:avLst/>
          </a:prstGeom>
          <a:solidFill>
            <a:srgbClr val="0A66B2"/>
          </a:solidFill>
          <a:ln w="9525">
            <a:solidFill>
              <a:srgbClr val="0A66B2"/>
            </a:solidFill>
          </a:ln>
        </p:spPr>
        <p:txBody>
          <a:bodyPr wrap="square" anchor="mid" lIns="91440" rIns="91440" tIns="45720" bIns="45720"/>
          <a:lstStyle/>
          <a:p>
            <a:r>
              <a:rPr lang="en-US" sz="1400" dirty="0">
                <a:b/>
                <a:solidFill>
                  <a:srgbClr val="FFFFFF"/>
                </a:solidFill>
              </a:rPr>
              <a:t>3</a:t>
            </a:r>
          </a:p>
        </p:txBody>
      </p:sp>
      <p:sp>
        <p:nvSpPr>
          <p:cNvPr id="42" name="Text Box"/>
          <p:cNvSpPr txBox="1"/>
          <p:nvPr/>
        </p:nvSpPr>
        <p:spPr>
          <a:xfrm>
            <a:off x="1481328" y="2706624"/>
            <a:ext cx="9692640" cy="457200"/>
          </a:xfrm>
          <a:prstGeom prst="roundRect">
            <a:avLst/>
          </a:prstGeom>
          <a:solidFill>
            <a:srgbClr val="F4F9FF"/>
          </a:solidFill>
          <a:ln w="9525">
            <a:solidFill>
              <a:srgbClr val="BBD7F0"/>
            </a:solidFill>
          </a:ln>
        </p:spPr>
        <p:txBody>
          <a:bodyPr wrap="square" anchor="mid" lIns="91440" rIns="91440" tIns="45720" bIns="45720"/>
          <a:lstStyle/>
          <a:p>
            <a:r>
              <a:rPr lang="en-US" sz="1600" dirty="0">
                <a:solidFill>
                  <a:srgbClr val="1F2937"/>
                </a:solidFill>
              </a:rPr>
              <a:t>Protect student-athlete, coach, team, academic, medical, and administrative records</a:t>
            </a:r>
          </a:p>
        </p:txBody>
      </p:sp>
      <p:sp>
        <p:nvSpPr>
          <p:cNvPr id="23" name="Text Box"/>
          <p:cNvSpPr txBox="1"/>
          <p:nvPr/>
        </p:nvSpPr>
        <p:spPr>
          <a:xfrm>
            <a:off x="822960" y="3392424"/>
            <a:ext cx="502920" cy="384048"/>
          </a:xfrm>
          <a:prstGeom prst="roundRect">
            <a:avLst/>
          </a:prstGeom>
          <a:solidFill>
            <a:srgbClr val="C2410C"/>
          </a:solidFill>
          <a:ln w="9525">
            <a:solidFill>
              <a:srgbClr val="C2410C"/>
            </a:solidFill>
          </a:ln>
        </p:spPr>
        <p:txBody>
          <a:bodyPr wrap="square" anchor="mid" lIns="91440" rIns="91440" tIns="45720" bIns="45720"/>
          <a:lstStyle/>
          <a:p>
            <a:r>
              <a:rPr lang="en-US" sz="1400" dirty="0">
                <a:b/>
                <a:solidFill>
                  <a:srgbClr val="FFFFFF"/>
                </a:solidFill>
              </a:rPr>
              <a:t>4</a:t>
            </a:r>
          </a:p>
        </p:txBody>
      </p:sp>
      <p:sp>
        <p:nvSpPr>
          <p:cNvPr id="43" name="Text Box"/>
          <p:cNvSpPr txBox="1"/>
          <p:nvPr/>
        </p:nvSpPr>
        <p:spPr>
          <a:xfrm>
            <a:off x="1481328" y="3364992"/>
            <a:ext cx="9692640" cy="457200"/>
          </a:xfrm>
          <a:prstGeom prst="roundRect">
            <a:avLst/>
          </a:prstGeom>
          <a:solidFill>
            <a:srgbClr val="FFFFFF"/>
          </a:solidFill>
          <a:ln w="9525">
            <a:solidFill>
              <a:srgbClr val="BBD7F0"/>
            </a:solidFill>
          </a:ln>
        </p:spPr>
        <p:txBody>
          <a:bodyPr wrap="square" anchor="mid" lIns="91440" rIns="91440" tIns="45720" bIns="45720"/>
          <a:lstStyle/>
          <a:p>
            <a:r>
              <a:rPr lang="en-US" sz="1600" dirty="0">
                <a:solidFill>
                  <a:srgbClr val="1F2937"/>
                </a:solidFill>
              </a:rPr>
              <a:t>Balance physical, procedural, and technical controls with usability</a:t>
            </a:r>
          </a:p>
        </p:txBody>
      </p:sp>
      <p:sp>
        <p:nvSpPr>
          <p:cNvPr id="24" name="Text Box"/>
          <p:cNvSpPr txBox="1"/>
          <p:nvPr/>
        </p:nvSpPr>
        <p:spPr>
          <a:xfrm>
            <a:off x="822960" y="4050791"/>
            <a:ext cx="502920" cy="384048"/>
          </a:xfrm>
          <a:prstGeom prst="roundRect">
            <a:avLst/>
          </a:prstGeom>
          <a:solidFill>
            <a:srgbClr val="034485"/>
          </a:solidFill>
          <a:ln w="9525">
            <a:solidFill>
              <a:srgbClr val="034485"/>
            </a:solidFill>
          </a:ln>
        </p:spPr>
        <p:txBody>
          <a:bodyPr wrap="square" anchor="mid" lIns="91440" rIns="91440" tIns="45720" bIns="45720"/>
          <a:lstStyle/>
          <a:p>
            <a:r>
              <a:rPr lang="en-US" sz="1400" dirty="0">
                <a:b/>
                <a:solidFill>
                  <a:srgbClr val="FFFFFF"/>
                </a:solidFill>
              </a:rPr>
              <a:t>5</a:t>
            </a:r>
          </a:p>
        </p:txBody>
      </p:sp>
      <p:sp>
        <p:nvSpPr>
          <p:cNvPr id="44" name="Text Box"/>
          <p:cNvSpPr txBox="1"/>
          <p:nvPr/>
        </p:nvSpPr>
        <p:spPr>
          <a:xfrm>
            <a:off x="1481328" y="4023359"/>
            <a:ext cx="9692640" cy="457200"/>
          </a:xfrm>
          <a:prstGeom prst="roundRect">
            <a:avLst/>
          </a:prstGeom>
          <a:solidFill>
            <a:srgbClr val="F4F9FF"/>
          </a:solidFill>
          <a:ln w="9525">
            <a:solidFill>
              <a:srgbClr val="BBD7F0"/>
            </a:solidFill>
          </a:ln>
        </p:spPr>
        <p:txBody>
          <a:bodyPr wrap="square" anchor="mid" lIns="91440" rIns="91440" tIns="45720" bIns="45720"/>
          <a:lstStyle/>
          <a:p>
            <a:r>
              <a:rPr lang="en-US" sz="1600" dirty="0">
                <a:solidFill>
                  <a:srgbClr val="1F2937"/>
                </a:solidFill>
              </a:rPr>
              <a:t>Meet legal, contractual, institutional, and regulatory obligations</a:t>
            </a:r>
          </a:p>
        </p:txBody>
      </p:sp>
      <p:sp>
        <p:nvSpPr>
          <p:cNvPr id="25" name="Text Box"/>
          <p:cNvSpPr txBox="1"/>
          <p:nvPr/>
        </p:nvSpPr>
        <p:spPr>
          <a:xfrm>
            <a:off x="822960" y="4709159"/>
            <a:ext cx="502920" cy="384048"/>
          </a:xfrm>
          <a:prstGeom prst="roundRect">
            <a:avLst/>
          </a:prstGeom>
          <a:solidFill>
            <a:srgbClr val="0F766E"/>
          </a:solidFill>
          <a:ln w="9525">
            <a:solidFill>
              <a:srgbClr val="0F766E"/>
            </a:solidFill>
          </a:ln>
        </p:spPr>
        <p:txBody>
          <a:bodyPr wrap="square" anchor="mid" lIns="91440" rIns="91440" tIns="45720" bIns="45720"/>
          <a:lstStyle/>
          <a:p>
            <a:r>
              <a:rPr lang="en-US" sz="1400" dirty="0">
                <a:b/>
                <a:solidFill>
                  <a:srgbClr val="FFFFFF"/>
                </a:solidFill>
              </a:rPr>
              <a:t>6</a:t>
            </a:r>
          </a:p>
        </p:txBody>
      </p:sp>
      <p:sp>
        <p:nvSpPr>
          <p:cNvPr id="45" name="Text Box"/>
          <p:cNvSpPr txBox="1"/>
          <p:nvPr/>
        </p:nvSpPr>
        <p:spPr>
          <a:xfrm>
            <a:off x="1481328" y="4681727"/>
            <a:ext cx="9692640" cy="457200"/>
          </a:xfrm>
          <a:prstGeom prst="roundRect">
            <a:avLst/>
          </a:prstGeom>
          <a:solidFill>
            <a:srgbClr val="FFFFFF"/>
          </a:solidFill>
          <a:ln w="9525">
            <a:solidFill>
              <a:srgbClr val="BBD7F0"/>
            </a:solidFill>
          </a:ln>
        </p:spPr>
        <p:txBody>
          <a:bodyPr wrap="square" anchor="mid" lIns="91440" rIns="91440" tIns="45720" bIns="45720"/>
          <a:lstStyle/>
          <a:p>
            <a:r>
              <a:rPr lang="en-US" sz="1600" dirty="0">
                <a:solidFill>
                  <a:srgbClr val="1F2937"/>
                </a:solidFill>
              </a:rPr>
              <a:t>Build user awareness of information security responsibilities</a:t>
            </a:r>
          </a:p>
        </p:txBody>
      </p:sp>
      <p:sp>
        <p:nvSpPr>
          <p:cNvPr id="26" name="Text Box"/>
          <p:cNvSpPr txBox="1"/>
          <p:nvPr/>
        </p:nvSpPr>
        <p:spPr>
          <a:xfrm>
            <a:off x="822960" y="5367528"/>
            <a:ext cx="502920" cy="384048"/>
          </a:xfrm>
          <a:prstGeom prst="roundRect">
            <a:avLst/>
          </a:prstGeom>
          <a:solidFill>
            <a:srgbClr val="B91C1C"/>
          </a:solidFill>
          <a:ln w="9525">
            <a:solidFill>
              <a:srgbClr val="B91C1C"/>
            </a:solidFill>
          </a:ln>
        </p:spPr>
        <p:txBody>
          <a:bodyPr wrap="square" anchor="mid" lIns="91440" rIns="91440" tIns="45720" bIns="45720"/>
          <a:lstStyle/>
          <a:p>
            <a:r>
              <a:rPr lang="en-US" sz="1400" dirty="0">
                <a:b/>
                <a:solidFill>
                  <a:srgbClr val="FFFFFF"/>
                </a:solidFill>
              </a:rPr>
              <a:t>7</a:t>
            </a:r>
          </a:p>
        </p:txBody>
      </p:sp>
      <p:sp>
        <p:nvSpPr>
          <p:cNvPr id="46" name="Text Box"/>
          <p:cNvSpPr txBox="1"/>
          <p:nvPr/>
        </p:nvSpPr>
        <p:spPr>
          <a:xfrm>
            <a:off x="1481328" y="5340096"/>
            <a:ext cx="9692640" cy="457200"/>
          </a:xfrm>
          <a:prstGeom prst="roundRect">
            <a:avLst/>
          </a:prstGeom>
          <a:solidFill>
            <a:srgbClr val="F4F9FF"/>
          </a:solidFill>
          <a:ln w="9525">
            <a:solidFill>
              <a:srgbClr val="BBD7F0"/>
            </a:solidFill>
          </a:ln>
        </p:spPr>
        <p:txBody>
          <a:bodyPr wrap="square" anchor="mid" lIns="91440" rIns="91440" tIns="45720" bIns="45720"/>
          <a:lstStyle/>
          <a:p>
            <a:r>
              <a:rPr lang="en-US" sz="1600" dirty="0">
                <a:solidFill>
                  <a:srgbClr val="1F2937"/>
                </a:solidFill>
              </a:rPr>
              <a:t>Report, investigate, resolve, document, and learn from incidents</a:t>
            </a:r>
          </a:p>
        </p:txBody>
      </p:sp>
      <p:sp>
        <p:nvSpPr>
          <p:cNvPr id="3" name="Text Box"/>
          <p:cNvSpPr txBox="1"/>
          <p:nvPr/>
        </p:nvSpPr>
        <p:spPr>
          <a:xfrm>
            <a:off x="411480" y="6446520"/>
            <a:ext cx="11384280" cy="228600"/>
          </a:xfrm>
          <a:prstGeom prst="rect">
            <a:avLst/>
          </a:prstGeom>
          <a:noFill/>
          <a:ln>
            <a:noFill/>
          </a:ln>
        </p:spPr>
        <p:txBody>
          <a:bodyPr wrap="square" anchor="top" lIns="0" rIns="91440" tIns="0" bIns="0"/>
          <a:lstStyle/>
          <a:p>
            <a:r>
              <a:rPr lang="en-US" sz="900" dirty="0">
                <a:solidFill>
                  <a:srgbClr val="64748B"/>
                </a:solidFill>
              </a:rPr>
              <a:t>Objectives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2192000" cy="6858000"/>
          <a:chOff x="0" y="0"/>
          <a:chExt cx="12192000" cy="6858000"/>
        </a:xfrm>
      </p:grpSpPr>
      <p:sp>
        <p:nvSpPr>
          <p:cNvPr id="2" name="Text Box"/>
          <p:cNvSpPr txBox="1"/>
          <p:nvPr/>
        </p:nvSpPr>
        <p:spPr>
          <a:xfrm>
            <a:off x="0" y="0"/>
            <a:ext cx="12192000" cy="530352"/>
          </a:xfrm>
          <a:prstGeom prst="rect">
            <a:avLst/>
          </a:prstGeom>
          <a:solidFill>
            <a:srgbClr val="034485"/>
          </a:solidFill>
          <a:ln>
            <a:noFill/>
          </a:ln>
        </p:spPr>
        <p:txBody>
          <a:bodyPr wrap="square" anchor="mid" lIns="384048" rIns="91440" tIns="109728" bIns="109728"/>
          <a:lstStyle/>
          <a:p>
            <a:r>
              <a:rPr lang="en-US" sz="1300" dirty="0">
                <a:b/>
                <a:solidFill>
                  <a:srgbClr val="FFFFFF"/>
                </a:solidFill>
              </a:rPr>
              <a:t>Asian College Varsity Management Information Security Policy</a:t>
            </a:r>
          </a:p>
        </p:txBody>
      </p:sp>
      <p:sp>
        <p:nvSpPr>
          <p:cNvPr id="4" name="Text Box"/>
          <p:cNvSpPr txBox="1"/>
          <p:nvPr/>
        </p:nvSpPr>
        <p:spPr>
          <a:xfrm>
            <a:off x="502920" y="749808"/>
            <a:ext cx="10881360" cy="502920"/>
          </a:xfrm>
          <a:prstGeom prst="rect">
            <a:avLst/>
          </a:prstGeom>
          <a:noFill/>
          <a:ln>
            <a:noFill/>
          </a:ln>
        </p:spPr>
        <p:txBody>
          <a:bodyPr wrap="square" anchor="top" lIns="0" rIns="91440" tIns="0" bIns="0"/>
          <a:lstStyle/>
          <a:p>
            <a:r>
              <a:rPr lang="en-US" sz="2700" dirty="0">
                <a:b/>
                <a:solidFill>
                  <a:srgbClr val="102A43"/>
                </a:solidFill>
              </a:rPr>
              <a:t>Scope and Boundaries</a:t>
            </a:r>
          </a:p>
        </p:txBody>
      </p:sp>
      <p:sp>
        <p:nvSpPr>
          <p:cNvPr id="5" name="Text Box"/>
          <p:cNvSpPr txBox="1"/>
          <p:nvPr/>
        </p:nvSpPr>
        <p:spPr>
          <a:xfrm>
            <a:off x="521207" y="1216152"/>
            <a:ext cx="10241280" cy="301752"/>
          </a:xfrm>
          <a:prstGeom prst="rect">
            <a:avLst/>
          </a:prstGeom>
          <a:noFill/>
          <a:ln>
            <a:noFill/>
          </a:ln>
        </p:spPr>
        <p:txBody>
          <a:bodyPr wrap="square" anchor="top" lIns="0" rIns="91440" tIns="0" bIns="0"/>
          <a:lstStyle/>
          <a:p>
            <a:r>
              <a:rPr lang="en-US" sz="1400" dirty="0">
                <a:solidFill>
                  <a:srgbClr val="64748B"/>
                </a:solidFill>
              </a:rPr>
              <a:t>Who and what the policy applies to</a:t>
            </a:r>
          </a:p>
        </p:txBody>
      </p:sp>
      <p:sp>
        <p:nvSpPr>
          <p:cNvPr id="10" name="Text Box"/>
          <p:cNvSpPr txBox="1"/>
          <p:nvPr/>
        </p:nvSpPr>
        <p:spPr>
          <a:xfrm>
            <a:off x="640080" y="1481328"/>
            <a:ext cx="5074920" cy="4526280"/>
          </a:xfrm>
          <a:prstGeom prst="roundRect">
            <a:avLst/>
          </a:prstGeom>
          <a:solidFill>
            <a:srgbClr val="FFFFFF"/>
          </a:solidFill>
          <a:ln w="9525">
            <a:solidFill>
              <a:srgbClr val="BBD7F0"/>
            </a:solidFill>
          </a:ln>
        </p:spPr>
        <p:txBody>
          <a:bodyPr wrap="square" anchor="top" lIns="91440" rIns="91440" tIns="45720" bIns="45720"/>
          <a:lstStyle/>
          <a:p>
            <a:r>
              <a:rPr lang="en-US" sz="2100" dirty="0">
                <a:b/>
                <a:solidFill>
                  <a:srgbClr val="034485"/>
                </a:solidFill>
              </a:rPr>
              <a:t>📄 Information and Formats Covered</a:t>
            </a:r>
          </a:p>
          <a:p>
            <a:r>
              <a:rPr lang="en-US" sz="1500" dirty="0">
                <a:solidFill>
                  <a:srgbClr val="1F2937"/>
                </a:solidFill>
              </a:rPr>
              <a:t>• Digital records, printed documents, reports, and backups</a:t>
            </a:r>
          </a:p>
          <a:p>
            <a:r>
              <a:rPr lang="en-US" sz="1500" dirty="0">
                <a:solidFill>
                  <a:srgbClr val="1F2937"/>
                </a:solidFill>
              </a:rPr>
              <a:t>• Emails, uploaded files, and system-generated data</a:t>
            </a:r>
          </a:p>
          <a:p>
            <a:r>
              <a:rPr lang="en-US" sz="1500" dirty="0">
                <a:solidFill>
                  <a:srgbClr val="1F2937"/>
                </a:solidFill>
              </a:rPr>
              <a:t>• Information used, stored, processed, transmitted, or reported through AC-VMIS</a:t>
            </a:r>
          </a:p>
        </p:txBody>
      </p:sp>
      <p:sp>
        <p:nvSpPr>
          <p:cNvPr id="11" name="Text Box"/>
          <p:cNvSpPr txBox="1"/>
          <p:nvPr/>
        </p:nvSpPr>
        <p:spPr>
          <a:xfrm>
            <a:off x="5989320" y="1481328"/>
            <a:ext cx="5074920" cy="4526280"/>
          </a:xfrm>
          <a:prstGeom prst="roundRect">
            <a:avLst/>
          </a:prstGeom>
          <a:solidFill>
            <a:srgbClr val="FFFFFF"/>
          </a:solidFill>
          <a:ln w="9525">
            <a:solidFill>
              <a:srgbClr val="BBD7F0"/>
            </a:solidFill>
          </a:ln>
        </p:spPr>
        <p:txBody>
          <a:bodyPr wrap="square" anchor="top" lIns="91440" rIns="91440" tIns="45720" bIns="45720"/>
          <a:lstStyle/>
          <a:p>
            <a:r>
              <a:rPr lang="en-US" sz="2100" dirty="0">
                <a:b/>
                <a:solidFill>
                  <a:srgbClr val="034485"/>
                </a:solidFill>
              </a:rPr>
              <a:t>👥 Users and Parties Covered</a:t>
            </a:r>
          </a:p>
          <a:p>
            <a:r>
              <a:rPr lang="en-US" sz="1500" dirty="0">
                <a:solidFill>
                  <a:srgbClr val="1F2937"/>
                </a:solidFill>
              </a:rPr>
              <a:t>• System administrators and IT personnel</a:t>
            </a:r>
          </a:p>
          <a:p>
            <a:r>
              <a:rPr lang="en-US" sz="1500" dirty="0">
                <a:solidFill>
                  <a:srgbClr val="1F2937"/>
                </a:solidFill>
              </a:rPr>
              <a:t>• Athletic directors, varsity coordinators, coaches, and assistant coaches</a:t>
            </a:r>
          </a:p>
          <a:p>
            <a:r>
              <a:rPr lang="en-US" sz="1500" dirty="0">
                <a:solidFill>
                  <a:srgbClr val="1F2937"/>
                </a:solidFill>
              </a:rPr>
              <a:t>• Student-athletes and academic eligibility reviewers</a:t>
            </a:r>
          </a:p>
          <a:p>
            <a:r>
              <a:rPr lang="en-US" sz="1500" dirty="0">
                <a:solidFill>
                  <a:srgbClr val="1F2937"/>
                </a:solidFill>
              </a:rPr>
              <a:t>• Medical or fitness personnel where applicable</a:t>
            </a:r>
          </a:p>
          <a:p>
            <a:r>
              <a:rPr lang="en-US" sz="1500" dirty="0">
                <a:solidFill>
                  <a:srgbClr val="1F2937"/>
                </a:solidFill>
              </a:rPr>
              <a:t>• Administrative staff and authorized third-party service providers</a:t>
            </a:r>
          </a:p>
        </p:txBody>
      </p:sp>
      <p:sp>
        <p:nvSpPr>
          <p:cNvPr id="3" name="Text Box"/>
          <p:cNvSpPr txBox="1"/>
          <p:nvPr/>
        </p:nvSpPr>
        <p:spPr>
          <a:xfrm>
            <a:off x="411480" y="6446520"/>
            <a:ext cx="11384280" cy="228600"/>
          </a:xfrm>
          <a:prstGeom prst="rect">
            <a:avLst/>
          </a:prstGeom>
          <a:noFill/>
          <a:ln>
            <a:noFill/>
          </a:ln>
        </p:spPr>
        <p:txBody>
          <a:bodyPr wrap="square" anchor="top" lIns="0" rIns="91440" tIns="0" bIns="0"/>
          <a:lstStyle/>
          <a:p>
            <a:r>
              <a:rPr lang="en-US" sz="900" dirty="0">
                <a:solidFill>
                  <a:srgbClr val="64748B"/>
                </a:solidFill>
              </a:rPr>
              <a:t>Scope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2192000" cy="6858000"/>
          <a:chOff x="0" y="0"/>
          <a:chExt cx="12192000" cy="6858000"/>
        </a:xfrm>
      </p:grpSpPr>
      <p:sp>
        <p:nvSpPr>
          <p:cNvPr id="2" name="Text Box"/>
          <p:cNvSpPr txBox="1"/>
          <p:nvPr/>
        </p:nvSpPr>
        <p:spPr>
          <a:xfrm>
            <a:off x="0" y="0"/>
            <a:ext cx="12192000" cy="530352"/>
          </a:xfrm>
          <a:prstGeom prst="rect">
            <a:avLst/>
          </a:prstGeom>
          <a:solidFill>
            <a:srgbClr val="034485"/>
          </a:solidFill>
          <a:ln>
            <a:noFill/>
          </a:ln>
        </p:spPr>
        <p:txBody>
          <a:bodyPr wrap="square" anchor="mid" lIns="384048" rIns="91440" tIns="109728" bIns="109728"/>
          <a:lstStyle/>
          <a:p>
            <a:r>
              <a:rPr lang="en-US" sz="1300" dirty="0">
                <a:b/>
                <a:solidFill>
                  <a:srgbClr val="FFFFFF"/>
                </a:solidFill>
              </a:rPr>
              <a:t>Asian College Varsity Management Information Security Policy</a:t>
            </a:r>
          </a:p>
        </p:txBody>
      </p:sp>
      <p:sp>
        <p:nvSpPr>
          <p:cNvPr id="4" name="Text Box"/>
          <p:cNvSpPr txBox="1"/>
          <p:nvPr/>
        </p:nvSpPr>
        <p:spPr>
          <a:xfrm>
            <a:off x="502920" y="749808"/>
            <a:ext cx="10881360" cy="502920"/>
          </a:xfrm>
          <a:prstGeom prst="rect">
            <a:avLst/>
          </a:prstGeom>
          <a:noFill/>
          <a:ln>
            <a:noFill/>
          </a:ln>
        </p:spPr>
        <p:txBody>
          <a:bodyPr wrap="square" anchor="top" lIns="0" rIns="91440" tIns="0" bIns="0"/>
          <a:lstStyle/>
          <a:p>
            <a:r>
              <a:rPr lang="en-US" sz="2700" dirty="0">
                <a:b/>
                <a:solidFill>
                  <a:srgbClr val="102A43"/>
                </a:solidFill>
              </a:rPr>
              <a:t>Governance, Risk, and Compliance Monitoring</a:t>
            </a:r>
          </a:p>
        </p:txBody>
      </p:sp>
      <p:sp>
        <p:nvSpPr>
          <p:cNvPr id="5" name="Text Box"/>
          <p:cNvSpPr txBox="1"/>
          <p:nvPr/>
        </p:nvSpPr>
        <p:spPr>
          <a:xfrm>
            <a:off x="521207" y="1216152"/>
            <a:ext cx="10241280" cy="301752"/>
          </a:xfrm>
          <a:prstGeom prst="rect">
            <a:avLst/>
          </a:prstGeom>
          <a:noFill/>
          <a:ln>
            <a:noFill/>
          </a:ln>
        </p:spPr>
        <p:txBody>
          <a:bodyPr wrap="square" anchor="top" lIns="0" rIns="91440" tIns="0" bIns="0"/>
          <a:lstStyle/>
          <a:p>
            <a:r>
              <a:rPr lang="en-US" sz="1400" dirty="0">
                <a:solidFill>
                  <a:srgbClr val="64748B"/>
                </a:solidFill>
              </a:rPr>
              <a:t>Monitoring connects risks to required controls</a:t>
            </a:r>
          </a:p>
        </p:txBody>
      </p:sp>
      <p:sp>
        <p:nvSpPr>
          <p:cNvPr id="10" name="Text Box"/>
          <p:cNvSpPr txBox="1"/>
          <p:nvPr/>
        </p:nvSpPr>
        <p:spPr>
          <a:xfrm>
            <a:off x="502920" y="1444752"/>
            <a:ext cx="2103120" cy="438912"/>
          </a:xfrm>
          <a:prstGeom prst="rect">
            <a:avLst/>
          </a:prstGeom>
          <a:solidFill>
            <a:srgbClr val="034485"/>
          </a:solidFill>
          <a:ln w="9525">
            <a:solidFill>
              <a:srgbClr val="BBD7F0"/>
            </a:solidFill>
          </a:ln>
        </p:spPr>
        <p:txBody>
          <a:bodyPr wrap="square" anchor="mid" lIns="45720" rIns="45720" tIns="22860" bIns="22860"/>
          <a:lstStyle/>
          <a:p>
            <a:r>
              <a:rPr lang="en-US" sz="1300" dirty="0">
                <a:b/>
                <a:solidFill>
                  <a:srgbClr val="FFFFFF"/>
                </a:solidFill>
              </a:rPr>
              <a:t>Area</a:t>
            </a:r>
          </a:p>
        </p:txBody>
      </p:sp>
      <p:sp>
        <p:nvSpPr>
          <p:cNvPr id="11" name="Text Box"/>
          <p:cNvSpPr txBox="1"/>
          <p:nvPr/>
        </p:nvSpPr>
        <p:spPr>
          <a:xfrm>
            <a:off x="2606040" y="1444752"/>
            <a:ext cx="4069080" cy="438912"/>
          </a:xfrm>
          <a:prstGeom prst="rect">
            <a:avLst/>
          </a:prstGeom>
          <a:solidFill>
            <a:srgbClr val="034485"/>
          </a:solidFill>
          <a:ln w="9525">
            <a:solidFill>
              <a:srgbClr val="BBD7F0"/>
            </a:solidFill>
          </a:ln>
        </p:spPr>
        <p:txBody>
          <a:bodyPr wrap="square" anchor="mid" lIns="45720" rIns="45720" tIns="22860" bIns="22860"/>
          <a:lstStyle/>
          <a:p>
            <a:r>
              <a:rPr lang="en-US" sz="1300" dirty="0">
                <a:b/>
                <a:solidFill>
                  <a:srgbClr val="FFFFFF"/>
                </a:solidFill>
              </a:rPr>
              <a:t>Risk</a:t>
            </a:r>
          </a:p>
        </p:txBody>
      </p:sp>
      <p:sp>
        <p:nvSpPr>
          <p:cNvPr id="12" name="Text Box"/>
          <p:cNvSpPr txBox="1"/>
          <p:nvPr/>
        </p:nvSpPr>
        <p:spPr>
          <a:xfrm>
            <a:off x="6675120" y="1444752"/>
            <a:ext cx="4572000" cy="438912"/>
          </a:xfrm>
          <a:prstGeom prst="rect">
            <a:avLst/>
          </a:prstGeom>
          <a:solidFill>
            <a:srgbClr val="034485"/>
          </a:solidFill>
          <a:ln w="9525">
            <a:solidFill>
              <a:srgbClr val="BBD7F0"/>
            </a:solidFill>
          </a:ln>
        </p:spPr>
        <p:txBody>
          <a:bodyPr wrap="square" anchor="mid" lIns="45720" rIns="45720" tIns="22860" bIns="22860"/>
          <a:lstStyle/>
          <a:p>
            <a:r>
              <a:rPr lang="en-US" sz="1300" dirty="0">
                <a:b/>
                <a:solidFill>
                  <a:srgbClr val="FFFFFF"/>
                </a:solidFill>
              </a:rPr>
              <a:t>Required Control</a:t>
            </a:r>
          </a:p>
        </p:txBody>
      </p:sp>
      <p:sp>
        <p:nvSpPr>
          <p:cNvPr id="13" name="Text Box"/>
          <p:cNvSpPr txBox="1"/>
          <p:nvPr/>
        </p:nvSpPr>
        <p:spPr>
          <a:xfrm>
            <a:off x="502920" y="1883664"/>
            <a:ext cx="2103120" cy="438912"/>
          </a:xfrm>
          <a:prstGeom prst="rect">
            <a:avLst/>
          </a:prstGeom>
          <a:solidFill>
            <a:srgbClr val="FFFFFF"/>
          </a:solidFill>
          <a:ln w="9525">
            <a:solidFill>
              <a:srgbClr val="BBD7F0"/>
            </a:solidFill>
          </a:ln>
        </p:spPr>
        <p:txBody>
          <a:bodyPr wrap="square" anchor="mid" lIns="45720" rIns="45720" tIns="22860" bIns="22860"/>
          <a:lstStyle/>
          <a:p>
            <a:r>
              <a:rPr lang="en-US" sz="1300" dirty="0">
                <a:solidFill>
                  <a:srgbClr val="1F2937"/>
                </a:solidFill>
              </a:rPr>
              <a:t>User Access</a:t>
            </a:r>
          </a:p>
        </p:txBody>
      </p:sp>
      <p:sp>
        <p:nvSpPr>
          <p:cNvPr id="14" name="Text Box"/>
          <p:cNvSpPr txBox="1"/>
          <p:nvPr/>
        </p:nvSpPr>
        <p:spPr>
          <a:xfrm>
            <a:off x="2606040" y="1883664"/>
            <a:ext cx="4069080" cy="438912"/>
          </a:xfrm>
          <a:prstGeom prst="rect">
            <a:avLst/>
          </a:prstGeom>
          <a:solidFill>
            <a:srgbClr val="FFFFFF"/>
          </a:solidFill>
          <a:ln w="9525">
            <a:solidFill>
              <a:srgbClr val="BBD7F0"/>
            </a:solidFill>
          </a:ln>
        </p:spPr>
        <p:txBody>
          <a:bodyPr wrap="square" anchor="mid" lIns="45720" rIns="45720" tIns="22860" bIns="22860"/>
          <a:lstStyle/>
          <a:p>
            <a:r>
              <a:rPr lang="en-US" sz="1300" dirty="0">
                <a:solidFill>
                  <a:srgbClr val="1F2937"/>
                </a:solidFill>
              </a:rPr>
              <a:t>Unauthorized access</a:t>
            </a:r>
          </a:p>
        </p:txBody>
      </p:sp>
      <p:sp>
        <p:nvSpPr>
          <p:cNvPr id="15" name="Text Box"/>
          <p:cNvSpPr txBox="1"/>
          <p:nvPr/>
        </p:nvSpPr>
        <p:spPr>
          <a:xfrm>
            <a:off x="6675120" y="1883664"/>
            <a:ext cx="4572000" cy="438912"/>
          </a:xfrm>
          <a:prstGeom prst="rect">
            <a:avLst/>
          </a:prstGeom>
          <a:solidFill>
            <a:srgbClr val="FFFFFF"/>
          </a:solidFill>
          <a:ln w="9525">
            <a:solidFill>
              <a:srgbClr val="BBD7F0"/>
            </a:solidFill>
          </a:ln>
        </p:spPr>
        <p:txBody>
          <a:bodyPr wrap="square" anchor="mid" lIns="45720" rIns="45720" tIns="22860" bIns="22860"/>
          <a:lstStyle/>
          <a:p>
            <a:r>
              <a:rPr lang="en-US" sz="1300" dirty="0">
                <a:solidFill>
                  <a:srgbClr val="1F2937"/>
                </a:solidFill>
              </a:rPr>
              <a:t>Role-based access</a:t>
            </a:r>
          </a:p>
        </p:txBody>
      </p:sp>
      <p:sp>
        <p:nvSpPr>
          <p:cNvPr id="16" name="Text Box"/>
          <p:cNvSpPr txBox="1"/>
          <p:nvPr/>
        </p:nvSpPr>
        <p:spPr>
          <a:xfrm>
            <a:off x="502920" y="2322576"/>
            <a:ext cx="2103120" cy="438912"/>
          </a:xfrm>
          <a:prstGeom prst="rect">
            <a:avLst/>
          </a:prstGeom>
          <a:solidFill>
            <a:srgbClr val="F4F9FF"/>
          </a:solidFill>
          <a:ln w="9525">
            <a:solidFill>
              <a:srgbClr val="BBD7F0"/>
            </a:solidFill>
          </a:ln>
        </p:spPr>
        <p:txBody>
          <a:bodyPr wrap="square" anchor="mid" lIns="45720" rIns="45720" tIns="22860" bIns="22860"/>
          <a:lstStyle/>
          <a:p>
            <a:r>
              <a:rPr lang="en-US" sz="1300" dirty="0">
                <a:solidFill>
                  <a:srgbClr val="1F2937"/>
                </a:solidFill>
              </a:rPr>
              <a:t>Academic Records</a:t>
            </a:r>
          </a:p>
        </p:txBody>
      </p:sp>
      <p:sp>
        <p:nvSpPr>
          <p:cNvPr id="17" name="Text Box"/>
          <p:cNvSpPr txBox="1"/>
          <p:nvPr/>
        </p:nvSpPr>
        <p:spPr>
          <a:xfrm>
            <a:off x="2606040" y="2322576"/>
            <a:ext cx="4069080" cy="438912"/>
          </a:xfrm>
          <a:prstGeom prst="rect">
            <a:avLst/>
          </a:prstGeom>
          <a:solidFill>
            <a:srgbClr val="F4F9FF"/>
          </a:solidFill>
          <a:ln w="9525">
            <a:solidFill>
              <a:srgbClr val="BBD7F0"/>
            </a:solidFill>
          </a:ln>
        </p:spPr>
        <p:txBody>
          <a:bodyPr wrap="square" anchor="mid" lIns="45720" rIns="45720" tIns="22860" bIns="22860"/>
          <a:lstStyle/>
          <a:p>
            <a:r>
              <a:rPr lang="en-US" sz="1200" dirty="0">
                <a:solidFill>
                  <a:srgbClr val="1F2937"/>
                </a:solidFill>
              </a:rPr>
              <a:t>Alteration, loss, disclosure</a:t>
            </a:r>
          </a:p>
        </p:txBody>
      </p:sp>
      <p:sp>
        <p:nvSpPr>
          <p:cNvPr id="18" name="Text Box"/>
          <p:cNvSpPr txBox="1"/>
          <p:nvPr/>
        </p:nvSpPr>
        <p:spPr>
          <a:xfrm>
            <a:off x="6675120" y="2322576"/>
            <a:ext cx="4572000" cy="438912"/>
          </a:xfrm>
          <a:prstGeom prst="rect">
            <a:avLst/>
          </a:prstGeom>
          <a:solidFill>
            <a:srgbClr val="F4F9FF"/>
          </a:solidFill>
          <a:ln w="9525">
            <a:solidFill>
              <a:srgbClr val="BBD7F0"/>
            </a:solidFill>
          </a:ln>
        </p:spPr>
        <p:txBody>
          <a:bodyPr wrap="square" anchor="mid" lIns="45720" rIns="45720" tIns="22860" bIns="22860"/>
          <a:lstStyle/>
          <a:p>
            <a:r>
              <a:rPr lang="en-US" sz="1300" dirty="0">
                <a:solidFill>
                  <a:srgbClr val="1F2937"/>
                </a:solidFill>
              </a:rPr>
              <a:t>Authorized access only</a:t>
            </a:r>
          </a:p>
        </p:txBody>
      </p:sp>
      <p:sp>
        <p:nvSpPr>
          <p:cNvPr id="19" name="Text Box"/>
          <p:cNvSpPr txBox="1"/>
          <p:nvPr/>
        </p:nvSpPr>
        <p:spPr>
          <a:xfrm>
            <a:off x="502920" y="2761488"/>
            <a:ext cx="2103120" cy="438912"/>
          </a:xfrm>
          <a:prstGeom prst="rect">
            <a:avLst/>
          </a:prstGeom>
          <a:solidFill>
            <a:srgbClr val="FFFFFF"/>
          </a:solidFill>
          <a:ln w="9525">
            <a:solidFill>
              <a:srgbClr val="BBD7F0"/>
            </a:solidFill>
          </a:ln>
        </p:spPr>
        <p:txBody>
          <a:bodyPr wrap="square" anchor="mid" lIns="45720" rIns="45720" tIns="22860" bIns="22860"/>
          <a:lstStyle/>
          <a:p>
            <a:r>
              <a:rPr lang="en-US" sz="1300" dirty="0">
                <a:solidFill>
                  <a:srgbClr val="1F2937"/>
                </a:solidFill>
              </a:rPr>
              <a:t>Medical Notes</a:t>
            </a:r>
          </a:p>
        </p:txBody>
      </p:sp>
      <p:sp>
        <p:nvSpPr>
          <p:cNvPr id="20" name="Text Box"/>
          <p:cNvSpPr txBox="1"/>
          <p:nvPr/>
        </p:nvSpPr>
        <p:spPr>
          <a:xfrm>
            <a:off x="2606040" y="2761488"/>
            <a:ext cx="4069080" cy="438912"/>
          </a:xfrm>
          <a:prstGeom prst="rect">
            <a:avLst/>
          </a:prstGeom>
          <a:solidFill>
            <a:srgbClr val="FFFFFF"/>
          </a:solidFill>
          <a:ln w="9525">
            <a:solidFill>
              <a:srgbClr val="BBD7F0"/>
            </a:solidFill>
          </a:ln>
        </p:spPr>
        <p:txBody>
          <a:bodyPr wrap="square" anchor="mid" lIns="45720" rIns="45720" tIns="22860" bIns="22860"/>
          <a:lstStyle/>
          <a:p>
            <a:r>
              <a:rPr lang="en-US" sz="1300" dirty="0">
                <a:solidFill>
                  <a:srgbClr val="1F2937"/>
                </a:solidFill>
              </a:rPr>
              <a:t>Sensitive exposure</a:t>
            </a:r>
          </a:p>
        </p:txBody>
      </p:sp>
      <p:sp>
        <p:nvSpPr>
          <p:cNvPr id="21" name="Text Box"/>
          <p:cNvSpPr txBox="1"/>
          <p:nvPr/>
        </p:nvSpPr>
        <p:spPr>
          <a:xfrm>
            <a:off x="6675120" y="2761488"/>
            <a:ext cx="4572000" cy="438912"/>
          </a:xfrm>
          <a:prstGeom prst="rect">
            <a:avLst/>
          </a:prstGeom>
          <a:solidFill>
            <a:srgbClr val="FFFFFF"/>
          </a:solidFill>
          <a:ln w="9525">
            <a:solidFill>
              <a:srgbClr val="BBD7F0"/>
            </a:solidFill>
          </a:ln>
        </p:spPr>
        <p:txBody>
          <a:bodyPr wrap="square" anchor="mid" lIns="45720" rIns="45720" tIns="22860" bIns="22860"/>
          <a:lstStyle/>
          <a:p>
            <a:r>
              <a:rPr lang="en-US" sz="1300" dirty="0">
                <a:solidFill>
                  <a:srgbClr val="1F2937"/>
                </a:solidFill>
              </a:rPr>
              <a:t>Added confidentiality</a:t>
            </a:r>
          </a:p>
        </p:txBody>
      </p:sp>
      <p:sp>
        <p:nvSpPr>
          <p:cNvPr id="22" name="Text Box"/>
          <p:cNvSpPr txBox="1"/>
          <p:nvPr/>
        </p:nvSpPr>
        <p:spPr>
          <a:xfrm>
            <a:off x="502920" y="3200400"/>
            <a:ext cx="2103120" cy="438912"/>
          </a:xfrm>
          <a:prstGeom prst="rect">
            <a:avLst/>
          </a:prstGeom>
          <a:solidFill>
            <a:srgbClr val="F4F9FF"/>
          </a:solidFill>
          <a:ln w="9525">
            <a:solidFill>
              <a:srgbClr val="BBD7F0"/>
            </a:solidFill>
          </a:ln>
        </p:spPr>
        <p:txBody>
          <a:bodyPr wrap="square" anchor="mid" lIns="45720" rIns="45720" tIns="22860" bIns="22860"/>
          <a:lstStyle/>
          <a:p>
            <a:r>
              <a:rPr lang="en-US" sz="1300" dirty="0">
                <a:solidFill>
                  <a:srgbClr val="1F2937"/>
                </a:solidFill>
              </a:rPr>
              <a:t>Uploads</a:t>
            </a:r>
          </a:p>
        </p:txBody>
      </p:sp>
      <p:sp>
        <p:nvSpPr>
          <p:cNvPr id="23" name="Text Box"/>
          <p:cNvSpPr txBox="1"/>
          <p:nvPr/>
        </p:nvSpPr>
        <p:spPr>
          <a:xfrm>
            <a:off x="2606040" y="3200400"/>
            <a:ext cx="4069080" cy="438912"/>
          </a:xfrm>
          <a:prstGeom prst="rect">
            <a:avLst/>
          </a:prstGeom>
          <a:solidFill>
            <a:srgbClr val="F4F9FF"/>
          </a:solidFill>
          <a:ln w="9525">
            <a:solidFill>
              <a:srgbClr val="BBD7F0"/>
            </a:solidFill>
          </a:ln>
        </p:spPr>
        <p:txBody>
          <a:bodyPr wrap="square" anchor="mid" lIns="45720" rIns="45720" tIns="22860" bIns="22860"/>
          <a:lstStyle/>
          <a:p>
            <a:r>
              <a:rPr lang="en-US" sz="1300" dirty="0">
                <a:solidFill>
                  <a:srgbClr val="1F2937"/>
                </a:solidFill>
              </a:rPr>
              <a:t>Malware, misuse, loss</a:t>
            </a:r>
          </a:p>
        </p:txBody>
      </p:sp>
      <p:sp>
        <p:nvSpPr>
          <p:cNvPr id="24" name="Text Box"/>
          <p:cNvSpPr txBox="1"/>
          <p:nvPr/>
        </p:nvSpPr>
        <p:spPr>
          <a:xfrm>
            <a:off x="6675120" y="3200400"/>
            <a:ext cx="4572000" cy="438912"/>
          </a:xfrm>
          <a:prstGeom prst="rect">
            <a:avLst/>
          </a:prstGeom>
          <a:solidFill>
            <a:srgbClr val="F4F9FF"/>
          </a:solidFill>
          <a:ln w="9525">
            <a:solidFill>
              <a:srgbClr val="BBD7F0"/>
            </a:solidFill>
          </a:ln>
        </p:spPr>
        <p:txBody>
          <a:bodyPr wrap="square" anchor="mid" lIns="45720" rIns="45720" tIns="22860" bIns="22860"/>
          <a:lstStyle/>
          <a:p>
            <a:r>
              <a:rPr lang="en-US" sz="1200" dirty="0">
                <a:solidFill>
                  <a:srgbClr val="1F2937"/>
                </a:solidFill>
              </a:rPr>
              <a:t>Validate, store, limit access</a:t>
            </a:r>
          </a:p>
        </p:txBody>
      </p:sp>
      <p:sp>
        <p:nvSpPr>
          <p:cNvPr id="25" name="Text Box"/>
          <p:cNvSpPr txBox="1"/>
          <p:nvPr/>
        </p:nvSpPr>
        <p:spPr>
          <a:xfrm>
            <a:off x="502920" y="3639312"/>
            <a:ext cx="2103120" cy="438912"/>
          </a:xfrm>
          <a:prstGeom prst="rect">
            <a:avLst/>
          </a:prstGeom>
          <a:solidFill>
            <a:srgbClr val="FFFFFF"/>
          </a:solidFill>
          <a:ln w="9525">
            <a:solidFill>
              <a:srgbClr val="BBD7F0"/>
            </a:solidFill>
          </a:ln>
        </p:spPr>
        <p:txBody>
          <a:bodyPr wrap="square" anchor="mid" lIns="45720" rIns="45720" tIns="22860" bIns="22860"/>
          <a:lstStyle/>
          <a:p>
            <a:r>
              <a:rPr lang="en-US" sz="1300" dirty="0">
                <a:solidFill>
                  <a:srgbClr val="1F2937"/>
                </a:solidFill>
              </a:rPr>
              <a:t>Audit Logs</a:t>
            </a:r>
          </a:p>
        </p:txBody>
      </p:sp>
      <p:sp>
        <p:nvSpPr>
          <p:cNvPr id="26" name="Text Box"/>
          <p:cNvSpPr txBox="1"/>
          <p:nvPr/>
        </p:nvSpPr>
        <p:spPr>
          <a:xfrm>
            <a:off x="2606040" y="3639312"/>
            <a:ext cx="4069080" cy="438912"/>
          </a:xfrm>
          <a:prstGeom prst="rect">
            <a:avLst/>
          </a:prstGeom>
          <a:solidFill>
            <a:srgbClr val="FFFFFF"/>
          </a:solidFill>
          <a:ln w="9525">
            <a:solidFill>
              <a:srgbClr val="BBD7F0"/>
            </a:solidFill>
          </a:ln>
        </p:spPr>
        <p:txBody>
          <a:bodyPr wrap="square" anchor="mid" lIns="45720" rIns="45720" tIns="22860" bIns="22860"/>
          <a:lstStyle/>
          <a:p>
            <a:r>
              <a:rPr lang="en-US" sz="1300" dirty="0">
                <a:solidFill>
                  <a:srgbClr val="1F2937"/>
                </a:solidFill>
              </a:rPr>
              <a:t>No accountability</a:t>
            </a:r>
          </a:p>
        </p:txBody>
      </p:sp>
      <p:sp>
        <p:nvSpPr>
          <p:cNvPr id="27" name="Text Box"/>
          <p:cNvSpPr txBox="1"/>
          <p:nvPr/>
        </p:nvSpPr>
        <p:spPr>
          <a:xfrm>
            <a:off x="6675120" y="3639312"/>
            <a:ext cx="4572000" cy="438912"/>
          </a:xfrm>
          <a:prstGeom prst="rect">
            <a:avLst/>
          </a:prstGeom>
          <a:solidFill>
            <a:srgbClr val="FFFFFF"/>
          </a:solidFill>
          <a:ln w="9525">
            <a:solidFill>
              <a:srgbClr val="BBD7F0"/>
            </a:solidFill>
          </a:ln>
        </p:spPr>
        <p:txBody>
          <a:bodyPr wrap="square" anchor="mid" lIns="45720" rIns="45720" tIns="22860" bIns="22860"/>
          <a:lstStyle/>
          <a:p>
            <a:r>
              <a:rPr lang="en-US" sz="1200" dirty="0">
                <a:solidFill>
                  <a:srgbClr val="1F2937"/>
                </a:solidFill>
              </a:rPr>
              <a:t>Record and review activity</a:t>
            </a:r>
          </a:p>
        </p:txBody>
      </p:sp>
      <p:sp>
        <p:nvSpPr>
          <p:cNvPr id="28" name="Text Box"/>
          <p:cNvSpPr txBox="1"/>
          <p:nvPr/>
        </p:nvSpPr>
        <p:spPr>
          <a:xfrm>
            <a:off x="502920" y="4078224"/>
            <a:ext cx="2103120" cy="438912"/>
          </a:xfrm>
          <a:prstGeom prst="rect">
            <a:avLst/>
          </a:prstGeom>
          <a:solidFill>
            <a:srgbClr val="F4F9FF"/>
          </a:solidFill>
          <a:ln w="9525">
            <a:solidFill>
              <a:srgbClr val="BBD7F0"/>
            </a:solidFill>
          </a:ln>
        </p:spPr>
        <p:txBody>
          <a:bodyPr wrap="square" anchor="mid" lIns="45720" rIns="45720" tIns="22860" bIns="22860"/>
          <a:lstStyle/>
          <a:p>
            <a:r>
              <a:rPr lang="en-US" sz="1300" dirty="0">
                <a:solidFill>
                  <a:srgbClr val="1F2937"/>
                </a:solidFill>
              </a:rPr>
              <a:t>Incidents</a:t>
            </a:r>
          </a:p>
        </p:txBody>
      </p:sp>
      <p:sp>
        <p:nvSpPr>
          <p:cNvPr id="29" name="Text Box"/>
          <p:cNvSpPr txBox="1"/>
          <p:nvPr/>
        </p:nvSpPr>
        <p:spPr>
          <a:xfrm>
            <a:off x="2606040" y="4078224"/>
            <a:ext cx="4069080" cy="438912"/>
          </a:xfrm>
          <a:prstGeom prst="rect">
            <a:avLst/>
          </a:prstGeom>
          <a:solidFill>
            <a:srgbClr val="F4F9FF"/>
          </a:solidFill>
          <a:ln w="9525">
            <a:solidFill>
              <a:srgbClr val="BBD7F0"/>
            </a:solidFill>
          </a:ln>
        </p:spPr>
        <p:txBody>
          <a:bodyPr wrap="square" anchor="mid" lIns="45720" rIns="45720" tIns="22860" bIns="22860"/>
          <a:lstStyle/>
          <a:p>
            <a:r>
              <a:rPr lang="en-US" sz="1300" dirty="0">
                <a:solidFill>
                  <a:srgbClr val="1F2937"/>
                </a:solidFill>
              </a:rPr>
              <a:t>Delayed response</a:t>
            </a:r>
          </a:p>
        </p:txBody>
      </p:sp>
      <p:sp>
        <p:nvSpPr>
          <p:cNvPr id="30" name="Text Box"/>
          <p:cNvSpPr txBox="1"/>
          <p:nvPr/>
        </p:nvSpPr>
        <p:spPr>
          <a:xfrm>
            <a:off x="6675120" y="4078224"/>
            <a:ext cx="4572000" cy="438912"/>
          </a:xfrm>
          <a:prstGeom prst="rect">
            <a:avLst/>
          </a:prstGeom>
          <a:solidFill>
            <a:srgbClr val="F4F9FF"/>
          </a:solidFill>
          <a:ln w="9525">
            <a:solidFill>
              <a:srgbClr val="BBD7F0"/>
            </a:solidFill>
          </a:ln>
        </p:spPr>
        <p:txBody>
          <a:bodyPr wrap="square" anchor="mid" lIns="45720" rIns="45720" tIns="22860" bIns="22860"/>
          <a:lstStyle/>
          <a:p>
            <a:r>
              <a:rPr lang="en-US" sz="1300" dirty="0">
                <a:solidFill>
                  <a:srgbClr val="1F2937"/>
                </a:solidFill>
              </a:rPr>
              <a:t>Report and resolve</a:t>
            </a:r>
          </a:p>
        </p:txBody>
      </p:sp>
      <p:sp>
        <p:nvSpPr>
          <p:cNvPr id="31" name="Text Box"/>
          <p:cNvSpPr txBox="1"/>
          <p:nvPr/>
        </p:nvSpPr>
        <p:spPr>
          <a:xfrm>
            <a:off x="502920" y="4517136"/>
            <a:ext cx="2103120" cy="438912"/>
          </a:xfrm>
          <a:prstGeom prst="rect">
            <a:avLst/>
          </a:prstGeom>
          <a:solidFill>
            <a:srgbClr val="FFFFFF"/>
          </a:solidFill>
          <a:ln w="9525">
            <a:solidFill>
              <a:srgbClr val="BBD7F0"/>
            </a:solidFill>
          </a:ln>
        </p:spPr>
        <p:txBody>
          <a:bodyPr wrap="square" anchor="mid" lIns="45720" rIns="45720" tIns="22860" bIns="22860"/>
          <a:lstStyle/>
          <a:p>
            <a:r>
              <a:rPr lang="en-US" sz="1300" dirty="0">
                <a:solidFill>
                  <a:srgbClr val="1F2937"/>
                </a:solidFill>
              </a:rPr>
              <a:t>Retention</a:t>
            </a:r>
          </a:p>
        </p:txBody>
      </p:sp>
      <p:sp>
        <p:nvSpPr>
          <p:cNvPr id="32" name="Text Box"/>
          <p:cNvSpPr txBox="1"/>
          <p:nvPr/>
        </p:nvSpPr>
        <p:spPr>
          <a:xfrm>
            <a:off x="2606040" y="4517136"/>
            <a:ext cx="4069080" cy="438912"/>
          </a:xfrm>
          <a:prstGeom prst="rect">
            <a:avLst/>
          </a:prstGeom>
          <a:solidFill>
            <a:srgbClr val="FFFFFF"/>
          </a:solidFill>
          <a:ln w="9525">
            <a:solidFill>
              <a:srgbClr val="BBD7F0"/>
            </a:solidFill>
          </a:ln>
        </p:spPr>
        <p:txBody>
          <a:bodyPr wrap="square" anchor="mid" lIns="45720" rIns="45720" tIns="22860" bIns="22860"/>
          <a:lstStyle/>
          <a:p>
            <a:r>
              <a:rPr lang="en-US" sz="1200" dirty="0">
                <a:solidFill>
                  <a:srgbClr val="1F2937"/>
                </a:solidFill>
              </a:rPr>
              <a:t>Over-retention/disposal</a:t>
            </a:r>
          </a:p>
        </p:txBody>
      </p:sp>
      <p:sp>
        <p:nvSpPr>
          <p:cNvPr id="33" name="Text Box"/>
          <p:cNvSpPr txBox="1"/>
          <p:nvPr/>
        </p:nvSpPr>
        <p:spPr>
          <a:xfrm>
            <a:off x="6675120" y="4517136"/>
            <a:ext cx="4572000" cy="438912"/>
          </a:xfrm>
          <a:prstGeom prst="rect">
            <a:avLst/>
          </a:prstGeom>
          <a:solidFill>
            <a:srgbClr val="FFFFFF"/>
          </a:solidFill>
          <a:ln w="9525">
            <a:solidFill>
              <a:srgbClr val="BBD7F0"/>
            </a:solidFill>
          </a:ln>
        </p:spPr>
        <p:txBody>
          <a:bodyPr wrap="square" anchor="mid" lIns="45720" rIns="45720" tIns="22860" bIns="22860"/>
          <a:lstStyle/>
          <a:p>
            <a:r>
              <a:rPr lang="en-US" sz="1300" dirty="0">
                <a:solidFill>
                  <a:srgbClr val="1F2937"/>
                </a:solidFill>
              </a:rPr>
              <a:t>Follow requirements</a:t>
            </a:r>
          </a:p>
        </p:txBody>
      </p:sp>
      <p:sp>
        <p:nvSpPr>
          <p:cNvPr id="34" name="Text Box"/>
          <p:cNvSpPr txBox="1"/>
          <p:nvPr/>
        </p:nvSpPr>
        <p:spPr>
          <a:xfrm>
            <a:off x="502920" y="4956048"/>
            <a:ext cx="2103120" cy="438912"/>
          </a:xfrm>
          <a:prstGeom prst="rect">
            <a:avLst/>
          </a:prstGeom>
          <a:solidFill>
            <a:srgbClr val="F4F9FF"/>
          </a:solidFill>
          <a:ln w="9525">
            <a:solidFill>
              <a:srgbClr val="BBD7F0"/>
            </a:solidFill>
          </a:ln>
        </p:spPr>
        <p:txBody>
          <a:bodyPr wrap="square" anchor="mid" lIns="45720" rIns="45720" tIns="22860" bIns="22860"/>
          <a:lstStyle/>
          <a:p>
            <a:r>
              <a:rPr lang="en-US" sz="1300" dirty="0">
                <a:solidFill>
                  <a:srgbClr val="1F2937"/>
                </a:solidFill>
              </a:rPr>
              <a:t>Third Parties</a:t>
            </a:r>
          </a:p>
        </p:txBody>
      </p:sp>
      <p:sp>
        <p:nvSpPr>
          <p:cNvPr id="35" name="Text Box"/>
          <p:cNvSpPr txBox="1"/>
          <p:nvPr/>
        </p:nvSpPr>
        <p:spPr>
          <a:xfrm>
            <a:off x="2606040" y="4956048"/>
            <a:ext cx="4069080" cy="438912"/>
          </a:xfrm>
          <a:prstGeom prst="rect">
            <a:avLst/>
          </a:prstGeom>
          <a:solidFill>
            <a:srgbClr val="F4F9FF"/>
          </a:solidFill>
          <a:ln w="9525">
            <a:solidFill>
              <a:srgbClr val="BBD7F0"/>
            </a:solidFill>
          </a:ln>
        </p:spPr>
        <p:txBody>
          <a:bodyPr wrap="square" anchor="mid" lIns="45720" rIns="45720" tIns="22860" bIns="22860"/>
          <a:lstStyle/>
          <a:p>
            <a:r>
              <a:rPr lang="en-US" sz="1300" dirty="0">
                <a:solidFill>
                  <a:srgbClr val="1F2937"/>
                </a:solidFill>
              </a:rPr>
              <a:t>External misuse</a:t>
            </a:r>
          </a:p>
        </p:txBody>
      </p:sp>
      <p:sp>
        <p:nvSpPr>
          <p:cNvPr id="36" name="Text Box"/>
          <p:cNvSpPr txBox="1"/>
          <p:nvPr/>
        </p:nvSpPr>
        <p:spPr>
          <a:xfrm>
            <a:off x="6675120" y="4956048"/>
            <a:ext cx="4572000" cy="438912"/>
          </a:xfrm>
          <a:prstGeom prst="rect">
            <a:avLst/>
          </a:prstGeom>
          <a:solidFill>
            <a:srgbClr val="F4F9FF"/>
          </a:solidFill>
          <a:ln w="9525">
            <a:solidFill>
              <a:srgbClr val="BBD7F0"/>
            </a:solidFill>
          </a:ln>
        </p:spPr>
        <p:txBody>
          <a:bodyPr wrap="square" anchor="mid" lIns="45720" rIns="45720" tIns="22860" bIns="22860"/>
          <a:lstStyle/>
          <a:p>
            <a:r>
              <a:rPr lang="en-US" sz="1200" dirty="0">
                <a:solidFill>
                  <a:srgbClr val="1F2937"/>
                </a:solidFill>
              </a:rPr>
              <a:t>Authorize, limit, monitor</a:t>
            </a:r>
          </a:p>
        </p:txBody>
      </p:sp>
      <p:sp>
        <p:nvSpPr>
          <p:cNvPr id="3" name="Text Box"/>
          <p:cNvSpPr txBox="1"/>
          <p:nvPr/>
        </p:nvSpPr>
        <p:spPr>
          <a:xfrm>
            <a:off x="411480" y="6446520"/>
            <a:ext cx="11384280" cy="228600"/>
          </a:xfrm>
          <a:prstGeom prst="rect">
            <a:avLst/>
          </a:prstGeom>
          <a:noFill/>
          <a:ln>
            <a:noFill/>
          </a:ln>
        </p:spPr>
        <p:txBody>
          <a:bodyPr wrap="square" anchor="top" lIns="0" rIns="91440" tIns="0" bIns="0"/>
          <a:lstStyle/>
          <a:p>
            <a:r>
              <a:rPr lang="en-US" sz="900" dirty="0">
                <a:solidFill>
                  <a:srgbClr val="64748B"/>
                </a:solidFill>
              </a:rPr>
              <a:t>GRC</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2192000" cy="6858000"/>
          <a:chOff x="0" y="0"/>
          <a:chExt cx="12192000" cy="6858000"/>
        </a:xfrm>
      </p:grpSpPr>
      <p:sp>
        <p:nvSpPr>
          <p:cNvPr id="2" name="Text Box"/>
          <p:cNvSpPr txBox="1"/>
          <p:nvPr/>
        </p:nvSpPr>
        <p:spPr>
          <a:xfrm>
            <a:off x="0" y="0"/>
            <a:ext cx="12192000" cy="530352"/>
          </a:xfrm>
          <a:prstGeom prst="rect">
            <a:avLst/>
          </a:prstGeom>
          <a:solidFill>
            <a:srgbClr val="034485"/>
          </a:solidFill>
          <a:ln>
            <a:noFill/>
          </a:ln>
        </p:spPr>
        <p:txBody>
          <a:bodyPr wrap="square" anchor="mid" lIns="384048" rIns="91440" tIns="109728" bIns="109728"/>
          <a:lstStyle/>
          <a:p>
            <a:r>
              <a:rPr lang="en-US" sz="1300" dirty="0">
                <a:b/>
                <a:solidFill>
                  <a:srgbClr val="FFFFFF"/>
                </a:solidFill>
              </a:rPr>
              <a:t>Asian College Varsity Management Information Security Policy</a:t>
            </a:r>
          </a:p>
        </p:txBody>
      </p:sp>
      <p:sp>
        <p:nvSpPr>
          <p:cNvPr id="4" name="Text Box"/>
          <p:cNvSpPr txBox="1"/>
          <p:nvPr/>
        </p:nvSpPr>
        <p:spPr>
          <a:xfrm>
            <a:off x="502920" y="749808"/>
            <a:ext cx="10881360" cy="502920"/>
          </a:xfrm>
          <a:prstGeom prst="rect">
            <a:avLst/>
          </a:prstGeom>
          <a:noFill/>
          <a:ln>
            <a:noFill/>
          </a:ln>
        </p:spPr>
        <p:txBody>
          <a:bodyPr wrap="square" anchor="top" lIns="0" rIns="91440" tIns="0" bIns="0"/>
          <a:lstStyle/>
          <a:p>
            <a:r>
              <a:rPr lang="en-US" sz="2700" dirty="0">
                <a:b/>
                <a:solidFill>
                  <a:srgbClr val="102A43"/>
                </a:solidFill>
              </a:rPr>
              <a:t>Core Policy Statement</a:t>
            </a:r>
          </a:p>
        </p:txBody>
      </p:sp>
      <p:sp>
        <p:nvSpPr>
          <p:cNvPr id="5" name="Text Box"/>
          <p:cNvSpPr txBox="1"/>
          <p:nvPr/>
        </p:nvSpPr>
        <p:spPr>
          <a:xfrm>
            <a:off x="521207" y="1216152"/>
            <a:ext cx="10241280" cy="301752"/>
          </a:xfrm>
          <a:prstGeom prst="rect">
            <a:avLst/>
          </a:prstGeom>
          <a:noFill/>
          <a:ln>
            <a:noFill/>
          </a:ln>
        </p:spPr>
        <p:txBody>
          <a:bodyPr wrap="square" anchor="top" lIns="0" rIns="91440" tIns="0" bIns="0"/>
          <a:lstStyle/>
          <a:p>
            <a:r>
              <a:rPr lang="en-US" sz="1400" dirty="0">
                <a:solidFill>
                  <a:srgbClr val="64748B"/>
                </a:solidFill>
              </a:rPr>
              <a:t>Protecting confidentiality, integrity, and availability</a:t>
            </a:r>
          </a:p>
        </p:txBody>
      </p:sp>
      <p:sp>
        <p:nvSpPr>
          <p:cNvPr id="20" name="Text Box"/>
          <p:cNvSpPr txBox="1"/>
          <p:nvPr/>
        </p:nvSpPr>
        <p:spPr>
          <a:xfrm>
            <a:off x="731520" y="1737360"/>
            <a:ext cx="3337560" cy="2971800"/>
          </a:xfrm>
          <a:prstGeom prst="roundRect">
            <a:avLst/>
          </a:prstGeom>
          <a:solidFill>
            <a:srgbClr val="F4F9FF"/>
          </a:solidFill>
          <a:ln w="9525">
            <a:solidFill>
              <a:srgbClr val="BBD7F0"/>
            </a:solidFill>
          </a:ln>
        </p:spPr>
        <p:txBody>
          <a:bodyPr wrap="square" anchor="mid" lIns="91440" rIns="91440" tIns="45720" bIns="45720"/>
          <a:lstStyle/>
          <a:p>
            <a:r>
              <a:rPr lang="en-US" sz="3400" dirty="0">
                <a:b/>
                <a:solidFill>
                  <a:srgbClr val="034485"/>
                </a:solidFill>
              </a:rPr>
              <a:t>🔒</a:t>
            </a:r>
          </a:p>
          <a:p>
            <a:r>
              <a:rPr lang="en-US" sz="2200" dirty="0">
                <a:b/>
                <a:solidFill>
                  <a:srgbClr val="034485"/>
                </a:solidFill>
              </a:rPr>
              <a:t>Confidentiality</a:t>
            </a:r>
          </a:p>
          <a:p>
            <a:r>
              <a:rPr lang="en-US" sz="1400" dirty="0">
                <a:solidFill>
                  <a:srgbClr val="1F2937"/>
                </a:solidFill>
              </a:rPr>
              <a:t>Only authorized individuals with legitimate academic, athletic, administrative, medical, or technical need may access information.</a:t>
            </a:r>
          </a:p>
        </p:txBody>
      </p:sp>
      <p:sp>
        <p:nvSpPr>
          <p:cNvPr id="21" name="Text Box"/>
          <p:cNvSpPr txBox="1"/>
          <p:nvPr/>
        </p:nvSpPr>
        <p:spPr>
          <a:xfrm>
            <a:off x="4526280" y="1737360"/>
            <a:ext cx="3337560" cy="2971800"/>
          </a:xfrm>
          <a:prstGeom prst="roundRect">
            <a:avLst/>
          </a:prstGeom>
          <a:solidFill>
            <a:srgbClr val="F4F9FF"/>
          </a:solidFill>
          <a:ln w="9525">
            <a:solidFill>
              <a:srgbClr val="BBD7F0"/>
            </a:solidFill>
          </a:ln>
        </p:spPr>
        <p:txBody>
          <a:bodyPr wrap="square" anchor="mid" lIns="91440" rIns="91440" tIns="45720" bIns="45720"/>
          <a:lstStyle/>
          <a:p>
            <a:r>
              <a:rPr lang="en-US" sz="3400" dirty="0">
                <a:b/>
                <a:solidFill>
                  <a:srgbClr val="0F766E"/>
                </a:solidFill>
              </a:rPr>
              <a:t>✓</a:t>
            </a:r>
          </a:p>
          <a:p>
            <a:r>
              <a:rPr lang="en-US" sz="2200" dirty="0">
                <a:b/>
                <a:solidFill>
                  <a:srgbClr val="0F766E"/>
                </a:solidFill>
              </a:rPr>
              <a:t>Integrity</a:t>
            </a:r>
          </a:p>
          <a:p>
            <a:r>
              <a:rPr lang="en-US" sz="1400" dirty="0">
                <a:solidFill>
                  <a:srgbClr val="1F2937"/>
                </a:solidFill>
              </a:rPr>
              <a:t>Information must remain accurate, complete, reliable, and protected from unauthorized alteration or misuse.</a:t>
            </a:r>
          </a:p>
        </p:txBody>
      </p:sp>
      <p:sp>
        <p:nvSpPr>
          <p:cNvPr id="22" name="Text Box"/>
          <p:cNvSpPr txBox="1"/>
          <p:nvPr/>
        </p:nvSpPr>
        <p:spPr>
          <a:xfrm>
            <a:off x="8321040" y="1737360"/>
            <a:ext cx="3337560" cy="2971800"/>
          </a:xfrm>
          <a:prstGeom prst="roundRect">
            <a:avLst/>
          </a:prstGeom>
          <a:solidFill>
            <a:srgbClr val="F4F9FF"/>
          </a:solidFill>
          <a:ln w="9525">
            <a:solidFill>
              <a:srgbClr val="BBD7F0"/>
            </a:solidFill>
          </a:ln>
        </p:spPr>
        <p:txBody>
          <a:bodyPr wrap="square" anchor="mid" lIns="91440" rIns="91440" tIns="45720" bIns="45720"/>
          <a:lstStyle/>
          <a:p>
            <a:r>
              <a:rPr lang="en-US" sz="3400" dirty="0">
                <a:b/>
                <a:solidFill>
                  <a:srgbClr val="C2410C"/>
                </a:solidFill>
              </a:rPr>
              <a:t>⏱</a:t>
            </a:r>
          </a:p>
          <a:p>
            <a:r>
              <a:rPr lang="en-US" sz="2200" dirty="0">
                <a:b/>
                <a:solidFill>
                  <a:srgbClr val="C2410C"/>
                </a:solidFill>
              </a:rPr>
              <a:t>Availability</a:t>
            </a:r>
          </a:p>
          <a:p>
            <a:r>
              <a:rPr lang="en-US" sz="1400" dirty="0">
                <a:solidFill>
                  <a:srgbClr val="1F2937"/>
                </a:solidFill>
              </a:rPr>
              <a:t>Information and system services must be accessible to authorized users when needed for varsity operations.</a:t>
            </a:r>
          </a:p>
        </p:txBody>
      </p:sp>
      <p:sp>
        <p:nvSpPr>
          <p:cNvPr id="30" name="Text Box"/>
          <p:cNvSpPr txBox="1"/>
          <p:nvPr/>
        </p:nvSpPr>
        <p:spPr>
          <a:xfrm>
            <a:off x="1097280" y="5074920"/>
            <a:ext cx="9875520" cy="502920"/>
          </a:xfrm>
          <a:prstGeom prst="roundRect">
            <a:avLst/>
          </a:prstGeom>
          <a:solidFill>
            <a:srgbClr val="DDEEFF"/>
          </a:solidFill>
          <a:ln w="9525">
            <a:solidFill>
              <a:srgbClr val="BBD7F0"/>
            </a:solidFill>
          </a:ln>
        </p:spPr>
        <p:txBody>
          <a:bodyPr wrap="square" anchor="mid" lIns="91440" rIns="91440" tIns="45720" bIns="45720"/>
          <a:lstStyle/>
          <a:p>
            <a:r>
              <a:rPr lang="en-US" sz="1500" dirty="0">
                <a:b/>
                <a:solidFill>
                  <a:srgbClr val="102A43"/>
                </a:solidFill>
              </a:rPr>
              <a:t>Asian College adopts a risk-based approach based on sensitivity, legal requirements, operations, user roles, and incident impact.</a:t>
            </a:r>
          </a:p>
        </p:txBody>
      </p:sp>
      <p:sp>
        <p:nvSpPr>
          <p:cNvPr id="3" name="Text Box"/>
          <p:cNvSpPr txBox="1"/>
          <p:nvPr/>
        </p:nvSpPr>
        <p:spPr>
          <a:xfrm>
            <a:off x="411480" y="6446520"/>
            <a:ext cx="11384280" cy="228600"/>
          </a:xfrm>
          <a:prstGeom prst="rect">
            <a:avLst/>
          </a:prstGeom>
          <a:noFill/>
          <a:ln>
            <a:noFill/>
          </a:ln>
        </p:spPr>
        <p:txBody>
          <a:bodyPr wrap="square" anchor="top" lIns="0" rIns="91440" tIns="0" bIns="0"/>
          <a:lstStyle/>
          <a:p>
            <a:r>
              <a:rPr lang="en-US" sz="900" dirty="0">
                <a:solidFill>
                  <a:srgbClr val="64748B"/>
                </a:solidFill>
              </a:rPr>
              <a:t>Policy Statement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2192000" cy="6858000"/>
          <a:chOff x="0" y="0"/>
          <a:chExt cx="12192000" cy="6858000"/>
        </a:xfrm>
      </p:grpSpPr>
      <p:sp>
        <p:nvSpPr>
          <p:cNvPr id="2" name="Text Box"/>
          <p:cNvSpPr txBox="1"/>
          <p:nvPr/>
        </p:nvSpPr>
        <p:spPr>
          <a:xfrm>
            <a:off x="0" y="0"/>
            <a:ext cx="12192000" cy="530352"/>
          </a:xfrm>
          <a:prstGeom prst="rect">
            <a:avLst/>
          </a:prstGeom>
          <a:solidFill>
            <a:srgbClr val="034485"/>
          </a:solidFill>
          <a:ln>
            <a:noFill/>
          </a:ln>
        </p:spPr>
        <p:txBody>
          <a:bodyPr wrap="square" anchor="mid" lIns="384048" rIns="91440" tIns="109728" bIns="109728"/>
          <a:lstStyle/>
          <a:p>
            <a:r>
              <a:rPr lang="en-US" sz="1300" dirty="0">
                <a:b/>
                <a:solidFill>
                  <a:srgbClr val="FFFFFF"/>
                </a:solidFill>
              </a:rPr>
              <a:t>Asian College Varsity Management Information Security Policy</a:t>
            </a:r>
          </a:p>
        </p:txBody>
      </p:sp>
      <p:sp>
        <p:nvSpPr>
          <p:cNvPr id="4" name="Text Box"/>
          <p:cNvSpPr txBox="1"/>
          <p:nvPr/>
        </p:nvSpPr>
        <p:spPr>
          <a:xfrm>
            <a:off x="502920" y="749808"/>
            <a:ext cx="10881360" cy="502920"/>
          </a:xfrm>
          <a:prstGeom prst="rect">
            <a:avLst/>
          </a:prstGeom>
          <a:noFill/>
          <a:ln>
            <a:noFill/>
          </a:ln>
        </p:spPr>
        <p:txBody>
          <a:bodyPr wrap="square" anchor="top" lIns="0" rIns="91440" tIns="0" bIns="0"/>
          <a:lstStyle/>
          <a:p>
            <a:r>
              <a:rPr lang="en-US" sz="2700" dirty="0">
                <a:b/>
                <a:solidFill>
                  <a:srgbClr val="102A43"/>
                </a:solidFill>
              </a:rPr>
              <a:t>Information Security Policies</a:t>
            </a:r>
          </a:p>
        </p:txBody>
      </p:sp>
      <p:sp>
        <p:nvSpPr>
          <p:cNvPr id="5" name="Text Box"/>
          <p:cNvSpPr txBox="1"/>
          <p:nvPr/>
        </p:nvSpPr>
        <p:spPr>
          <a:xfrm>
            <a:off x="521207" y="1216152"/>
            <a:ext cx="10241280" cy="301752"/>
          </a:xfrm>
          <a:prstGeom prst="rect">
            <a:avLst/>
          </a:prstGeom>
          <a:noFill/>
          <a:ln>
            <a:noFill/>
          </a:ln>
        </p:spPr>
        <p:txBody>
          <a:bodyPr wrap="square" anchor="top" lIns="0" rIns="91440" tIns="0" bIns="0"/>
          <a:lstStyle/>
          <a:p>
            <a:r>
              <a:rPr lang="en-US" sz="1400" dirty="0">
                <a:solidFill>
                  <a:srgbClr val="64748B"/>
                </a:solidFill>
              </a:rPr>
              <a:t>Supporting documents operationalize the high-level policy</a:t>
            </a:r>
          </a:p>
        </p:txBody>
      </p:sp>
      <p:sp>
        <p:nvSpPr>
          <p:cNvPr id="10" name="Text Box"/>
          <p:cNvSpPr txBox="1"/>
          <p:nvPr/>
        </p:nvSpPr>
        <p:spPr>
          <a:xfrm>
            <a:off x="685800" y="1508760"/>
            <a:ext cx="5166360" cy="4480560"/>
          </a:xfrm>
          <a:prstGeom prst="roundRect">
            <a:avLst/>
          </a:prstGeom>
          <a:solidFill>
            <a:srgbClr val="FFFFFF"/>
          </a:solidFill>
          <a:ln w="9525">
            <a:solidFill>
              <a:srgbClr val="BBD7F0"/>
            </a:solidFill>
          </a:ln>
        </p:spPr>
        <p:txBody>
          <a:bodyPr wrap="square" anchor="top" lIns="91440" rIns="91440" tIns="45720" bIns="45720"/>
          <a:lstStyle/>
          <a:p>
            <a:r>
              <a:rPr lang="en-US" sz="2100" dirty="0">
                <a:b/>
                <a:solidFill>
                  <a:srgbClr val="034485"/>
                </a:solidFill>
              </a:rPr>
              <a:t>📘 Supporting Policies and Procedures</a:t>
            </a:r>
          </a:p>
          <a:p>
            <a:r>
              <a:rPr lang="en-US" sz="1500" dirty="0">
                <a:solidFill>
                  <a:srgbClr val="1F2937"/>
                </a:solidFill>
              </a:rPr>
              <a:t>• Access control and acceptable system use</a:t>
            </a:r>
          </a:p>
          <a:p>
            <a:r>
              <a:rPr lang="en-US" sz="1500" dirty="0">
                <a:solidFill>
                  <a:srgbClr val="1F2937"/>
                </a:solidFill>
              </a:rPr>
              <a:t>• Data privacy and document handling</a:t>
            </a:r>
          </a:p>
          <a:p>
            <a:r>
              <a:rPr lang="en-US" sz="1500" dirty="0">
                <a:solidFill>
                  <a:srgbClr val="1F2937"/>
                </a:solidFill>
              </a:rPr>
              <a:t>• Backup and recovery</a:t>
            </a:r>
          </a:p>
          <a:p>
            <a:r>
              <a:rPr lang="en-US" sz="1500" dirty="0">
                <a:solidFill>
                  <a:srgbClr val="1F2937"/>
                </a:solidFill>
              </a:rPr>
              <a:t>• Incident reporting</a:t>
            </a:r>
          </a:p>
          <a:p>
            <a:r>
              <a:rPr lang="en-US" sz="1500" dirty="0">
                <a:solidFill>
                  <a:srgbClr val="1F2937"/>
                </a:solidFill>
              </a:rPr>
              <a:t>• Retention, disposal, and system administration</a:t>
            </a:r>
          </a:p>
        </p:txBody>
      </p:sp>
      <p:sp>
        <p:nvSpPr>
          <p:cNvPr id="11" name="Text Box"/>
          <p:cNvSpPr txBox="1"/>
          <p:nvPr/>
        </p:nvSpPr>
        <p:spPr>
          <a:xfrm>
            <a:off x="6172200" y="1508760"/>
            <a:ext cx="4846320" cy="4480560"/>
          </a:xfrm>
          <a:prstGeom prst="roundRect">
            <a:avLst/>
          </a:prstGeom>
          <a:solidFill>
            <a:srgbClr val="FFFFFF"/>
          </a:solidFill>
          <a:ln w="9525">
            <a:solidFill>
              <a:srgbClr val="BBD7F0"/>
            </a:solidFill>
          </a:ln>
        </p:spPr>
        <p:txBody>
          <a:bodyPr wrap="square" anchor="top" lIns="91440" rIns="91440" tIns="45720" bIns="45720"/>
          <a:lstStyle/>
          <a:p>
            <a:r>
              <a:rPr lang="en-US" sz="2100" dirty="0">
                <a:b/>
                <a:solidFill>
                  <a:srgbClr val="034485"/>
                </a:solidFill>
              </a:rPr>
              <a:t>📣 Approval and Communication</a:t>
            </a:r>
          </a:p>
          <a:p>
            <a:r>
              <a:rPr lang="en-US" sz="1500" dirty="0">
                <a:solidFill>
                  <a:srgbClr val="1F2937"/>
                </a:solidFill>
              </a:rPr>
              <a:t>• Supporting documents are approved by the designated authority</a:t>
            </a:r>
          </a:p>
          <a:p>
            <a:r>
              <a:rPr lang="en-US" sz="1500" dirty="0">
                <a:solidFill>
                  <a:srgbClr val="1F2937"/>
                </a:solidFill>
              </a:rPr>
              <a:t>• Published where appropriate</a:t>
            </a:r>
          </a:p>
          <a:p>
            <a:r>
              <a:rPr lang="en-US" sz="1500" dirty="0">
                <a:solidFill>
                  <a:srgbClr val="1F2937"/>
                </a:solidFill>
              </a:rPr>
              <a:t>• Communicated to relevant users and external parties</a:t>
            </a:r>
          </a:p>
          <a:p>
            <a:r>
              <a:rPr lang="en-US" sz="1500" dirty="0">
                <a:solidFill>
                  <a:srgbClr val="1F2937"/>
                </a:solidFill>
              </a:rPr>
              <a:t>• Updated when policy or operational needs change</a:t>
            </a:r>
          </a:p>
        </p:txBody>
      </p:sp>
      <p:sp>
        <p:nvSpPr>
          <p:cNvPr id="3" name="Text Box"/>
          <p:cNvSpPr txBox="1"/>
          <p:nvPr/>
        </p:nvSpPr>
        <p:spPr>
          <a:xfrm>
            <a:off x="411480" y="6446520"/>
            <a:ext cx="11384280" cy="228600"/>
          </a:xfrm>
          <a:prstGeom prst="rect">
            <a:avLst/>
          </a:prstGeom>
          <a:noFill/>
          <a:ln>
            <a:noFill/>
          </a:ln>
        </p:spPr>
        <p:txBody>
          <a:bodyPr wrap="square" anchor="top" lIns="0" rIns="91440" tIns="0" bIns="0"/>
          <a:lstStyle/>
          <a:p>
            <a:r>
              <a:rPr lang="en-US" sz="900" dirty="0">
                <a:solidFill>
                  <a:srgbClr val="64748B"/>
                </a:solidFill>
              </a:rPr>
              <a:t>Supporting Policies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2192000" cy="6858000"/>
          <a:chOff x="0" y="0"/>
          <a:chExt cx="12192000" cy="6858000"/>
        </a:xfrm>
      </p:grpSpPr>
      <p:sp>
        <p:nvSpPr>
          <p:cNvPr id="2" name="Text Box"/>
          <p:cNvSpPr txBox="1"/>
          <p:nvPr/>
        </p:nvSpPr>
        <p:spPr>
          <a:xfrm>
            <a:off x="0" y="0"/>
            <a:ext cx="12192000" cy="530352"/>
          </a:xfrm>
          <a:prstGeom prst="rect">
            <a:avLst/>
          </a:prstGeom>
          <a:solidFill>
            <a:srgbClr val="034485"/>
          </a:solidFill>
          <a:ln>
            <a:noFill/>
          </a:ln>
        </p:spPr>
        <p:txBody>
          <a:bodyPr wrap="square" anchor="mid" lIns="384048" rIns="91440" tIns="109728" bIns="109728"/>
          <a:lstStyle/>
          <a:p>
            <a:r>
              <a:rPr lang="en-US" sz="1300" dirty="0">
                <a:b/>
                <a:solidFill>
                  <a:srgbClr val="FFFFFF"/>
                </a:solidFill>
              </a:rPr>
              <a:t>Asian College Varsity Management Information Security Policy</a:t>
            </a:r>
          </a:p>
        </p:txBody>
      </p:sp>
      <p:sp>
        <p:nvSpPr>
          <p:cNvPr id="4" name="Text Box"/>
          <p:cNvSpPr txBox="1"/>
          <p:nvPr/>
        </p:nvSpPr>
        <p:spPr>
          <a:xfrm>
            <a:off x="502920" y="749808"/>
            <a:ext cx="10881360" cy="502920"/>
          </a:xfrm>
          <a:prstGeom prst="rect">
            <a:avLst/>
          </a:prstGeom>
          <a:noFill/>
          <a:ln>
            <a:noFill/>
          </a:ln>
        </p:spPr>
        <p:txBody>
          <a:bodyPr wrap="square" anchor="top" lIns="0" rIns="91440" tIns="0" bIns="0"/>
          <a:lstStyle/>
          <a:p>
            <a:r>
              <a:rPr lang="en-US" sz="2700" dirty="0">
                <a:b/>
                <a:solidFill>
                  <a:srgbClr val="102A43"/>
                </a:solidFill>
              </a:rPr>
              <a:t>Organization of Information Security</a:t>
            </a:r>
          </a:p>
        </p:txBody>
      </p:sp>
      <p:sp>
        <p:nvSpPr>
          <p:cNvPr id="5" name="Text Box"/>
          <p:cNvSpPr txBox="1"/>
          <p:nvPr/>
        </p:nvSpPr>
        <p:spPr>
          <a:xfrm>
            <a:off x="521207" y="1216152"/>
            <a:ext cx="10241280" cy="301752"/>
          </a:xfrm>
          <a:prstGeom prst="rect">
            <a:avLst/>
          </a:prstGeom>
          <a:noFill/>
          <a:ln>
            <a:noFill/>
          </a:ln>
        </p:spPr>
        <p:txBody>
          <a:bodyPr wrap="square" anchor="top" lIns="0" rIns="91440" tIns="0" bIns="0"/>
          <a:lstStyle/>
          <a:p>
            <a:r>
              <a:rPr lang="en-US" sz="1400" dirty="0">
                <a:solidFill>
                  <a:srgbClr val="64748B"/>
                </a:solidFill>
              </a:rPr>
              <a:t>Defined responsibility structure for security governance</a:t>
            </a:r>
          </a:p>
        </p:txBody>
      </p:sp>
      <p:sp>
        <p:nvSpPr>
          <p:cNvPr id="10" name="Text Box"/>
          <p:cNvSpPr txBox="1"/>
          <p:nvPr/>
        </p:nvSpPr>
        <p:spPr>
          <a:xfrm>
            <a:off x="3657600" y="1325880"/>
            <a:ext cx="4480560" cy="594360"/>
          </a:xfrm>
          <a:prstGeom prst="roundRect">
            <a:avLst/>
          </a:prstGeom>
          <a:solidFill>
            <a:srgbClr val="034485"/>
          </a:solidFill>
          <a:ln w="9525">
            <a:solidFill>
              <a:srgbClr val="034485"/>
            </a:solidFill>
          </a:ln>
        </p:spPr>
        <p:txBody>
          <a:bodyPr wrap="square" anchor="mid" lIns="91440" rIns="91440" tIns="45720" bIns="45720"/>
          <a:lstStyle/>
          <a:p>
            <a:r>
              <a:rPr lang="en-US" sz="1500" dirty="0">
                <a:b/>
                <a:solidFill>
                  <a:srgbClr val="FFFFFF"/>
                </a:solidFill>
              </a:rPr>
              <a:t>Information Governance Board / Institutional Authority</a:t>
            </a:r>
          </a:p>
        </p:txBody>
      </p:sp>
      <p:sp>
        <p:nvSpPr>
          <p:cNvPr id="11" name="Text Box"/>
          <p:cNvSpPr txBox="1"/>
          <p:nvPr/>
        </p:nvSpPr>
        <p:spPr>
          <a:xfrm>
            <a:off x="731520" y="2743200"/>
            <a:ext cx="2971800" cy="731520"/>
          </a:xfrm>
          <a:prstGeom prst="roundRect">
            <a:avLst/>
          </a:prstGeom>
          <a:solidFill>
            <a:srgbClr val="0A66B2"/>
          </a:solidFill>
          <a:ln w="9525">
            <a:solidFill>
              <a:srgbClr val="0A66B2"/>
            </a:solidFill>
          </a:ln>
        </p:spPr>
        <p:txBody>
          <a:bodyPr wrap="square" anchor="mid" lIns="91440" rIns="91440" tIns="45720" bIns="45720"/>
          <a:lstStyle/>
          <a:p>
            <a:r>
              <a:rPr lang="en-US" sz="1400" dirty="0">
                <a:b/>
                <a:solidFill>
                  <a:srgbClr val="FFFFFF"/>
                </a:solidFill>
              </a:rPr>
              <a:t>Executive or Institutional Officer</a:t>
            </a:r>
          </a:p>
          <a:p>
            <a:r>
              <a:rPr lang="en-US" sz="1100" dirty="0">
                <a:solidFill>
                  <a:srgbClr val="FFFFFF"/>
                </a:solidFill>
              </a:rPr>
              <a:t>Information risk oversight</a:t>
            </a:r>
          </a:p>
        </p:txBody>
      </p:sp>
      <p:sp>
        <p:nvSpPr>
          <p:cNvPr id="12" name="Text Box"/>
          <p:cNvSpPr txBox="1"/>
          <p:nvPr/>
        </p:nvSpPr>
        <p:spPr>
          <a:xfrm>
            <a:off x="4526280" y="2743200"/>
            <a:ext cx="2971800" cy="731520"/>
          </a:xfrm>
          <a:prstGeom prst="roundRect">
            <a:avLst/>
          </a:prstGeom>
          <a:solidFill>
            <a:srgbClr val="0F766E"/>
          </a:solidFill>
          <a:ln w="9525">
            <a:solidFill>
              <a:srgbClr val="0F766E"/>
            </a:solidFill>
          </a:ln>
        </p:spPr>
        <p:txBody>
          <a:bodyPr wrap="square" anchor="mid" lIns="91440" rIns="91440" tIns="45720" bIns="45720"/>
          <a:lstStyle/>
          <a:p>
            <a:r>
              <a:rPr lang="en-US" sz="1400" dirty="0">
                <a:b/>
                <a:solidFill>
                  <a:srgbClr val="FFFFFF"/>
                </a:solidFill>
              </a:rPr>
              <a:t>Information Management Committee</a:t>
            </a:r>
          </a:p>
          <a:p>
            <a:r>
              <a:rPr lang="en-US" sz="1100" dirty="0">
                <a:solidFill>
                  <a:srgbClr val="FFFFFF"/>
                </a:solidFill>
              </a:rPr>
              <a:t>Oversight and promotion</a:t>
            </a:r>
          </a:p>
        </p:txBody>
      </p:sp>
      <p:sp>
        <p:nvSpPr>
          <p:cNvPr id="13" name="Text Box"/>
          <p:cNvSpPr txBox="1"/>
          <p:nvPr/>
        </p:nvSpPr>
        <p:spPr>
          <a:xfrm>
            <a:off x="8321040" y="2743200"/>
            <a:ext cx="2971800" cy="731520"/>
          </a:xfrm>
          <a:prstGeom prst="roundRect">
            <a:avLst/>
          </a:prstGeom>
          <a:solidFill>
            <a:srgbClr val="C2410C"/>
          </a:solidFill>
          <a:ln w="9525">
            <a:solidFill>
              <a:srgbClr val="C2410C"/>
            </a:solidFill>
          </a:ln>
        </p:spPr>
        <p:txBody>
          <a:bodyPr wrap="square" anchor="mid" lIns="91440" rIns="91440" tIns="45720" bIns="45720"/>
          <a:lstStyle/>
          <a:p>
            <a:r>
              <a:rPr lang="en-US" sz="1400" dirty="0">
                <a:b/>
                <a:solidFill>
                  <a:srgbClr val="FFFFFF"/>
                </a:solidFill>
              </a:rPr>
              <a:t>Information Security / IT Personnel</a:t>
            </a:r>
          </a:p>
          <a:p>
            <a:r>
              <a:rPr lang="en-US" sz="1100" dirty="0">
                <a:solidFill>
                  <a:srgbClr val="FFFFFF"/>
                </a:solidFill>
              </a:rPr>
              <a:t>Day-to-day security functions</a:t>
            </a:r>
          </a:p>
        </p:txBody>
      </p:sp>
      <p:cxnSp>
        <p:nvCxnSpPr>
          <p:cNvPr id="20" name="Connector"/>
          <p:cNvCxnSpPr/>
          <p:nvPr/>
        </p:nvCxnSpPr>
        <p:spPr>
          <a:xfrm>
            <a:off x="5897880" y="1920240"/>
            <a:ext cx="-3703320" cy="822960"/>
          </a:xfrm>
          <a:prstGeom prst="line">
            <a:avLst/>
          </a:prstGeom>
          <a:ln w="25400">
            <a:solidFill>
              <a:srgbClr val="0A66B2"/>
            </a:solidFill>
          </a:ln>
        </p:spPr>
      </p:cxnSp>
      <p:cxnSp>
        <p:nvCxnSpPr>
          <p:cNvPr id="21" name="Connector"/>
          <p:cNvCxnSpPr/>
          <p:nvPr/>
        </p:nvCxnSpPr>
        <p:spPr>
          <a:xfrm>
            <a:off x="5897880" y="1920240"/>
            <a:ext cx="91440" cy="822960"/>
          </a:xfrm>
          <a:prstGeom prst="line">
            <a:avLst/>
          </a:prstGeom>
          <a:ln w="25400">
            <a:solidFill>
              <a:srgbClr val="0A66B2"/>
            </a:solidFill>
          </a:ln>
        </p:spPr>
      </p:cxnSp>
      <p:cxnSp>
        <p:nvCxnSpPr>
          <p:cNvPr id="22" name="Connector"/>
          <p:cNvCxnSpPr/>
          <p:nvPr/>
        </p:nvCxnSpPr>
        <p:spPr>
          <a:xfrm>
            <a:off x="5897880" y="1920240"/>
            <a:ext cx="3931920" cy="822960"/>
          </a:xfrm>
          <a:prstGeom prst="line">
            <a:avLst/>
          </a:prstGeom>
          <a:ln w="25400">
            <a:solidFill>
              <a:srgbClr val="0A66B2"/>
            </a:solidFill>
          </a:ln>
        </p:spPr>
      </p:cxnSp>
      <p:sp>
        <p:nvSpPr>
          <p:cNvPr id="14" name="Text Box"/>
          <p:cNvSpPr txBox="1"/>
          <p:nvPr/>
        </p:nvSpPr>
        <p:spPr>
          <a:xfrm>
            <a:off x="1005840" y="4069080"/>
            <a:ext cx="10012680" cy="1280160"/>
          </a:xfrm>
          <a:prstGeom prst="roundRect">
            <a:avLst/>
          </a:prstGeom>
          <a:solidFill>
            <a:srgbClr val="FFFFFF"/>
          </a:solidFill>
          <a:ln w="9525">
            <a:solidFill>
              <a:srgbClr val="BBD7F0"/>
            </a:solidFill>
          </a:ln>
        </p:spPr>
        <p:txBody>
          <a:bodyPr wrap="square" anchor="top" lIns="91440" rIns="91440" tIns="45720" bIns="45720"/>
          <a:lstStyle/>
          <a:p>
            <a:r>
              <a:rPr lang="en-US" sz="2100" dirty="0">
                <a:b/>
                <a:solidFill>
                  <a:srgbClr val="034485"/>
                </a:solidFill>
              </a:rPr>
              <a:t>🏛 Governance Requirement</a:t>
            </a:r>
          </a:p>
          <a:p>
            <a:r>
              <a:rPr lang="en-US" sz="1500" dirty="0">
                <a:solidFill>
                  <a:srgbClr val="1F2937"/>
                </a:solidFill>
              </a:rPr>
              <a:t>• Security responsibilities must be identified, assigned, and communicated to support proper implementation and operation of controls.</a:t>
            </a:r>
          </a:p>
        </p:txBody>
      </p:sp>
      <p:sp>
        <p:nvSpPr>
          <p:cNvPr id="3" name="Text Box"/>
          <p:cNvSpPr txBox="1"/>
          <p:nvPr/>
        </p:nvSpPr>
        <p:spPr>
          <a:xfrm>
            <a:off x="411480" y="6446520"/>
            <a:ext cx="11384280" cy="228600"/>
          </a:xfrm>
          <a:prstGeom prst="rect">
            <a:avLst/>
          </a:prstGeom>
          <a:noFill/>
          <a:ln>
            <a:noFill/>
          </a:ln>
        </p:spPr>
        <p:txBody>
          <a:bodyPr wrap="square" anchor="top" lIns="0" rIns="91440" tIns="0" bIns="0"/>
          <a:lstStyle/>
          <a:p>
            <a:r>
              <a:rPr lang="en-US" sz="900" dirty="0">
                <a:solidFill>
                  <a:srgbClr val="64748B"/>
                </a:solidFill>
              </a:rPr>
              <a:t>Organization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2192000" cy="6858000"/>
          <a:chOff x="0" y="0"/>
          <a:chExt cx="12192000" cy="6858000"/>
        </a:xfrm>
      </p:grpSpPr>
      <p:sp>
        <p:nvSpPr>
          <p:cNvPr id="2" name="Text Box"/>
          <p:cNvSpPr txBox="1"/>
          <p:nvPr/>
        </p:nvSpPr>
        <p:spPr>
          <a:xfrm>
            <a:off x="0" y="0"/>
            <a:ext cx="12192000" cy="530352"/>
          </a:xfrm>
          <a:prstGeom prst="rect">
            <a:avLst/>
          </a:prstGeom>
          <a:solidFill>
            <a:srgbClr val="034485"/>
          </a:solidFill>
          <a:ln>
            <a:noFill/>
          </a:ln>
        </p:spPr>
        <p:txBody>
          <a:bodyPr wrap="square" anchor="mid" lIns="384048" rIns="91440" tIns="109728" bIns="109728"/>
          <a:lstStyle/>
          <a:p>
            <a:r>
              <a:rPr lang="en-US" sz="1300" dirty="0">
                <a:b/>
                <a:solidFill>
                  <a:srgbClr val="FFFFFF"/>
                </a:solidFill>
              </a:rPr>
              <a:t>Asian College Varsity Management Information Security Policy</a:t>
            </a:r>
          </a:p>
        </p:txBody>
      </p:sp>
      <p:sp>
        <p:nvSpPr>
          <p:cNvPr id="4" name="Text Box"/>
          <p:cNvSpPr txBox="1"/>
          <p:nvPr/>
        </p:nvSpPr>
        <p:spPr>
          <a:xfrm>
            <a:off x="502920" y="749808"/>
            <a:ext cx="10881360" cy="502920"/>
          </a:xfrm>
          <a:prstGeom prst="rect">
            <a:avLst/>
          </a:prstGeom>
          <a:noFill/>
          <a:ln>
            <a:noFill/>
          </a:ln>
        </p:spPr>
        <p:txBody>
          <a:bodyPr wrap="square" anchor="top" lIns="0" rIns="91440" tIns="0" bIns="0"/>
          <a:lstStyle/>
          <a:p>
            <a:r>
              <a:rPr lang="en-US" sz="2700" dirty="0">
                <a:b/>
                <a:solidFill>
                  <a:srgbClr val="102A43"/>
                </a:solidFill>
              </a:rPr>
              <a:t>Human Resources Security and Asset Management</a:t>
            </a:r>
          </a:p>
        </p:txBody>
      </p:sp>
      <p:sp>
        <p:nvSpPr>
          <p:cNvPr id="5" name="Text Box"/>
          <p:cNvSpPr txBox="1"/>
          <p:nvPr/>
        </p:nvSpPr>
        <p:spPr>
          <a:xfrm>
            <a:off x="521207" y="1216152"/>
            <a:ext cx="10241280" cy="301752"/>
          </a:xfrm>
          <a:prstGeom prst="rect">
            <a:avLst/>
          </a:prstGeom>
          <a:noFill/>
          <a:ln>
            <a:noFill/>
          </a:ln>
        </p:spPr>
        <p:txBody>
          <a:bodyPr wrap="square" anchor="top" lIns="0" rIns="91440" tIns="0" bIns="0"/>
          <a:lstStyle/>
          <a:p>
            <a:r>
              <a:rPr lang="en-US" sz="1400" dirty="0">
                <a:solidFill>
                  <a:srgbClr val="64748B"/>
                </a:solidFill>
              </a:rPr>
              <a:t>People and assets must be governed before controls can work</a:t>
            </a:r>
          </a:p>
        </p:txBody>
      </p:sp>
      <p:sp>
        <p:nvSpPr>
          <p:cNvPr id="10" name="Text Box"/>
          <p:cNvSpPr txBox="1"/>
          <p:nvPr/>
        </p:nvSpPr>
        <p:spPr>
          <a:xfrm>
            <a:off x="594360" y="1481328"/>
            <a:ext cx="5166360" cy="4526280"/>
          </a:xfrm>
          <a:prstGeom prst="roundRect">
            <a:avLst/>
          </a:prstGeom>
          <a:solidFill>
            <a:srgbClr val="FFFFFF"/>
          </a:solidFill>
          <a:ln w="9525">
            <a:solidFill>
              <a:srgbClr val="BBD7F0"/>
            </a:solidFill>
          </a:ln>
        </p:spPr>
        <p:txBody>
          <a:bodyPr wrap="square" anchor="top" lIns="91440" rIns="91440" tIns="45720" bIns="45720"/>
          <a:lstStyle/>
          <a:p>
            <a:r>
              <a:rPr lang="en-US" sz="2100" dirty="0">
                <a:b/>
                <a:solidFill>
                  <a:srgbClr val="034485"/>
                </a:solidFill>
              </a:rPr>
              <a:t>👤 Human Resources Security</a:t>
            </a:r>
          </a:p>
          <a:p>
            <a:r>
              <a:rPr lang="en-US" sz="1500" dirty="0">
                <a:solidFill>
                  <a:srgbClr val="1F2937"/>
                </a:solidFill>
              </a:rPr>
              <a:t>• Communicate security policies and acceptable use expectations</a:t>
            </a:r>
          </a:p>
          <a:p>
            <a:r>
              <a:rPr lang="en-US" sz="1500" dirty="0">
                <a:solidFill>
                  <a:srgbClr val="1F2937"/>
                </a:solidFill>
              </a:rPr>
              <a:t>• Inform users of privacy responsibilities</a:t>
            </a:r>
          </a:p>
          <a:p>
            <a:r>
              <a:rPr lang="en-US" sz="1500" dirty="0">
                <a:solidFill>
                  <a:srgbClr val="1F2937"/>
                </a:solidFill>
              </a:rPr>
              <a:t>• Provide orientation, reminders, or training where appropriate</a:t>
            </a:r>
          </a:p>
          <a:p>
            <a:r>
              <a:rPr lang="en-US" sz="1500" dirty="0">
                <a:solidFill>
                  <a:srgbClr val="1F2937"/>
                </a:solidFill>
              </a:rPr>
              <a:t>• Address poor, careless, or inappropriate use under institutional procedures</a:t>
            </a:r>
          </a:p>
        </p:txBody>
      </p:sp>
      <p:sp>
        <p:nvSpPr>
          <p:cNvPr id="11" name="Text Box"/>
          <p:cNvSpPr txBox="1"/>
          <p:nvPr/>
        </p:nvSpPr>
        <p:spPr>
          <a:xfrm>
            <a:off x="5989320" y="1481328"/>
            <a:ext cx="5257800" cy="4526280"/>
          </a:xfrm>
          <a:prstGeom prst="roundRect">
            <a:avLst/>
          </a:prstGeom>
          <a:solidFill>
            <a:srgbClr val="FFFFFF"/>
          </a:solidFill>
          <a:ln w="9525">
            <a:solidFill>
              <a:srgbClr val="BBD7F0"/>
            </a:solidFill>
          </a:ln>
        </p:spPr>
        <p:txBody>
          <a:bodyPr wrap="square" anchor="top" lIns="91440" rIns="91440" tIns="45720" bIns="45720"/>
          <a:lstStyle/>
          <a:p>
            <a:r>
              <a:rPr lang="en-US" sz="2100" dirty="0">
                <a:b/>
                <a:solidFill>
                  <a:srgbClr val="034485"/>
                </a:solidFill>
              </a:rPr>
              <a:t>💽 Asset Management</a:t>
            </a:r>
          </a:p>
          <a:p>
            <a:r>
              <a:rPr lang="en-US" sz="1500" dirty="0">
                <a:solidFill>
                  <a:srgbClr val="1F2937"/>
                </a:solidFill>
              </a:rPr>
              <a:t>• Identify information assets, software, equipment, utilities, accounts, documents, and reports</a:t>
            </a:r>
          </a:p>
          <a:p>
            <a:r>
              <a:rPr lang="en-US" sz="1500" dirty="0">
                <a:solidFill>
                  <a:srgbClr val="1F2937"/>
                </a:solidFill>
              </a:rPr>
              <a:t>• Assign owners for major information assets</a:t>
            </a:r>
          </a:p>
          <a:p>
            <a:r>
              <a:rPr lang="en-US" sz="1500" dirty="0">
                <a:solidFill>
                  <a:srgbClr val="1F2937"/>
                </a:solidFill>
              </a:rPr>
              <a:t>• Classify assets by legal requirement, value, sensitivity, criticality, and privacy impact</a:t>
            </a:r>
          </a:p>
          <a:p>
            <a:r>
              <a:rPr lang="en-US" sz="1500" dirty="0">
                <a:solidFill>
                  <a:srgbClr val="1F2937"/>
                </a:solidFill>
              </a:rPr>
              <a:t>• Use classification to guide access, handling, retention, and disposal</a:t>
            </a:r>
          </a:p>
        </p:txBody>
      </p:sp>
      <p:sp>
        <p:nvSpPr>
          <p:cNvPr id="3" name="Text Box"/>
          <p:cNvSpPr txBox="1"/>
          <p:nvPr/>
        </p:nvSpPr>
        <p:spPr>
          <a:xfrm>
            <a:off x="411480" y="6446520"/>
            <a:ext cx="11384280" cy="228600"/>
          </a:xfrm>
          <a:prstGeom prst="rect">
            <a:avLst/>
          </a:prstGeom>
          <a:noFill/>
          <a:ln>
            <a:noFill/>
          </a:ln>
        </p:spPr>
        <p:txBody>
          <a:bodyPr wrap="square" anchor="top" lIns="0" rIns="91440" tIns="0" bIns="0"/>
          <a:lstStyle/>
          <a:p>
            <a:r>
              <a:rPr lang="en-US" sz="900" dirty="0">
                <a:solidFill>
                  <a:srgbClr val="64748B"/>
                </a:solidFill>
              </a:rPr>
              <a:t>HR and Assets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2192000" cy="6858000"/>
          <a:chOff x="0" y="0"/>
          <a:chExt cx="12192000" cy="6858000"/>
        </a:xfrm>
      </p:grpSpPr>
      <p:sp>
        <p:nvSpPr>
          <p:cNvPr id="2" name="Text Box"/>
          <p:cNvSpPr txBox="1"/>
          <p:nvPr/>
        </p:nvSpPr>
        <p:spPr>
          <a:xfrm>
            <a:off x="0" y="0"/>
            <a:ext cx="12192000" cy="530352"/>
          </a:xfrm>
          <a:prstGeom prst="rect">
            <a:avLst/>
          </a:prstGeom>
          <a:solidFill>
            <a:srgbClr val="034485"/>
          </a:solidFill>
          <a:ln>
            <a:noFill/>
          </a:ln>
        </p:spPr>
        <p:txBody>
          <a:bodyPr wrap="square" anchor="mid" lIns="384048" rIns="91440" tIns="109728" bIns="109728"/>
          <a:lstStyle/>
          <a:p>
            <a:r>
              <a:rPr lang="en-US" sz="1300" dirty="0">
                <a:b/>
                <a:solidFill>
                  <a:srgbClr val="FFFFFF"/>
                </a:solidFill>
              </a:rPr>
              <a:t>Asian College Varsity Management Information Security Policy</a:t>
            </a:r>
          </a:p>
        </p:txBody>
      </p:sp>
      <p:sp>
        <p:nvSpPr>
          <p:cNvPr id="4" name="Text Box"/>
          <p:cNvSpPr txBox="1"/>
          <p:nvPr/>
        </p:nvSpPr>
        <p:spPr>
          <a:xfrm>
            <a:off x="502920" y="749808"/>
            <a:ext cx="10881360" cy="502920"/>
          </a:xfrm>
          <a:prstGeom prst="rect">
            <a:avLst/>
          </a:prstGeom>
          <a:noFill/>
          <a:ln>
            <a:noFill/>
          </a:ln>
        </p:spPr>
        <p:txBody>
          <a:bodyPr wrap="square" anchor="top" lIns="0" rIns="91440" tIns="0" bIns="0"/>
          <a:lstStyle/>
          <a:p>
            <a:r>
              <a:rPr lang="en-US" sz="2700" dirty="0">
                <a:b/>
                <a:solidFill>
                  <a:srgbClr val="102A43"/>
                </a:solidFill>
              </a:rPr>
              <a:t>Access Control and Cryptography</a:t>
            </a:r>
          </a:p>
        </p:txBody>
      </p:sp>
      <p:sp>
        <p:nvSpPr>
          <p:cNvPr id="5" name="Text Box"/>
          <p:cNvSpPr txBox="1"/>
          <p:nvPr/>
        </p:nvSpPr>
        <p:spPr>
          <a:xfrm>
            <a:off x="521207" y="1216152"/>
            <a:ext cx="10241280" cy="301752"/>
          </a:xfrm>
          <a:prstGeom prst="rect">
            <a:avLst/>
          </a:prstGeom>
          <a:noFill/>
          <a:ln>
            <a:noFill/>
          </a:ln>
        </p:spPr>
        <p:txBody>
          <a:bodyPr wrap="square" anchor="top" lIns="0" rIns="91440" tIns="0" bIns="0"/>
          <a:lstStyle/>
          <a:p>
            <a:r>
              <a:rPr lang="en-US" sz="1400" dirty="0">
                <a:solidFill>
                  <a:srgbClr val="64748B"/>
                </a:solidFill>
              </a:rPr>
              <a:t>Least privilege supported by protective security methods</a:t>
            </a:r>
          </a:p>
        </p:txBody>
      </p:sp>
      <p:sp>
        <p:nvSpPr>
          <p:cNvPr id="10" name="Text Box"/>
          <p:cNvSpPr txBox="1"/>
          <p:nvPr/>
        </p:nvSpPr>
        <p:spPr>
          <a:xfrm>
            <a:off x="594360" y="1481328"/>
            <a:ext cx="5166360" cy="4526280"/>
          </a:xfrm>
          <a:prstGeom prst="roundRect">
            <a:avLst/>
          </a:prstGeom>
          <a:solidFill>
            <a:srgbClr val="FFFFFF"/>
          </a:solidFill>
          <a:ln w="9525">
            <a:solidFill>
              <a:srgbClr val="BBD7F0"/>
            </a:solidFill>
          </a:ln>
        </p:spPr>
        <p:txBody>
          <a:bodyPr wrap="square" anchor="top" lIns="91440" rIns="91440" tIns="45720" bIns="45720"/>
          <a:lstStyle/>
          <a:p>
            <a:r>
              <a:rPr lang="en-US" sz="2100" dirty="0">
                <a:b/>
                <a:solidFill>
                  <a:srgbClr val="034485"/>
                </a:solidFill>
              </a:rPr>
              <a:t>🔑 Access Control</a:t>
            </a:r>
          </a:p>
          <a:p>
            <a:r>
              <a:rPr lang="en-US" sz="1500" dirty="0">
                <a:solidFill>
                  <a:srgbClr val="1F2937"/>
                </a:solidFill>
              </a:rPr>
              <a:t>• Access is based on business need, role, and information classification</a:t>
            </a:r>
          </a:p>
          <a:p>
            <a:r>
              <a:rPr lang="en-US" sz="1500" dirty="0">
                <a:solidFill>
                  <a:srgbClr val="1F2937"/>
                </a:solidFill>
              </a:rPr>
              <a:t>• Users receive only the access needed for approved duties</a:t>
            </a:r>
          </a:p>
          <a:p>
            <a:r>
              <a:rPr lang="en-US" sz="1500" dirty="0">
                <a:solidFill>
                  <a:srgbClr val="1F2937"/>
                </a:solidFill>
              </a:rPr>
              <a:t>• Formal registration, approval, modification, and de-registration are required</a:t>
            </a:r>
          </a:p>
          <a:p>
            <a:r>
              <a:rPr lang="en-US" sz="1500" dirty="0">
                <a:solidFill>
                  <a:srgbClr val="1F2937"/>
                </a:solidFill>
              </a:rPr>
              <a:t>• Elevated privileges require stricter controls and separation of duties where practical</a:t>
            </a:r>
          </a:p>
        </p:txBody>
      </p:sp>
      <p:sp>
        <p:nvSpPr>
          <p:cNvPr id="11" name="Text Box"/>
          <p:cNvSpPr txBox="1"/>
          <p:nvPr/>
        </p:nvSpPr>
        <p:spPr>
          <a:xfrm>
            <a:off x="5989320" y="1481328"/>
            <a:ext cx="5257800" cy="4526280"/>
          </a:xfrm>
          <a:prstGeom prst="roundRect">
            <a:avLst/>
          </a:prstGeom>
          <a:solidFill>
            <a:srgbClr val="FFFFFF"/>
          </a:solidFill>
          <a:ln w="9525">
            <a:solidFill>
              <a:srgbClr val="BBD7F0"/>
            </a:solidFill>
          </a:ln>
        </p:spPr>
        <p:txBody>
          <a:bodyPr wrap="square" anchor="top" lIns="91440" rIns="91440" tIns="45720" bIns="45720"/>
          <a:lstStyle/>
          <a:p>
            <a:r>
              <a:rPr lang="en-US" sz="2100" dirty="0">
                <a:b/>
                <a:solidFill>
                  <a:srgbClr val="034485"/>
                </a:solidFill>
              </a:rPr>
              <a:t>🔐 Cryptography</a:t>
            </a:r>
          </a:p>
          <a:p>
            <a:r>
              <a:rPr lang="en-US" sz="1500" dirty="0">
                <a:solidFill>
                  <a:srgbClr val="1F2937"/>
                </a:solidFill>
              </a:rPr>
              <a:t>• Appropriate security tools protect confidentiality, authenticity, and integrity</a:t>
            </a:r>
          </a:p>
          <a:p>
            <a:r>
              <a:rPr lang="en-US" sz="1500" dirty="0">
                <a:solidFill>
                  <a:srgbClr val="1F2937"/>
                </a:solidFill>
              </a:rPr>
              <a:t>• Methods may include secure passwords, encrypted connections, secure storage, and other protective measures</a:t>
            </a:r>
          </a:p>
          <a:p>
            <a:r>
              <a:rPr lang="en-US" sz="1500" dirty="0">
                <a:solidFill>
                  <a:srgbClr val="1F2937"/>
                </a:solidFill>
              </a:rPr>
              <a:t>• Cryptographic controls should match the sensitivity of the information</a:t>
            </a:r>
          </a:p>
        </p:txBody>
      </p:sp>
      <p:sp>
        <p:nvSpPr>
          <p:cNvPr id="3" name="Text Box"/>
          <p:cNvSpPr txBox="1"/>
          <p:nvPr/>
        </p:nvSpPr>
        <p:spPr>
          <a:xfrm>
            <a:off x="411480" y="6446520"/>
            <a:ext cx="11384280" cy="228600"/>
          </a:xfrm>
          <a:prstGeom prst="rect">
            <a:avLst/>
          </a:prstGeom>
          <a:noFill/>
          <a:ln>
            <a:noFill/>
          </a:ln>
        </p:spPr>
        <p:txBody>
          <a:bodyPr wrap="square" anchor="top" lIns="0" rIns="91440" tIns="0" bIns="0"/>
          <a:lstStyle/>
          <a:p>
            <a:r>
              <a:rPr lang="en-US" sz="900" dirty="0">
                <a:solidFill>
                  <a:srgbClr val="64748B"/>
                </a:solidFill>
              </a:rPr>
              <a:t>Access and Crypto</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2192000" cy="6858000"/>
          <a:chOff x="0" y="0"/>
          <a:chExt cx="12192000" cy="6858000"/>
        </a:xfrm>
      </p:grpSpPr>
      <p:sp>
        <p:nvSpPr>
          <p:cNvPr id="2" name="Text Box"/>
          <p:cNvSpPr txBox="1"/>
          <p:nvPr/>
        </p:nvSpPr>
        <p:spPr>
          <a:xfrm>
            <a:off x="0" y="0"/>
            <a:ext cx="12192000" cy="530352"/>
          </a:xfrm>
          <a:prstGeom prst="rect">
            <a:avLst/>
          </a:prstGeom>
          <a:solidFill>
            <a:srgbClr val="034485"/>
          </a:solidFill>
          <a:ln>
            <a:noFill/>
          </a:ln>
        </p:spPr>
        <p:txBody>
          <a:bodyPr wrap="square" anchor="mid" lIns="384048" rIns="91440" tIns="109728" bIns="109728"/>
          <a:lstStyle/>
          <a:p>
            <a:r>
              <a:rPr lang="en-US" sz="1300" dirty="0">
                <a:b/>
                <a:solidFill>
                  <a:srgbClr val="FFFFFF"/>
                </a:solidFill>
              </a:rPr>
              <a:t>Asian College Varsity Management Information Security Policy</a:t>
            </a:r>
          </a:p>
        </p:txBody>
      </p:sp>
      <p:sp>
        <p:nvSpPr>
          <p:cNvPr id="4" name="Text Box"/>
          <p:cNvSpPr txBox="1"/>
          <p:nvPr/>
        </p:nvSpPr>
        <p:spPr>
          <a:xfrm>
            <a:off x="502920" y="749808"/>
            <a:ext cx="10881360" cy="502920"/>
          </a:xfrm>
          <a:prstGeom prst="rect">
            <a:avLst/>
          </a:prstGeom>
          <a:noFill/>
          <a:ln>
            <a:noFill/>
          </a:ln>
        </p:spPr>
        <p:txBody>
          <a:bodyPr wrap="square" anchor="top" lIns="0" rIns="91440" tIns="0" bIns="0"/>
          <a:lstStyle/>
          <a:p>
            <a:r>
              <a:rPr lang="en-US" sz="2700" dirty="0">
                <a:b/>
                <a:solidFill>
                  <a:srgbClr val="102A43"/>
                </a:solidFill>
              </a:rPr>
              <a:t>Physical, Operations, and Communications Security</a:t>
            </a:r>
          </a:p>
        </p:txBody>
      </p:sp>
      <p:sp>
        <p:nvSpPr>
          <p:cNvPr id="5" name="Text Box"/>
          <p:cNvSpPr txBox="1"/>
          <p:nvPr/>
        </p:nvSpPr>
        <p:spPr>
          <a:xfrm>
            <a:off x="521207" y="1216152"/>
            <a:ext cx="10241280" cy="301752"/>
          </a:xfrm>
          <a:prstGeom prst="rect">
            <a:avLst/>
          </a:prstGeom>
          <a:noFill/>
          <a:ln>
            <a:noFill/>
          </a:ln>
        </p:spPr>
        <p:txBody>
          <a:bodyPr wrap="square" anchor="top" lIns="0" rIns="91440" tIns="0" bIns="0"/>
          <a:lstStyle/>
          <a:p>
            <a:r>
              <a:rPr lang="en-US" sz="1400" dirty="0">
                <a:solidFill>
                  <a:srgbClr val="64748B"/>
                </a:solidFill>
              </a:rPr>
              <a:t>Controls for facilities, system operation, and information transfer</a:t>
            </a:r>
          </a:p>
        </p:txBody>
      </p:sp>
      <p:sp>
        <p:nvSpPr>
          <p:cNvPr id="10" name="Text Box"/>
          <p:cNvSpPr txBox="1"/>
          <p:nvPr/>
        </p:nvSpPr>
        <p:spPr>
          <a:xfrm>
            <a:off x="594360" y="1481328"/>
            <a:ext cx="3429000" cy="4526280"/>
          </a:xfrm>
          <a:prstGeom prst="roundRect">
            <a:avLst/>
          </a:prstGeom>
          <a:solidFill>
            <a:srgbClr val="FFFFFF"/>
          </a:solidFill>
          <a:ln w="9525">
            <a:solidFill>
              <a:srgbClr val="BBD7F0"/>
            </a:solidFill>
          </a:ln>
        </p:spPr>
        <p:txBody>
          <a:bodyPr wrap="square" anchor="top" lIns="91440" rIns="91440" tIns="45720" bIns="45720"/>
          <a:lstStyle/>
          <a:p>
            <a:r>
              <a:rPr lang="en-US" sz="2100" dirty="0">
                <a:b/>
                <a:solidFill>
                  <a:srgbClr val="034485"/>
                </a:solidFill>
              </a:rPr>
              <a:t>🏢 Physical and Environmental</a:t>
            </a:r>
          </a:p>
          <a:p>
            <a:r>
              <a:rPr lang="en-US" sz="1500" dirty="0">
                <a:solidFill>
                  <a:srgbClr val="1F2937"/>
                </a:solidFill>
              </a:rPr>
              <a:t>• Protect facilities, devices, storage areas, servers, network equipment, printed records, and backup media</a:t>
            </a:r>
          </a:p>
          <a:p>
            <a:r>
              <a:rPr lang="en-US" sz="1500" dirty="0">
                <a:solidFill>
                  <a:srgbClr val="1F2937"/>
                </a:solidFill>
              </a:rPr>
              <a:t>• Limit physical access to authorized personnel</a:t>
            </a:r>
          </a:p>
        </p:txBody>
      </p:sp>
      <p:sp>
        <p:nvSpPr>
          <p:cNvPr id="11" name="Text Box"/>
          <p:cNvSpPr txBox="1"/>
          <p:nvPr/>
        </p:nvSpPr>
        <p:spPr>
          <a:xfrm>
            <a:off x="4160520" y="1481328"/>
            <a:ext cx="3520440" cy="4526280"/>
          </a:xfrm>
          <a:prstGeom prst="roundRect">
            <a:avLst/>
          </a:prstGeom>
          <a:solidFill>
            <a:srgbClr val="FFFFFF"/>
          </a:solidFill>
          <a:ln w="9525">
            <a:solidFill>
              <a:srgbClr val="BBD7F0"/>
            </a:solidFill>
          </a:ln>
        </p:spPr>
        <p:txBody>
          <a:bodyPr wrap="square" anchor="top" lIns="91440" rIns="91440" tIns="45720" bIns="45720"/>
          <a:lstStyle/>
          <a:p>
            <a:r>
              <a:rPr lang="en-US" sz="2100" dirty="0">
                <a:b/>
                <a:solidFill>
                  <a:srgbClr val="034485"/>
                </a:solidFill>
              </a:rPr>
              <a:t>⚙ Operations Security</a:t>
            </a:r>
          </a:p>
          <a:p>
            <a:r>
              <a:rPr lang="en-US" sz="1500" dirty="0">
                <a:solidFill>
                  <a:srgbClr val="1F2937"/>
                </a:solidFill>
              </a:rPr>
              <a:t>• Documented procedures and change management</a:t>
            </a:r>
          </a:p>
          <a:p>
            <a:r>
              <a:rPr lang="en-US" sz="1500" dirty="0">
                <a:solidFill>
                  <a:srgbClr val="1F2937"/>
                </a:solidFill>
              </a:rPr>
              <a:t>• Malware and unauthorized software protection</a:t>
            </a:r>
          </a:p>
          <a:p>
            <a:r>
              <a:rPr lang="en-US" sz="1500" dirty="0">
                <a:solidFill>
                  <a:srgbClr val="1F2937"/>
                </a:solidFill>
              </a:rPr>
              <a:t>• Logging, monitoring, backup, recovery, and vulnerability correction</a:t>
            </a:r>
          </a:p>
          <a:p>
            <a:r>
              <a:rPr lang="en-US" sz="1500" dirty="0">
                <a:solidFill>
                  <a:srgbClr val="1F2937"/>
                </a:solidFill>
              </a:rPr>
              <a:t>• Secure handling of uploaded files and reports</a:t>
            </a:r>
          </a:p>
        </p:txBody>
      </p:sp>
      <p:sp>
        <p:nvSpPr>
          <p:cNvPr id="12" name="Text Box"/>
          <p:cNvSpPr txBox="1"/>
          <p:nvPr/>
        </p:nvSpPr>
        <p:spPr>
          <a:xfrm>
            <a:off x="7818120" y="1481328"/>
            <a:ext cx="3429000" cy="4526280"/>
          </a:xfrm>
          <a:prstGeom prst="roundRect">
            <a:avLst/>
          </a:prstGeom>
          <a:solidFill>
            <a:srgbClr val="FFFFFF"/>
          </a:solidFill>
          <a:ln w="9525">
            <a:solidFill>
              <a:srgbClr val="BBD7F0"/>
            </a:solidFill>
          </a:ln>
        </p:spPr>
        <p:txBody>
          <a:bodyPr wrap="square" anchor="top" lIns="91440" rIns="91440" tIns="45720" bIns="45720"/>
          <a:lstStyle/>
          <a:p>
            <a:r>
              <a:rPr lang="en-US" sz="2100" dirty="0">
                <a:b/>
                <a:solidFill>
                  <a:srgbClr val="034485"/>
                </a:solidFill>
              </a:rPr>
              <a:t>🌐 Communications Security</a:t>
            </a:r>
          </a:p>
          <a:p>
            <a:r>
              <a:rPr lang="en-US" sz="1500" dirty="0">
                <a:solidFill>
                  <a:srgbClr val="1F2937"/>
                </a:solidFill>
              </a:rPr>
              <a:t>• Protect information transmitted within the system, across networks, or to authorized external parties</a:t>
            </a:r>
          </a:p>
          <a:p>
            <a:r>
              <a:rPr lang="en-US" sz="1500" dirty="0">
                <a:solidFill>
                  <a:srgbClr val="1F2937"/>
                </a:solidFill>
              </a:rPr>
              <a:t>• Use approved and secure communication channels</a:t>
            </a:r>
          </a:p>
          <a:p>
            <a:r>
              <a:rPr lang="en-US" sz="1500" dirty="0">
                <a:solidFill>
                  <a:srgbClr val="1F2937"/>
                </a:solidFill>
              </a:rPr>
              <a:t>• Follow classification, handling, and privacy requirements</a:t>
            </a:r>
          </a:p>
        </p:txBody>
      </p:sp>
      <p:sp>
        <p:nvSpPr>
          <p:cNvPr id="3" name="Text Box"/>
          <p:cNvSpPr txBox="1"/>
          <p:nvPr/>
        </p:nvSpPr>
        <p:spPr>
          <a:xfrm>
            <a:off x="411480" y="6446520"/>
            <a:ext cx="11384280" cy="228600"/>
          </a:xfrm>
          <a:prstGeom prst="rect">
            <a:avLst/>
          </a:prstGeom>
          <a:noFill/>
          <a:ln>
            <a:noFill/>
          </a:ln>
        </p:spPr>
        <p:txBody>
          <a:bodyPr wrap="square" anchor="top" lIns="0" rIns="91440" tIns="0" bIns="0"/>
          <a:lstStyle/>
          <a:p>
            <a:r>
              <a:rPr lang="en-US" sz="900" dirty="0">
                <a:solidFill>
                  <a:srgbClr val="64748B"/>
                </a:solidFill>
              </a:rPr>
              <a:t>Operations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2192000" cy="6858000"/>
          <a:chOff x="0" y="0"/>
          <a:chExt cx="12192000" cy="6858000"/>
        </a:xfrm>
      </p:grpSpPr>
      <p:sp>
        <p:nvSpPr>
          <p:cNvPr id="2" name="Text Box"/>
          <p:cNvSpPr txBox="1"/>
          <p:nvPr/>
        </p:nvSpPr>
        <p:spPr>
          <a:xfrm>
            <a:off x="0" y="0"/>
            <a:ext cx="12192000" cy="530352"/>
          </a:xfrm>
          <a:prstGeom prst="rect">
            <a:avLst/>
          </a:prstGeom>
          <a:solidFill>
            <a:srgbClr val="034485"/>
          </a:solidFill>
          <a:ln>
            <a:noFill/>
          </a:ln>
        </p:spPr>
        <p:txBody>
          <a:bodyPr wrap="square" anchor="mid" lIns="384048" rIns="91440" tIns="109728" bIns="109728"/>
          <a:lstStyle/>
          <a:p>
            <a:r>
              <a:rPr lang="en-US" sz="1300" dirty="0">
                <a:b/>
                <a:solidFill>
                  <a:srgbClr val="FFFFFF"/>
                </a:solidFill>
              </a:rPr>
              <a:t>Asian College Varsity Management Information Security Policy</a:t>
            </a:r>
          </a:p>
        </p:txBody>
      </p:sp>
      <p:sp>
        <p:nvSpPr>
          <p:cNvPr id="4" name="Text Box"/>
          <p:cNvSpPr txBox="1"/>
          <p:nvPr/>
        </p:nvSpPr>
        <p:spPr>
          <a:xfrm>
            <a:off x="502920" y="749808"/>
            <a:ext cx="10881360" cy="502920"/>
          </a:xfrm>
          <a:prstGeom prst="rect">
            <a:avLst/>
          </a:prstGeom>
          <a:noFill/>
          <a:ln>
            <a:noFill/>
          </a:ln>
        </p:spPr>
        <p:txBody>
          <a:bodyPr wrap="square" anchor="top" lIns="0" rIns="91440" tIns="0" bIns="0"/>
          <a:lstStyle/>
          <a:p>
            <a:r>
              <a:rPr lang="en-US" sz="2700" dirty="0">
                <a:b/>
                <a:solidFill>
                  <a:srgbClr val="102A43"/>
                </a:solidFill>
              </a:rPr>
              <a:t>Development, Maintenance, and Supplier Relationships</a:t>
            </a:r>
          </a:p>
        </p:txBody>
      </p:sp>
      <p:sp>
        <p:nvSpPr>
          <p:cNvPr id="5" name="Text Box"/>
          <p:cNvSpPr txBox="1"/>
          <p:nvPr/>
        </p:nvSpPr>
        <p:spPr>
          <a:xfrm>
            <a:off x="521207" y="1216152"/>
            <a:ext cx="10241280" cy="301752"/>
          </a:xfrm>
          <a:prstGeom prst="rect">
            <a:avLst/>
          </a:prstGeom>
          <a:noFill/>
          <a:ln>
            <a:noFill/>
          </a:ln>
        </p:spPr>
        <p:txBody>
          <a:bodyPr wrap="square" anchor="top" lIns="0" rIns="91440" tIns="0" bIns="0"/>
          <a:lstStyle/>
          <a:p>
            <a:r>
              <a:rPr lang="en-US" sz="1400" dirty="0">
                <a:solidFill>
                  <a:srgbClr val="64748B"/>
                </a:solidFill>
              </a:rPr>
              <a:t>Security must be built into system change and external access</a:t>
            </a:r>
          </a:p>
        </p:txBody>
      </p:sp>
      <p:sp>
        <p:nvSpPr>
          <p:cNvPr id="10" name="Text Box"/>
          <p:cNvSpPr txBox="1"/>
          <p:nvPr/>
        </p:nvSpPr>
        <p:spPr>
          <a:xfrm>
            <a:off x="731520" y="1554480"/>
            <a:ext cx="4983480" cy="4297680"/>
          </a:xfrm>
          <a:prstGeom prst="roundRect">
            <a:avLst/>
          </a:prstGeom>
          <a:solidFill>
            <a:srgbClr val="FFFFFF"/>
          </a:solidFill>
          <a:ln w="9525">
            <a:solidFill>
              <a:srgbClr val="BBD7F0"/>
            </a:solidFill>
          </a:ln>
        </p:spPr>
        <p:txBody>
          <a:bodyPr wrap="square" anchor="top" lIns="91440" rIns="91440" tIns="45720" bIns="45720"/>
          <a:lstStyle/>
          <a:p>
            <a:r>
              <a:rPr lang="en-US" sz="2100" dirty="0">
                <a:b/>
                <a:solidFill>
                  <a:srgbClr val="034485"/>
                </a:solidFill>
              </a:rPr>
              <a:t>🧩 System Acquisition, Development, and Maintenance</a:t>
            </a:r>
          </a:p>
          <a:p>
            <a:r>
              <a:rPr lang="en-US" sz="1500" dirty="0">
                <a:solidFill>
                  <a:srgbClr val="1F2937"/>
                </a:solidFill>
              </a:rPr>
              <a:t>• Consider security requirements when developing, acquiring, updating, or maintaining AC-VMIS</a:t>
            </a:r>
          </a:p>
          <a:p>
            <a:r>
              <a:rPr lang="en-US" sz="1500" dirty="0">
                <a:solidFill>
                  <a:srgbClr val="1F2937"/>
                </a:solidFill>
              </a:rPr>
              <a:t>• Implement controls to reduce identified risks</a:t>
            </a:r>
          </a:p>
          <a:p>
            <a:r>
              <a:rPr lang="en-US" sz="1500" dirty="0">
                <a:solidFill>
                  <a:srgbClr val="1F2937"/>
                </a:solidFill>
              </a:rPr>
              <a:t>• Manage changes through review, approval, testing, and documentation</a:t>
            </a:r>
          </a:p>
          <a:p>
            <a:r>
              <a:rPr lang="en-US" sz="1500" dirty="0">
                <a:solidFill>
                  <a:srgbClr val="1F2937"/>
                </a:solidFill>
              </a:rPr>
              <a:t>• Separate development, testing, and operational environments where practical</a:t>
            </a:r>
          </a:p>
        </p:txBody>
      </p:sp>
      <p:sp>
        <p:nvSpPr>
          <p:cNvPr id="11" name="Text Box"/>
          <p:cNvSpPr txBox="1"/>
          <p:nvPr/>
        </p:nvSpPr>
        <p:spPr>
          <a:xfrm>
            <a:off x="6172200" y="1554480"/>
            <a:ext cx="4800600" cy="4297680"/>
          </a:xfrm>
          <a:prstGeom prst="roundRect">
            <a:avLst/>
          </a:prstGeom>
          <a:solidFill>
            <a:srgbClr val="FFFFFF"/>
          </a:solidFill>
          <a:ln w="9525">
            <a:solidFill>
              <a:srgbClr val="BBD7F0"/>
            </a:solidFill>
          </a:ln>
        </p:spPr>
        <p:txBody>
          <a:bodyPr wrap="square" anchor="top" lIns="91440" rIns="91440" tIns="45720" bIns="45720"/>
          <a:lstStyle/>
          <a:p>
            <a:r>
              <a:rPr lang="en-US" sz="2100" dirty="0">
                <a:b/>
                <a:solidFill>
                  <a:srgbClr val="034485"/>
                </a:solidFill>
              </a:rPr>
              <a:t>🤝 Supplier Relationships</a:t>
            </a:r>
          </a:p>
          <a:p>
            <a:r>
              <a:rPr lang="en-US" sz="1500" dirty="0">
                <a:solidFill>
                  <a:srgbClr val="1F2937"/>
                </a:solidFill>
              </a:rPr>
              <a:t>• Security and privacy requirements apply to suppliers and external parties</a:t>
            </a:r>
          </a:p>
          <a:p>
            <a:r>
              <a:rPr lang="en-US" sz="1500" dirty="0">
                <a:solidFill>
                  <a:srgbClr val="1F2937"/>
                </a:solidFill>
              </a:rPr>
              <a:t>• Supplier access must be authorized, limited, monitored, and reviewed</a:t>
            </a:r>
          </a:p>
          <a:p>
            <a:r>
              <a:rPr lang="en-US" sz="1500" dirty="0">
                <a:solidFill>
                  <a:srgbClr val="1F2937"/>
                </a:solidFill>
              </a:rPr>
              <a:t>• Suppliers must protect institutional information and comply with requirements</a:t>
            </a:r>
          </a:p>
        </p:txBody>
      </p:sp>
      <p:sp>
        <p:nvSpPr>
          <p:cNvPr id="3" name="Text Box"/>
          <p:cNvSpPr txBox="1"/>
          <p:nvPr/>
        </p:nvSpPr>
        <p:spPr>
          <a:xfrm>
            <a:off x="411480" y="6446520"/>
            <a:ext cx="11384280" cy="228600"/>
          </a:xfrm>
          <a:prstGeom prst="rect">
            <a:avLst/>
          </a:prstGeom>
          <a:noFill/>
          <a:ln>
            <a:noFill/>
          </a:ln>
        </p:spPr>
        <p:txBody>
          <a:bodyPr wrap="square" anchor="top" lIns="0" rIns="91440" tIns="0" bIns="0"/>
          <a:lstStyle/>
          <a:p>
            <a:r>
              <a:rPr lang="en-US" sz="900" dirty="0">
                <a:solidFill>
                  <a:srgbClr val="64748B"/>
                </a:solidFill>
              </a:rPr>
              <a:t>Development and Suppliers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2192000" cy="6858000"/>
          <a:chOff x="0" y="0"/>
          <a:chExt cx="12192000" cy="6858000"/>
        </a:xfrm>
      </p:grpSpPr>
      <p:sp>
        <p:nvSpPr>
          <p:cNvPr id="2" name="Text Box"/>
          <p:cNvSpPr txBox="1"/>
          <p:nvPr/>
        </p:nvSpPr>
        <p:spPr>
          <a:xfrm>
            <a:off x="0" y="0"/>
            <a:ext cx="12192000" cy="530352"/>
          </a:xfrm>
          <a:prstGeom prst="rect">
            <a:avLst/>
          </a:prstGeom>
          <a:solidFill>
            <a:srgbClr val="034485"/>
          </a:solidFill>
          <a:ln>
            <a:noFill/>
          </a:ln>
        </p:spPr>
        <p:txBody>
          <a:bodyPr wrap="square" anchor="mid" lIns="384048" rIns="91440" tIns="109728" bIns="109728"/>
          <a:lstStyle/>
          <a:p>
            <a:r>
              <a:rPr lang="en-US" sz="1300" dirty="0">
                <a:b/>
                <a:solidFill>
                  <a:srgbClr val="FFFFFF"/>
                </a:solidFill>
              </a:rPr>
              <a:t>Asian College Varsity Management Information Security Policy</a:t>
            </a:r>
          </a:p>
        </p:txBody>
      </p:sp>
      <p:sp>
        <p:nvSpPr>
          <p:cNvPr id="4" name="Text Box"/>
          <p:cNvSpPr txBox="1"/>
          <p:nvPr/>
        </p:nvSpPr>
        <p:spPr>
          <a:xfrm>
            <a:off x="502920" y="749808"/>
            <a:ext cx="10881360" cy="502920"/>
          </a:xfrm>
          <a:prstGeom prst="rect">
            <a:avLst/>
          </a:prstGeom>
          <a:noFill/>
          <a:ln>
            <a:noFill/>
          </a:ln>
        </p:spPr>
        <p:txBody>
          <a:bodyPr wrap="square" anchor="top" lIns="0" rIns="91440" tIns="0" bIns="0"/>
          <a:lstStyle/>
          <a:p>
            <a:r>
              <a:rPr lang="en-US" sz="2700" dirty="0">
                <a:b/>
                <a:solidFill>
                  <a:srgbClr val="102A43"/>
                </a:solidFill>
              </a:rPr>
              <a:t>Information Security Incident Management</a:t>
            </a:r>
          </a:p>
        </p:txBody>
      </p:sp>
      <p:sp>
        <p:nvSpPr>
          <p:cNvPr id="5" name="Text Box"/>
          <p:cNvSpPr txBox="1"/>
          <p:nvPr/>
        </p:nvSpPr>
        <p:spPr>
          <a:xfrm>
            <a:off x="521207" y="1216152"/>
            <a:ext cx="10241280" cy="301752"/>
          </a:xfrm>
          <a:prstGeom prst="rect">
            <a:avLst/>
          </a:prstGeom>
          <a:noFill/>
          <a:ln>
            <a:noFill/>
          </a:ln>
        </p:spPr>
        <p:txBody>
          <a:bodyPr wrap="square" anchor="top" lIns="0" rIns="91440" tIns="0" bIns="0"/>
          <a:lstStyle/>
          <a:p>
            <a:r>
              <a:rPr lang="en-US" sz="1400" dirty="0">
                <a:solidFill>
                  <a:srgbClr val="64748B"/>
                </a:solidFill>
              </a:rPr>
              <a:t>Report, contain, investigate, recover, and improve</a:t>
            </a:r>
          </a:p>
        </p:txBody>
      </p:sp>
      <p:sp>
        <p:nvSpPr>
          <p:cNvPr id="30" name="Text Box"/>
          <p:cNvSpPr txBox="1"/>
          <p:nvPr/>
        </p:nvSpPr>
        <p:spPr>
          <a:xfrm>
            <a:off x="548640" y="1481328"/>
            <a:ext cx="2423160" cy="1143000"/>
          </a:xfrm>
          <a:prstGeom prst="roundRect">
            <a:avLst/>
          </a:prstGeom>
          <a:solidFill>
            <a:srgbClr val="F4F9FF"/>
          </a:solidFill>
          <a:ln w="9525">
            <a:solidFill>
              <a:srgbClr val="BBD7F0"/>
            </a:solidFill>
          </a:ln>
        </p:spPr>
        <p:txBody>
          <a:bodyPr wrap="square" anchor="mid" lIns="91440" rIns="91440" tIns="45720" bIns="45720"/>
          <a:lstStyle/>
          <a:p>
            <a:r>
              <a:rPr lang="en-US" sz="1600" dirty="0">
                <a:b/>
                <a:solidFill>
                  <a:srgbClr val="034485"/>
                </a:solidFill>
              </a:rPr>
              <a:t>1. Report</a:t>
            </a:r>
          </a:p>
          <a:p>
            <a:r>
              <a:rPr lang="en-US" sz="1200" dirty="0">
                <a:solidFill>
                  <a:srgbClr val="1F2937"/>
                </a:solidFill>
              </a:rPr>
              <a:t>Use approved channels immediately</a:t>
            </a:r>
          </a:p>
        </p:txBody>
      </p:sp>
      <p:cxnSp>
        <p:nvCxnSpPr>
          <p:cNvPr id="50" name="Connector"/>
          <p:cNvCxnSpPr/>
          <p:nvPr/>
        </p:nvCxnSpPr>
        <p:spPr>
          <a:xfrm>
            <a:off x="2971800" y="2048256"/>
            <a:ext cx="365760" cy="0"/>
          </a:xfrm>
          <a:prstGeom prst="line">
            <a:avLst/>
          </a:prstGeom>
          <a:ln w="25400">
            <a:solidFill>
              <a:srgbClr val="0A66B2"/>
            </a:solidFill>
          </a:ln>
        </p:spPr>
      </p:cxnSp>
      <p:sp>
        <p:nvSpPr>
          <p:cNvPr id="31" name="Text Box"/>
          <p:cNvSpPr txBox="1"/>
          <p:nvPr/>
        </p:nvSpPr>
        <p:spPr>
          <a:xfrm>
            <a:off x="3383280" y="1481328"/>
            <a:ext cx="2423160" cy="1143000"/>
          </a:xfrm>
          <a:prstGeom prst="roundRect">
            <a:avLst/>
          </a:prstGeom>
          <a:solidFill>
            <a:srgbClr val="F4F9FF"/>
          </a:solidFill>
          <a:ln w="9525">
            <a:solidFill>
              <a:srgbClr val="BBD7F0"/>
            </a:solidFill>
          </a:ln>
        </p:spPr>
        <p:txBody>
          <a:bodyPr wrap="square" anchor="mid" lIns="91440" rIns="91440" tIns="45720" bIns="45720"/>
          <a:lstStyle/>
          <a:p>
            <a:r>
              <a:rPr lang="en-US" sz="1600" dirty="0">
                <a:b/>
                <a:solidFill>
                  <a:srgbClr val="034485"/>
                </a:solidFill>
              </a:rPr>
              <a:t>2. Log</a:t>
            </a:r>
          </a:p>
          <a:p>
            <a:r>
              <a:rPr lang="en-US" sz="1200" dirty="0">
                <a:solidFill>
                  <a:srgbClr val="1F2937"/>
                </a:solidFill>
              </a:rPr>
              <a:t>Record time, account, evidence, and details</a:t>
            </a:r>
          </a:p>
        </p:txBody>
      </p:sp>
      <p:cxnSp>
        <p:nvCxnSpPr>
          <p:cNvPr id="51" name="Connector"/>
          <p:cNvCxnSpPr/>
          <p:nvPr/>
        </p:nvCxnSpPr>
        <p:spPr>
          <a:xfrm>
            <a:off x="5806440" y="2048256"/>
            <a:ext cx="365760" cy="0"/>
          </a:xfrm>
          <a:prstGeom prst="line">
            <a:avLst/>
          </a:prstGeom>
          <a:ln w="25400">
            <a:solidFill>
              <a:srgbClr val="0A66B2"/>
            </a:solidFill>
          </a:ln>
        </p:spPr>
      </p:cxnSp>
      <p:sp>
        <p:nvSpPr>
          <p:cNvPr id="32" name="Text Box"/>
          <p:cNvSpPr txBox="1"/>
          <p:nvPr/>
        </p:nvSpPr>
        <p:spPr>
          <a:xfrm>
            <a:off x="6217920" y="1481328"/>
            <a:ext cx="2423160" cy="1143000"/>
          </a:xfrm>
          <a:prstGeom prst="roundRect">
            <a:avLst/>
          </a:prstGeom>
          <a:solidFill>
            <a:srgbClr val="F4F9FF"/>
          </a:solidFill>
          <a:ln w="9525">
            <a:solidFill>
              <a:srgbClr val="BBD7F0"/>
            </a:solidFill>
          </a:ln>
        </p:spPr>
        <p:txBody>
          <a:bodyPr wrap="square" anchor="mid" lIns="91440" rIns="91440" tIns="45720" bIns="45720"/>
          <a:lstStyle/>
          <a:p>
            <a:r>
              <a:rPr lang="en-US" sz="1600" dirty="0">
                <a:b/>
                <a:solidFill>
                  <a:srgbClr val="034485"/>
                </a:solidFill>
              </a:rPr>
              <a:t>3. Assess</a:t>
            </a:r>
          </a:p>
          <a:p>
            <a:r>
              <a:rPr lang="en-US" sz="1200" dirty="0">
                <a:solidFill>
                  <a:srgbClr val="1F2937"/>
                </a:solidFill>
              </a:rPr>
              <a:t>Determine impact, affected data, and severity</a:t>
            </a:r>
          </a:p>
        </p:txBody>
      </p:sp>
      <p:cxnSp>
        <p:nvCxnSpPr>
          <p:cNvPr id="52" name="Connector"/>
          <p:cNvCxnSpPr/>
          <p:nvPr/>
        </p:nvCxnSpPr>
        <p:spPr>
          <a:xfrm>
            <a:off x="8641080" y="2048256"/>
            <a:ext cx="365760" cy="0"/>
          </a:xfrm>
          <a:prstGeom prst="line">
            <a:avLst/>
          </a:prstGeom>
          <a:ln w="25400">
            <a:solidFill>
              <a:srgbClr val="0A66B2"/>
            </a:solidFill>
          </a:ln>
        </p:spPr>
      </p:cxnSp>
      <p:sp>
        <p:nvSpPr>
          <p:cNvPr id="33" name="Text Box"/>
          <p:cNvSpPr txBox="1"/>
          <p:nvPr/>
        </p:nvSpPr>
        <p:spPr>
          <a:xfrm>
            <a:off x="9052560" y="1481328"/>
            <a:ext cx="2423160" cy="1143000"/>
          </a:xfrm>
          <a:prstGeom prst="roundRect">
            <a:avLst/>
          </a:prstGeom>
          <a:solidFill>
            <a:srgbClr val="F4F9FF"/>
          </a:solidFill>
          <a:ln w="9525">
            <a:solidFill>
              <a:srgbClr val="BBD7F0"/>
            </a:solidFill>
          </a:ln>
        </p:spPr>
        <p:txBody>
          <a:bodyPr wrap="square" anchor="mid" lIns="91440" rIns="91440" tIns="45720" bIns="45720"/>
          <a:lstStyle/>
          <a:p>
            <a:r>
              <a:rPr lang="en-US" sz="1600" dirty="0">
                <a:b/>
                <a:solidFill>
                  <a:srgbClr val="034485"/>
                </a:solidFill>
              </a:rPr>
              <a:t>4. Contain</a:t>
            </a:r>
          </a:p>
          <a:p>
            <a:r>
              <a:rPr lang="en-US" sz="1200" dirty="0">
                <a:solidFill>
                  <a:srgbClr val="1F2937"/>
                </a:solidFill>
              </a:rPr>
              <a:t>Restrict access, disable accounts, isolate files/devices</a:t>
            </a:r>
          </a:p>
        </p:txBody>
      </p:sp>
      <p:sp>
        <p:nvSpPr>
          <p:cNvPr id="34" name="Text Box"/>
          <p:cNvSpPr txBox="1"/>
          <p:nvPr/>
        </p:nvSpPr>
        <p:spPr>
          <a:xfrm>
            <a:off x="548640" y="3401568"/>
            <a:ext cx="2423160" cy="1143000"/>
          </a:xfrm>
          <a:prstGeom prst="roundRect">
            <a:avLst/>
          </a:prstGeom>
          <a:solidFill>
            <a:srgbClr val="F4F9FF"/>
          </a:solidFill>
          <a:ln w="9525">
            <a:solidFill>
              <a:srgbClr val="BBD7F0"/>
            </a:solidFill>
          </a:ln>
        </p:spPr>
        <p:txBody>
          <a:bodyPr wrap="square" anchor="mid" lIns="91440" rIns="91440" tIns="45720" bIns="45720"/>
          <a:lstStyle/>
          <a:p>
            <a:r>
              <a:rPr lang="en-US" sz="1600" dirty="0">
                <a:b/>
                <a:solidFill>
                  <a:srgbClr val="034485"/>
                </a:solidFill>
              </a:rPr>
              <a:t>5. Investigate</a:t>
            </a:r>
          </a:p>
          <a:p>
            <a:r>
              <a:rPr lang="en-US" sz="1200" dirty="0">
                <a:solidFill>
                  <a:srgbClr val="1F2937"/>
                </a:solidFill>
              </a:rPr>
              <a:t>Review logs, accounts, records, files, and permissions</a:t>
            </a:r>
          </a:p>
        </p:txBody>
      </p:sp>
      <p:cxnSp>
        <p:nvCxnSpPr>
          <p:cNvPr id="54" name="Connector"/>
          <p:cNvCxnSpPr/>
          <p:nvPr/>
        </p:nvCxnSpPr>
        <p:spPr>
          <a:xfrm>
            <a:off x="2971800" y="3968496"/>
            <a:ext cx="365760" cy="0"/>
          </a:xfrm>
          <a:prstGeom prst="line">
            <a:avLst/>
          </a:prstGeom>
          <a:ln w="25400">
            <a:solidFill>
              <a:srgbClr val="0A66B2"/>
            </a:solidFill>
          </a:ln>
        </p:spPr>
      </p:cxnSp>
      <p:sp>
        <p:nvSpPr>
          <p:cNvPr id="35" name="Text Box"/>
          <p:cNvSpPr txBox="1"/>
          <p:nvPr/>
        </p:nvSpPr>
        <p:spPr>
          <a:xfrm>
            <a:off x="3383280" y="3401568"/>
            <a:ext cx="2423160" cy="1143000"/>
          </a:xfrm>
          <a:prstGeom prst="roundRect">
            <a:avLst/>
          </a:prstGeom>
          <a:solidFill>
            <a:srgbClr val="F4F9FF"/>
          </a:solidFill>
          <a:ln w="9525">
            <a:solidFill>
              <a:srgbClr val="BBD7F0"/>
            </a:solidFill>
          </a:ln>
        </p:spPr>
        <p:txBody>
          <a:bodyPr wrap="square" anchor="mid" lIns="91440" rIns="91440" tIns="45720" bIns="45720"/>
          <a:lstStyle/>
          <a:p>
            <a:r>
              <a:rPr lang="en-US" sz="1600" dirty="0">
                <a:b/>
                <a:solidFill>
                  <a:srgbClr val="034485"/>
                </a:solidFill>
              </a:rPr>
              <a:t>6. Recover</a:t>
            </a:r>
          </a:p>
          <a:p>
            <a:r>
              <a:rPr lang="en-US" sz="1200" dirty="0">
                <a:solidFill>
                  <a:srgbClr val="1F2937"/>
                </a:solidFill>
              </a:rPr>
              <a:t>Reset passwords, patch, restore files, verify services</a:t>
            </a:r>
          </a:p>
        </p:txBody>
      </p:sp>
      <p:cxnSp>
        <p:nvCxnSpPr>
          <p:cNvPr id="55" name="Connector"/>
          <p:cNvCxnSpPr/>
          <p:nvPr/>
        </p:nvCxnSpPr>
        <p:spPr>
          <a:xfrm>
            <a:off x="5806440" y="3968496"/>
            <a:ext cx="365760" cy="0"/>
          </a:xfrm>
          <a:prstGeom prst="line">
            <a:avLst/>
          </a:prstGeom>
          <a:ln w="25400">
            <a:solidFill>
              <a:srgbClr val="0A66B2"/>
            </a:solidFill>
          </a:ln>
        </p:spPr>
      </p:cxnSp>
      <p:sp>
        <p:nvSpPr>
          <p:cNvPr id="36" name="Text Box"/>
          <p:cNvSpPr txBox="1"/>
          <p:nvPr/>
        </p:nvSpPr>
        <p:spPr>
          <a:xfrm>
            <a:off x="6217920" y="3401568"/>
            <a:ext cx="2423160" cy="1143000"/>
          </a:xfrm>
          <a:prstGeom prst="roundRect">
            <a:avLst/>
          </a:prstGeom>
          <a:solidFill>
            <a:srgbClr val="F4F9FF"/>
          </a:solidFill>
          <a:ln w="9525">
            <a:solidFill>
              <a:srgbClr val="BBD7F0"/>
            </a:solidFill>
          </a:ln>
        </p:spPr>
        <p:txBody>
          <a:bodyPr wrap="square" anchor="mid" lIns="91440" rIns="91440" tIns="45720" bIns="45720"/>
          <a:lstStyle/>
          <a:p>
            <a:r>
              <a:rPr lang="en-US" sz="1600" dirty="0">
                <a:b/>
                <a:solidFill>
                  <a:srgbClr val="034485"/>
                </a:solidFill>
              </a:rPr>
              <a:t>7. Notify</a:t>
            </a:r>
          </a:p>
          <a:p>
            <a:r>
              <a:rPr lang="en-US" sz="1200" dirty="0">
                <a:solidFill>
                  <a:srgbClr val="1F2937"/>
                </a:solidFill>
              </a:rPr>
              <a:t>Escalate to management, board, or DPO when needed</a:t>
            </a:r>
          </a:p>
        </p:txBody>
      </p:sp>
      <p:cxnSp>
        <p:nvCxnSpPr>
          <p:cNvPr id="56" name="Connector"/>
          <p:cNvCxnSpPr/>
          <p:nvPr/>
        </p:nvCxnSpPr>
        <p:spPr>
          <a:xfrm>
            <a:off x="8641080" y="3968496"/>
            <a:ext cx="365760" cy="0"/>
          </a:xfrm>
          <a:prstGeom prst="line">
            <a:avLst/>
          </a:prstGeom>
          <a:ln w="25400">
            <a:solidFill>
              <a:srgbClr val="0A66B2"/>
            </a:solidFill>
          </a:ln>
        </p:spPr>
      </p:cxnSp>
      <p:sp>
        <p:nvSpPr>
          <p:cNvPr id="37" name="Text Box"/>
          <p:cNvSpPr txBox="1"/>
          <p:nvPr/>
        </p:nvSpPr>
        <p:spPr>
          <a:xfrm>
            <a:off x="9052560" y="3401568"/>
            <a:ext cx="2423160" cy="1143000"/>
          </a:xfrm>
          <a:prstGeom prst="roundRect">
            <a:avLst/>
          </a:prstGeom>
          <a:solidFill>
            <a:srgbClr val="F4F9FF"/>
          </a:solidFill>
          <a:ln w="9525">
            <a:solidFill>
              <a:srgbClr val="BBD7F0"/>
            </a:solidFill>
          </a:ln>
        </p:spPr>
        <p:txBody>
          <a:bodyPr wrap="square" anchor="mid" lIns="91440" rIns="91440" tIns="45720" bIns="45720"/>
          <a:lstStyle/>
          <a:p>
            <a:r>
              <a:rPr lang="en-US" sz="1600" dirty="0">
                <a:b/>
                <a:solidFill>
                  <a:srgbClr val="034485"/>
                </a:solidFill>
              </a:rPr>
              <a:t>8. Improve</a:t>
            </a:r>
          </a:p>
          <a:p>
            <a:r>
              <a:rPr lang="en-US" sz="1200" dirty="0">
                <a:solidFill>
                  <a:srgbClr val="1F2937"/>
                </a:solidFill>
              </a:rPr>
              <a:t>Update controls and provide reminders or training</a:t>
            </a:r>
          </a:p>
        </p:txBody>
      </p:sp>
      <p:sp>
        <p:nvSpPr>
          <p:cNvPr id="3" name="Text Box"/>
          <p:cNvSpPr txBox="1"/>
          <p:nvPr/>
        </p:nvSpPr>
        <p:spPr>
          <a:xfrm>
            <a:off x="411480" y="6446520"/>
            <a:ext cx="11384280" cy="228600"/>
          </a:xfrm>
          <a:prstGeom prst="rect">
            <a:avLst/>
          </a:prstGeom>
          <a:noFill/>
          <a:ln>
            <a:noFill/>
          </a:ln>
        </p:spPr>
        <p:txBody>
          <a:bodyPr wrap="square" anchor="top" lIns="0" rIns="91440" tIns="0" bIns="0"/>
          <a:lstStyle/>
          <a:p>
            <a:r>
              <a:rPr lang="en-US" sz="900" dirty="0">
                <a:solidFill>
                  <a:srgbClr val="64748B"/>
                </a:solidFill>
              </a:rPr>
              <a:t>Incident Management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2192000" cy="6858000"/>
          <a:chOff x="0" y="0"/>
          <a:chExt cx="12192000" cy="6858000"/>
        </a:xfrm>
      </p:grpSpPr>
      <p:sp>
        <p:nvSpPr>
          <p:cNvPr id="2" name="Text Box"/>
          <p:cNvSpPr txBox="1"/>
          <p:nvPr/>
        </p:nvSpPr>
        <p:spPr>
          <a:xfrm>
            <a:off x="0" y="0"/>
            <a:ext cx="12192000" cy="530352"/>
          </a:xfrm>
          <a:prstGeom prst="rect">
            <a:avLst/>
          </a:prstGeom>
          <a:solidFill>
            <a:srgbClr val="034485"/>
          </a:solidFill>
          <a:ln>
            <a:noFill/>
          </a:ln>
        </p:spPr>
        <p:txBody>
          <a:bodyPr wrap="square" anchor="mid" lIns="384048" rIns="91440" tIns="109728" bIns="109728"/>
          <a:lstStyle/>
          <a:p>
            <a:r>
              <a:rPr lang="en-US" sz="1300" dirty="0">
                <a:b/>
                <a:solidFill>
                  <a:srgbClr val="FFFFFF"/>
                </a:solidFill>
              </a:rPr>
              <a:t>Asian College Varsity Management Information Security Policy</a:t>
            </a:r>
          </a:p>
        </p:txBody>
      </p:sp>
      <p:sp>
        <p:nvSpPr>
          <p:cNvPr id="4" name="Text Box"/>
          <p:cNvSpPr txBox="1"/>
          <p:nvPr/>
        </p:nvSpPr>
        <p:spPr>
          <a:xfrm>
            <a:off x="502920" y="749808"/>
            <a:ext cx="10881360" cy="502920"/>
          </a:xfrm>
          <a:prstGeom prst="rect">
            <a:avLst/>
          </a:prstGeom>
          <a:noFill/>
          <a:ln>
            <a:noFill/>
          </a:ln>
        </p:spPr>
        <p:txBody>
          <a:bodyPr wrap="square" anchor="top" lIns="0" rIns="91440" tIns="0" bIns="0"/>
          <a:lstStyle/>
          <a:p>
            <a:r>
              <a:rPr lang="en-US" sz="2700" dirty="0">
                <a:b/>
                <a:solidFill>
                  <a:srgbClr val="102A43"/>
                </a:solidFill>
              </a:rPr>
              <a:t>Incident Response Matrix</a:t>
            </a:r>
          </a:p>
        </p:txBody>
      </p:sp>
      <p:sp>
        <p:nvSpPr>
          <p:cNvPr id="5" name="Text Box"/>
          <p:cNvSpPr txBox="1"/>
          <p:nvPr/>
        </p:nvSpPr>
        <p:spPr>
          <a:xfrm>
            <a:off x="521207" y="1216152"/>
            <a:ext cx="10241280" cy="301752"/>
          </a:xfrm>
          <a:prstGeom prst="rect">
            <a:avLst/>
          </a:prstGeom>
          <a:noFill/>
          <a:ln>
            <a:noFill/>
          </a:ln>
        </p:spPr>
        <p:txBody>
          <a:bodyPr wrap="square" anchor="top" lIns="0" rIns="91440" tIns="0" bIns="0"/>
          <a:lstStyle/>
          <a:p>
            <a:r>
              <a:rPr lang="en-US" sz="1400" dirty="0">
                <a:solidFill>
                  <a:srgbClr val="64748B"/>
                </a:solidFill>
              </a:rPr>
              <a:t>Risk, action plan, focal person, and severity level</a:t>
            </a:r>
          </a:p>
        </p:txBody>
      </p:sp>
      <p:sp>
        <p:nvSpPr>
          <p:cNvPr id="10" name="Text Box"/>
          <p:cNvSpPr txBox="1"/>
          <p:nvPr/>
        </p:nvSpPr>
        <p:spPr>
          <a:xfrm>
            <a:off x="347472" y="1344168"/>
            <a:ext cx="3063240" cy="384048"/>
          </a:xfrm>
          <a:prstGeom prst="rect">
            <a:avLst/>
          </a:prstGeom>
          <a:solidFill>
            <a:srgbClr val="034485"/>
          </a:solidFill>
          <a:ln w="9525">
            <a:solidFill>
              <a:srgbClr val="BBD7F0"/>
            </a:solidFill>
          </a:ln>
        </p:spPr>
        <p:txBody>
          <a:bodyPr wrap="square" anchor="mid" lIns="45720" rIns="45720" tIns="22860" bIns="22860"/>
          <a:lstStyle/>
          <a:p>
            <a:r>
              <a:rPr lang="en-US" sz="1300" dirty="0">
                <a:b/>
                <a:solidFill>
                  <a:srgbClr val="FFFFFF"/>
                </a:solidFill>
              </a:rPr>
              <a:t>Risk / Event</a:t>
            </a:r>
          </a:p>
        </p:txBody>
      </p:sp>
      <p:sp>
        <p:nvSpPr>
          <p:cNvPr id="11" name="Text Box"/>
          <p:cNvSpPr txBox="1"/>
          <p:nvPr/>
        </p:nvSpPr>
        <p:spPr>
          <a:xfrm>
            <a:off x="3410712" y="1344168"/>
            <a:ext cx="3931920" cy="384048"/>
          </a:xfrm>
          <a:prstGeom prst="rect">
            <a:avLst/>
          </a:prstGeom>
          <a:solidFill>
            <a:srgbClr val="034485"/>
          </a:solidFill>
          <a:ln w="9525">
            <a:solidFill>
              <a:srgbClr val="BBD7F0"/>
            </a:solidFill>
          </a:ln>
        </p:spPr>
        <p:txBody>
          <a:bodyPr wrap="square" anchor="mid" lIns="45720" rIns="45720" tIns="22860" bIns="22860"/>
          <a:lstStyle/>
          <a:p>
            <a:r>
              <a:rPr lang="en-US" sz="1300" dirty="0">
                <a:b/>
                <a:solidFill>
                  <a:srgbClr val="FFFFFF"/>
                </a:solidFill>
              </a:rPr>
              <a:t>Action Plan</a:t>
            </a:r>
          </a:p>
        </p:txBody>
      </p:sp>
      <p:sp>
        <p:nvSpPr>
          <p:cNvPr id="12" name="Text Box"/>
          <p:cNvSpPr txBox="1"/>
          <p:nvPr/>
        </p:nvSpPr>
        <p:spPr>
          <a:xfrm>
            <a:off x="7342632" y="1344168"/>
            <a:ext cx="2834640" cy="384048"/>
          </a:xfrm>
          <a:prstGeom prst="rect">
            <a:avLst/>
          </a:prstGeom>
          <a:solidFill>
            <a:srgbClr val="034485"/>
          </a:solidFill>
          <a:ln w="9525">
            <a:solidFill>
              <a:srgbClr val="BBD7F0"/>
            </a:solidFill>
          </a:ln>
        </p:spPr>
        <p:txBody>
          <a:bodyPr wrap="square" anchor="mid" lIns="45720" rIns="45720" tIns="22860" bIns="22860"/>
          <a:lstStyle/>
          <a:p>
            <a:r>
              <a:rPr lang="en-US" sz="1300" dirty="0">
                <a:b/>
                <a:solidFill>
                  <a:srgbClr val="FFFFFF"/>
                </a:solidFill>
              </a:rPr>
              <a:t>Focal Person</a:t>
            </a:r>
          </a:p>
        </p:txBody>
      </p:sp>
      <p:sp>
        <p:nvSpPr>
          <p:cNvPr id="13" name="Text Box"/>
          <p:cNvSpPr txBox="1"/>
          <p:nvPr/>
        </p:nvSpPr>
        <p:spPr>
          <a:xfrm>
            <a:off x="10177272" y="1344168"/>
            <a:ext cx="1371600" cy="384048"/>
          </a:xfrm>
          <a:prstGeom prst="rect">
            <a:avLst/>
          </a:prstGeom>
          <a:solidFill>
            <a:srgbClr val="034485"/>
          </a:solidFill>
          <a:ln w="9525">
            <a:solidFill>
              <a:srgbClr val="BBD7F0"/>
            </a:solidFill>
          </a:ln>
        </p:spPr>
        <p:txBody>
          <a:bodyPr wrap="square" anchor="mid" lIns="45720" rIns="45720" tIns="22860" bIns="22860"/>
          <a:lstStyle/>
          <a:p>
            <a:r>
              <a:rPr lang="en-US" sz="1300" dirty="0">
                <a:b/>
                <a:solidFill>
                  <a:srgbClr val="FFFFFF"/>
                </a:solidFill>
              </a:rPr>
              <a:t>Level</a:t>
            </a:r>
          </a:p>
        </p:txBody>
      </p:sp>
      <p:sp>
        <p:nvSpPr>
          <p:cNvPr id="14" name="Text Box"/>
          <p:cNvSpPr txBox="1"/>
          <p:nvPr/>
        </p:nvSpPr>
        <p:spPr>
          <a:xfrm>
            <a:off x="347472" y="1728216"/>
            <a:ext cx="3063240" cy="384048"/>
          </a:xfrm>
          <a:prstGeom prst="rect">
            <a:avLst/>
          </a:prstGeom>
          <a:solidFill>
            <a:srgbClr val="FFFFFF"/>
          </a:solidFill>
          <a:ln w="9525">
            <a:solidFill>
              <a:srgbClr val="BBD7F0"/>
            </a:solidFill>
          </a:ln>
        </p:spPr>
        <p:txBody>
          <a:bodyPr wrap="square" anchor="mid" lIns="45720" rIns="45720" tIns="22860" bIns="22860"/>
          <a:lstStyle/>
          <a:p>
            <a:r>
              <a:rPr lang="en-US" sz="1200" dirty="0">
                <a:solidFill>
                  <a:srgbClr val="1F2937"/>
                </a:solidFill>
              </a:rPr>
              <a:t>Suspicious activity, data loss, system error, breach</a:t>
            </a:r>
          </a:p>
        </p:txBody>
      </p:sp>
      <p:sp>
        <p:nvSpPr>
          <p:cNvPr id="15" name="Text Box"/>
          <p:cNvSpPr txBox="1"/>
          <p:nvPr/>
        </p:nvSpPr>
        <p:spPr>
          <a:xfrm>
            <a:off x="3410712" y="1728216"/>
            <a:ext cx="3931920" cy="384048"/>
          </a:xfrm>
          <a:prstGeom prst="rect">
            <a:avLst/>
          </a:prstGeom>
          <a:solidFill>
            <a:srgbClr val="FFFFFF"/>
          </a:solidFill>
          <a:ln w="9525">
            <a:solidFill>
              <a:srgbClr val="BBD7F0"/>
            </a:solidFill>
          </a:ln>
        </p:spPr>
        <p:txBody>
          <a:bodyPr wrap="square" anchor="mid" lIns="45720" rIns="45720" tIns="22860" bIns="22860"/>
          <a:lstStyle/>
          <a:p>
            <a:r>
              <a:rPr lang="en-US" sz="1200" dirty="0">
                <a:solidFill>
                  <a:srgbClr val="1F2937"/>
                </a:solidFill>
              </a:rPr>
              <a:t>Record issue, time, account, evidence</a:t>
            </a:r>
          </a:p>
        </p:txBody>
      </p:sp>
      <p:sp>
        <p:nvSpPr>
          <p:cNvPr id="16" name="Text Box"/>
          <p:cNvSpPr txBox="1"/>
          <p:nvPr/>
        </p:nvSpPr>
        <p:spPr>
          <a:xfrm>
            <a:off x="7342632" y="1728216"/>
            <a:ext cx="2834640" cy="384048"/>
          </a:xfrm>
          <a:prstGeom prst="rect">
            <a:avLst/>
          </a:prstGeom>
          <a:solidFill>
            <a:srgbClr val="FFFFFF"/>
          </a:solidFill>
          <a:ln w="9525">
            <a:solidFill>
              <a:srgbClr val="BBD7F0"/>
            </a:solidFill>
          </a:ln>
        </p:spPr>
        <p:txBody>
          <a:bodyPr wrap="square" anchor="mid" lIns="45720" rIns="45720" tIns="22860" bIns="22860"/>
          <a:lstStyle/>
          <a:p>
            <a:r>
              <a:rPr lang="en-US" sz="1300" dirty="0">
                <a:solidFill>
                  <a:srgbClr val="1F2937"/>
                </a:solidFill>
              </a:rPr>
              <a:t>Reporting User</a:t>
            </a:r>
          </a:p>
        </p:txBody>
      </p:sp>
      <p:sp>
        <p:nvSpPr>
          <p:cNvPr id="17" name="Text Box"/>
          <p:cNvSpPr txBox="1"/>
          <p:nvPr/>
        </p:nvSpPr>
        <p:spPr>
          <a:xfrm>
            <a:off x="10177272" y="1728216"/>
            <a:ext cx="1371600" cy="384048"/>
          </a:xfrm>
          <a:prstGeom prst="rect">
            <a:avLst/>
          </a:prstGeom>
          <a:solidFill>
            <a:srgbClr val="FFFFFF"/>
          </a:solidFill>
          <a:ln w="9525">
            <a:solidFill>
              <a:srgbClr val="BBD7F0"/>
            </a:solidFill>
          </a:ln>
        </p:spPr>
        <p:txBody>
          <a:bodyPr wrap="square" anchor="mid" lIns="45720" rIns="45720" tIns="22860" bIns="22860"/>
          <a:lstStyle/>
          <a:p>
            <a:r>
              <a:rPr lang="en-US" sz="1300" dirty="0">
                <a:solidFill>
                  <a:srgbClr val="1F2937"/>
                </a:solidFill>
              </a:rPr>
              <a:t>Low-High</a:t>
            </a:r>
          </a:p>
        </p:txBody>
      </p:sp>
      <p:sp>
        <p:nvSpPr>
          <p:cNvPr id="18" name="Text Box"/>
          <p:cNvSpPr txBox="1"/>
          <p:nvPr/>
        </p:nvSpPr>
        <p:spPr>
          <a:xfrm>
            <a:off x="347472" y="2112264"/>
            <a:ext cx="3063240" cy="384048"/>
          </a:xfrm>
          <a:prstGeom prst="rect">
            <a:avLst/>
          </a:prstGeom>
          <a:solidFill>
            <a:srgbClr val="F4F9FF"/>
          </a:solidFill>
          <a:ln w="9525">
            <a:solidFill>
              <a:srgbClr val="BBD7F0"/>
            </a:solidFill>
          </a:ln>
        </p:spPr>
        <p:txBody>
          <a:bodyPr wrap="square" anchor="mid" lIns="45720" rIns="45720" tIns="22860" bIns="22860"/>
          <a:lstStyle/>
          <a:p>
            <a:r>
              <a:rPr lang="en-US" sz="1300" dirty="0">
                <a:solidFill>
                  <a:srgbClr val="1F2937"/>
                </a:solidFill>
              </a:rPr>
              <a:t>Delayed reporting</a:t>
            </a:r>
          </a:p>
        </p:txBody>
      </p:sp>
      <p:sp>
        <p:nvSpPr>
          <p:cNvPr id="19" name="Text Box"/>
          <p:cNvSpPr txBox="1"/>
          <p:nvPr/>
        </p:nvSpPr>
        <p:spPr>
          <a:xfrm>
            <a:off x="3410712" y="2112264"/>
            <a:ext cx="3931920" cy="384048"/>
          </a:xfrm>
          <a:prstGeom prst="rect">
            <a:avLst/>
          </a:prstGeom>
          <a:solidFill>
            <a:srgbClr val="F4F9FF"/>
          </a:solidFill>
          <a:ln w="9525">
            <a:solidFill>
              <a:srgbClr val="BBD7F0"/>
            </a:solidFill>
          </a:ln>
        </p:spPr>
        <p:txBody>
          <a:bodyPr wrap="square" anchor="mid" lIns="45720" rIns="45720" tIns="22860" bIns="22860"/>
          <a:lstStyle/>
          <a:p>
            <a:r>
              <a:rPr lang="en-US" sz="1200" dirty="0">
                <a:solidFill>
                  <a:srgbClr val="1F2937"/>
                </a:solidFill>
              </a:rPr>
              <a:t>Report immediately through approved channels</a:t>
            </a:r>
          </a:p>
        </p:txBody>
      </p:sp>
      <p:sp>
        <p:nvSpPr>
          <p:cNvPr id="20" name="Text Box"/>
          <p:cNvSpPr txBox="1"/>
          <p:nvPr/>
        </p:nvSpPr>
        <p:spPr>
          <a:xfrm>
            <a:off x="7342632" y="2112264"/>
            <a:ext cx="2834640" cy="384048"/>
          </a:xfrm>
          <a:prstGeom prst="rect">
            <a:avLst/>
          </a:prstGeom>
          <a:solidFill>
            <a:srgbClr val="F4F9FF"/>
          </a:solidFill>
          <a:ln w="9525">
            <a:solidFill>
              <a:srgbClr val="BBD7F0"/>
            </a:solidFill>
          </a:ln>
        </p:spPr>
        <p:txBody>
          <a:bodyPr wrap="square" anchor="mid" lIns="45720" rIns="45720" tIns="22860" bIns="22860"/>
          <a:lstStyle/>
          <a:p>
            <a:r>
              <a:rPr lang="en-US" sz="1200" dirty="0">
                <a:solidFill>
                  <a:srgbClr val="1F2937"/>
                </a:solidFill>
              </a:rPr>
              <a:t>User / Coach / Department Head</a:t>
            </a:r>
          </a:p>
        </p:txBody>
      </p:sp>
      <p:sp>
        <p:nvSpPr>
          <p:cNvPr id="21" name="Text Box"/>
          <p:cNvSpPr txBox="1"/>
          <p:nvPr/>
        </p:nvSpPr>
        <p:spPr>
          <a:xfrm>
            <a:off x="10177272" y="2112264"/>
            <a:ext cx="1371600" cy="384048"/>
          </a:xfrm>
          <a:prstGeom prst="rect">
            <a:avLst/>
          </a:prstGeom>
          <a:solidFill>
            <a:srgbClr val="F4F9FF"/>
          </a:solidFill>
          <a:ln w="9525">
            <a:solidFill>
              <a:srgbClr val="BBD7F0"/>
            </a:solidFill>
          </a:ln>
        </p:spPr>
        <p:txBody>
          <a:bodyPr wrap="square" anchor="mid" lIns="45720" rIns="45720" tIns="22860" bIns="22860"/>
          <a:lstStyle/>
          <a:p>
            <a:r>
              <a:rPr lang="en-US" sz="1300" dirty="0">
                <a:solidFill>
                  <a:srgbClr val="1F2937"/>
                </a:solidFill>
              </a:rPr>
              <a:t>Low-High</a:t>
            </a:r>
          </a:p>
        </p:txBody>
      </p:sp>
      <p:sp>
        <p:nvSpPr>
          <p:cNvPr id="22" name="Text Box"/>
          <p:cNvSpPr txBox="1"/>
          <p:nvPr/>
        </p:nvSpPr>
        <p:spPr>
          <a:xfrm>
            <a:off x="347472" y="2496312"/>
            <a:ext cx="3063240" cy="384048"/>
          </a:xfrm>
          <a:prstGeom prst="rect">
            <a:avLst/>
          </a:prstGeom>
          <a:solidFill>
            <a:srgbClr val="FFFFFF"/>
          </a:solidFill>
          <a:ln w="9525">
            <a:solidFill>
              <a:srgbClr val="BBD7F0"/>
            </a:solidFill>
          </a:ln>
        </p:spPr>
        <p:txBody>
          <a:bodyPr wrap="square" anchor="mid" lIns="45720" rIns="45720" tIns="22860" bIns="22860"/>
          <a:lstStyle/>
          <a:p>
            <a:r>
              <a:rPr lang="en-US" sz="1300" dirty="0">
                <a:solidFill>
                  <a:srgbClr val="1F2937"/>
                </a:solidFill>
              </a:rPr>
              <a:t>Poor documentation</a:t>
            </a:r>
          </a:p>
        </p:txBody>
      </p:sp>
      <p:sp>
        <p:nvSpPr>
          <p:cNvPr id="23" name="Text Box"/>
          <p:cNvSpPr txBox="1"/>
          <p:nvPr/>
        </p:nvSpPr>
        <p:spPr>
          <a:xfrm>
            <a:off x="3410712" y="2496312"/>
            <a:ext cx="3931920" cy="384048"/>
          </a:xfrm>
          <a:prstGeom prst="rect">
            <a:avLst/>
          </a:prstGeom>
          <a:solidFill>
            <a:srgbClr val="FFFFFF"/>
          </a:solidFill>
          <a:ln w="9525">
            <a:solidFill>
              <a:srgbClr val="BBD7F0"/>
            </a:solidFill>
          </a:ln>
        </p:spPr>
        <p:txBody>
          <a:bodyPr wrap="square" anchor="mid" lIns="45720" rIns="45720" tIns="22860" bIns="22860"/>
          <a:lstStyle/>
          <a:p>
            <a:r>
              <a:rPr lang="en-US" sz="1200" dirty="0">
                <a:solidFill>
                  <a:srgbClr val="1F2937"/>
                </a:solidFill>
              </a:rPr>
              <a:t>Record details in incident log</a:t>
            </a:r>
          </a:p>
        </p:txBody>
      </p:sp>
      <p:sp>
        <p:nvSpPr>
          <p:cNvPr id="24" name="Text Box"/>
          <p:cNvSpPr txBox="1"/>
          <p:nvPr/>
        </p:nvSpPr>
        <p:spPr>
          <a:xfrm>
            <a:off x="7342632" y="2496312"/>
            <a:ext cx="2834640" cy="384048"/>
          </a:xfrm>
          <a:prstGeom prst="rect">
            <a:avLst/>
          </a:prstGeom>
          <a:solidFill>
            <a:srgbClr val="FFFFFF"/>
          </a:solidFill>
          <a:ln w="9525">
            <a:solidFill>
              <a:srgbClr val="BBD7F0"/>
            </a:solidFill>
          </a:ln>
        </p:spPr>
        <p:txBody>
          <a:bodyPr wrap="square" anchor="mid" lIns="45720" rIns="45720" tIns="22860" bIns="22860"/>
          <a:lstStyle/>
          <a:p>
            <a:r>
              <a:rPr lang="en-US" sz="1200" dirty="0">
                <a:solidFill>
                  <a:srgbClr val="1F2937"/>
                </a:solidFill>
              </a:rPr>
              <a:t>System Administrator / IT</a:t>
            </a:r>
          </a:p>
        </p:txBody>
      </p:sp>
      <p:sp>
        <p:nvSpPr>
          <p:cNvPr id="25" name="Text Box"/>
          <p:cNvSpPr txBox="1"/>
          <p:nvPr/>
        </p:nvSpPr>
        <p:spPr>
          <a:xfrm>
            <a:off x="10177272" y="2496312"/>
            <a:ext cx="1371600" cy="384048"/>
          </a:xfrm>
          <a:prstGeom prst="rect">
            <a:avLst/>
          </a:prstGeom>
          <a:solidFill>
            <a:srgbClr val="FFFFFF"/>
          </a:solidFill>
          <a:ln w="9525">
            <a:solidFill>
              <a:srgbClr val="BBD7F0"/>
            </a:solidFill>
          </a:ln>
        </p:spPr>
        <p:txBody>
          <a:bodyPr wrap="square" anchor="mid" lIns="45720" rIns="45720" tIns="22860" bIns="22860"/>
          <a:lstStyle/>
          <a:p>
            <a:r>
              <a:rPr lang="en-US" sz="1300" dirty="0">
                <a:solidFill>
                  <a:srgbClr val="1F2937"/>
                </a:solidFill>
              </a:rPr>
              <a:t>Low-Medium</a:t>
            </a:r>
          </a:p>
        </p:txBody>
      </p:sp>
      <p:sp>
        <p:nvSpPr>
          <p:cNvPr id="26" name="Text Box"/>
          <p:cNvSpPr txBox="1"/>
          <p:nvPr/>
        </p:nvSpPr>
        <p:spPr>
          <a:xfrm>
            <a:off x="347472" y="2880360"/>
            <a:ext cx="3063240" cy="384048"/>
          </a:xfrm>
          <a:prstGeom prst="rect">
            <a:avLst/>
          </a:prstGeom>
          <a:solidFill>
            <a:srgbClr val="F4F9FF"/>
          </a:solidFill>
          <a:ln w="9525">
            <a:solidFill>
              <a:srgbClr val="BBD7F0"/>
            </a:solidFill>
          </a:ln>
        </p:spPr>
        <p:txBody>
          <a:bodyPr wrap="square" anchor="mid" lIns="45720" rIns="45720" tIns="22860" bIns="22860"/>
          <a:lstStyle/>
          <a:p>
            <a:r>
              <a:rPr lang="en-US" sz="1300" dirty="0">
                <a:solidFill>
                  <a:srgbClr val="1F2937"/>
                </a:solidFill>
              </a:rPr>
              <a:t>Wrong assessment</a:t>
            </a:r>
          </a:p>
        </p:txBody>
      </p:sp>
      <p:sp>
        <p:nvSpPr>
          <p:cNvPr id="27" name="Text Box"/>
          <p:cNvSpPr txBox="1"/>
          <p:nvPr/>
        </p:nvSpPr>
        <p:spPr>
          <a:xfrm>
            <a:off x="3410712" y="2880360"/>
            <a:ext cx="3931920" cy="384048"/>
          </a:xfrm>
          <a:prstGeom prst="rect">
            <a:avLst/>
          </a:prstGeom>
          <a:solidFill>
            <a:srgbClr val="F4F9FF"/>
          </a:solidFill>
          <a:ln w="9525">
            <a:solidFill>
              <a:srgbClr val="BBD7F0"/>
            </a:solidFill>
          </a:ln>
        </p:spPr>
        <p:txBody>
          <a:bodyPr wrap="square" anchor="mid" lIns="45720" rIns="45720" tIns="22860" bIns="22860"/>
          <a:lstStyle/>
          <a:p>
            <a:r>
              <a:rPr lang="en-US" sz="1200" dirty="0">
                <a:solidFill>
                  <a:srgbClr val="1F2937"/>
                </a:solidFill>
              </a:rPr>
              <a:t>Assess impact, affected data, severity</a:t>
            </a:r>
          </a:p>
        </p:txBody>
      </p:sp>
      <p:sp>
        <p:nvSpPr>
          <p:cNvPr id="28" name="Text Box"/>
          <p:cNvSpPr txBox="1"/>
          <p:nvPr/>
        </p:nvSpPr>
        <p:spPr>
          <a:xfrm>
            <a:off x="7342632" y="2880360"/>
            <a:ext cx="2834640" cy="384048"/>
          </a:xfrm>
          <a:prstGeom prst="rect">
            <a:avLst/>
          </a:prstGeom>
          <a:solidFill>
            <a:srgbClr val="F4F9FF"/>
          </a:solidFill>
          <a:ln w="9525">
            <a:solidFill>
              <a:srgbClr val="BBD7F0"/>
            </a:solidFill>
          </a:ln>
        </p:spPr>
        <p:txBody>
          <a:bodyPr wrap="square" anchor="mid" lIns="45720" rIns="45720" tIns="22860" bIns="22860"/>
          <a:lstStyle/>
          <a:p>
            <a:r>
              <a:rPr lang="en-US" sz="1300" dirty="0">
                <a:solidFill>
                  <a:srgbClr val="1F2937"/>
                </a:solidFill>
              </a:rPr>
              <a:t>Security Team / IT</a:t>
            </a:r>
          </a:p>
        </p:txBody>
      </p:sp>
      <p:sp>
        <p:nvSpPr>
          <p:cNvPr id="29" name="Text Box"/>
          <p:cNvSpPr txBox="1"/>
          <p:nvPr/>
        </p:nvSpPr>
        <p:spPr>
          <a:xfrm>
            <a:off x="10177272" y="2880360"/>
            <a:ext cx="1371600" cy="384048"/>
          </a:xfrm>
          <a:prstGeom prst="rect">
            <a:avLst/>
          </a:prstGeom>
          <a:solidFill>
            <a:srgbClr val="F4F9FF"/>
          </a:solidFill>
          <a:ln w="9525">
            <a:solidFill>
              <a:srgbClr val="BBD7F0"/>
            </a:solidFill>
          </a:ln>
        </p:spPr>
        <p:txBody>
          <a:bodyPr wrap="square" anchor="mid" lIns="45720" rIns="45720" tIns="22860" bIns="22860"/>
          <a:lstStyle/>
          <a:p>
            <a:r>
              <a:rPr lang="en-US" sz="1300" dirty="0">
                <a:solidFill>
                  <a:srgbClr val="1F2937"/>
                </a:solidFill>
              </a:rPr>
              <a:t>Low-Critical</a:t>
            </a:r>
          </a:p>
        </p:txBody>
      </p:sp>
      <p:sp>
        <p:nvSpPr>
          <p:cNvPr id="30" name="Text Box"/>
          <p:cNvSpPr txBox="1"/>
          <p:nvPr/>
        </p:nvSpPr>
        <p:spPr>
          <a:xfrm>
            <a:off x="347472" y="3264408"/>
            <a:ext cx="3063240" cy="384048"/>
          </a:xfrm>
          <a:prstGeom prst="rect">
            <a:avLst/>
          </a:prstGeom>
          <a:solidFill>
            <a:srgbClr val="FFFFFF"/>
          </a:solidFill>
          <a:ln w="9525">
            <a:solidFill>
              <a:srgbClr val="BBD7F0"/>
            </a:solidFill>
          </a:ln>
        </p:spPr>
        <p:txBody>
          <a:bodyPr wrap="square" anchor="mid" lIns="45720" rIns="45720" tIns="22860" bIns="22860"/>
          <a:lstStyle/>
          <a:p>
            <a:r>
              <a:rPr lang="en-US" sz="1300" dirty="0">
                <a:solidFill>
                  <a:srgbClr val="1F2937"/>
                </a:solidFill>
              </a:rPr>
              <a:t>Incident spread</a:t>
            </a:r>
          </a:p>
        </p:txBody>
      </p:sp>
      <p:sp>
        <p:nvSpPr>
          <p:cNvPr id="31" name="Text Box"/>
          <p:cNvSpPr txBox="1"/>
          <p:nvPr/>
        </p:nvSpPr>
        <p:spPr>
          <a:xfrm>
            <a:off x="3410712" y="3264408"/>
            <a:ext cx="3931920" cy="384048"/>
          </a:xfrm>
          <a:prstGeom prst="rect">
            <a:avLst/>
          </a:prstGeom>
          <a:solidFill>
            <a:srgbClr val="FFFFFF"/>
          </a:solidFill>
          <a:ln w="9525">
            <a:solidFill>
              <a:srgbClr val="BBD7F0"/>
            </a:solidFill>
          </a:ln>
        </p:spPr>
        <p:txBody>
          <a:bodyPr wrap="square" anchor="mid" lIns="45720" rIns="45720" tIns="22860" bIns="22860"/>
          <a:lstStyle/>
          <a:p>
            <a:r>
              <a:rPr lang="en-US" sz="1200" dirty="0">
                <a:solidFill>
                  <a:srgbClr val="1F2937"/>
                </a:solidFill>
              </a:rPr>
              <a:t>Restrict access, disable accounts, isolate files/devices</a:t>
            </a:r>
          </a:p>
        </p:txBody>
      </p:sp>
      <p:sp>
        <p:nvSpPr>
          <p:cNvPr id="32" name="Text Box"/>
          <p:cNvSpPr txBox="1"/>
          <p:nvPr/>
        </p:nvSpPr>
        <p:spPr>
          <a:xfrm>
            <a:off x="7342632" y="3264408"/>
            <a:ext cx="2834640" cy="384048"/>
          </a:xfrm>
          <a:prstGeom prst="rect">
            <a:avLst/>
          </a:prstGeom>
          <a:solidFill>
            <a:srgbClr val="FFFFFF"/>
          </a:solidFill>
          <a:ln w="9525">
            <a:solidFill>
              <a:srgbClr val="BBD7F0"/>
            </a:solidFill>
          </a:ln>
        </p:spPr>
        <p:txBody>
          <a:bodyPr wrap="square" anchor="mid" lIns="45720" rIns="45720" tIns="22860" bIns="22860"/>
          <a:lstStyle/>
          <a:p>
            <a:r>
              <a:rPr lang="en-US" sz="1200" dirty="0">
                <a:solidFill>
                  <a:srgbClr val="1F2937"/>
                </a:solidFill>
              </a:rPr>
              <a:t>System Administrator / IT</a:t>
            </a:r>
          </a:p>
        </p:txBody>
      </p:sp>
      <p:sp>
        <p:nvSpPr>
          <p:cNvPr id="33" name="Text Box"/>
          <p:cNvSpPr txBox="1"/>
          <p:nvPr/>
        </p:nvSpPr>
        <p:spPr>
          <a:xfrm>
            <a:off x="10177272" y="3264408"/>
            <a:ext cx="1371600" cy="384048"/>
          </a:xfrm>
          <a:prstGeom prst="rect">
            <a:avLst/>
          </a:prstGeom>
          <a:solidFill>
            <a:srgbClr val="FFFFFF"/>
          </a:solidFill>
          <a:ln w="9525">
            <a:solidFill>
              <a:srgbClr val="BBD7F0"/>
            </a:solidFill>
          </a:ln>
        </p:spPr>
        <p:txBody>
          <a:bodyPr wrap="square" anchor="mid" lIns="45720" rIns="45720" tIns="22860" bIns="22860"/>
          <a:lstStyle/>
          <a:p>
            <a:r>
              <a:rPr lang="en-US" sz="1300" dirty="0">
                <a:solidFill>
                  <a:srgbClr val="1F2937"/>
                </a:solidFill>
              </a:rPr>
              <a:t>Medium-Critical</a:t>
            </a:r>
          </a:p>
        </p:txBody>
      </p:sp>
      <p:sp>
        <p:nvSpPr>
          <p:cNvPr id="34" name="Text Box"/>
          <p:cNvSpPr txBox="1"/>
          <p:nvPr/>
        </p:nvSpPr>
        <p:spPr>
          <a:xfrm>
            <a:off x="347472" y="3648456"/>
            <a:ext cx="3063240" cy="384048"/>
          </a:xfrm>
          <a:prstGeom prst="rect">
            <a:avLst/>
          </a:prstGeom>
          <a:solidFill>
            <a:srgbClr val="F4F9FF"/>
          </a:solidFill>
          <a:ln w="9525">
            <a:solidFill>
              <a:srgbClr val="BBD7F0"/>
            </a:solidFill>
          </a:ln>
        </p:spPr>
        <p:txBody>
          <a:bodyPr wrap="square" anchor="mid" lIns="45720" rIns="45720" tIns="22860" bIns="22860"/>
          <a:lstStyle/>
          <a:p>
            <a:r>
              <a:rPr lang="en-US" sz="1300" dirty="0">
                <a:solidFill>
                  <a:srgbClr val="1F2937"/>
                </a:solidFill>
              </a:rPr>
              <a:t>Unknown cause</a:t>
            </a:r>
          </a:p>
        </p:txBody>
      </p:sp>
      <p:sp>
        <p:nvSpPr>
          <p:cNvPr id="35" name="Text Box"/>
          <p:cNvSpPr txBox="1"/>
          <p:nvPr/>
        </p:nvSpPr>
        <p:spPr>
          <a:xfrm>
            <a:off x="3410712" y="3648456"/>
            <a:ext cx="3931920" cy="384048"/>
          </a:xfrm>
          <a:prstGeom prst="rect">
            <a:avLst/>
          </a:prstGeom>
          <a:solidFill>
            <a:srgbClr val="F4F9FF"/>
          </a:solidFill>
          <a:ln w="9525">
            <a:solidFill>
              <a:srgbClr val="BBD7F0"/>
            </a:solidFill>
          </a:ln>
        </p:spPr>
        <p:txBody>
          <a:bodyPr wrap="square" anchor="mid" lIns="45720" rIns="45720" tIns="22860" bIns="22860"/>
          <a:lstStyle/>
          <a:p>
            <a:r>
              <a:rPr lang="en-US" sz="1200" dirty="0">
                <a:solidFill>
                  <a:srgbClr val="1F2937"/>
                </a:solidFill>
              </a:rPr>
              <a:t>Review logs, accounts, records, files, permissions</a:t>
            </a:r>
          </a:p>
        </p:txBody>
      </p:sp>
      <p:sp>
        <p:nvSpPr>
          <p:cNvPr id="36" name="Text Box"/>
          <p:cNvSpPr txBox="1"/>
          <p:nvPr/>
        </p:nvSpPr>
        <p:spPr>
          <a:xfrm>
            <a:off x="7342632" y="3648456"/>
            <a:ext cx="2834640" cy="384048"/>
          </a:xfrm>
          <a:prstGeom prst="rect">
            <a:avLst/>
          </a:prstGeom>
          <a:solidFill>
            <a:srgbClr val="F4F9FF"/>
          </a:solidFill>
          <a:ln w="9525">
            <a:solidFill>
              <a:srgbClr val="BBD7F0"/>
            </a:solidFill>
          </a:ln>
        </p:spPr>
        <p:txBody>
          <a:bodyPr wrap="square" anchor="mid" lIns="45720" rIns="45720" tIns="22860" bIns="22860"/>
          <a:lstStyle/>
          <a:p>
            <a:r>
              <a:rPr lang="en-US" sz="1200" dirty="0">
                <a:solidFill>
                  <a:srgbClr val="1F2937"/>
                </a:solidFill>
              </a:rPr>
              <a:t>Security Team / System Admin</a:t>
            </a:r>
          </a:p>
        </p:txBody>
      </p:sp>
      <p:sp>
        <p:nvSpPr>
          <p:cNvPr id="37" name="Text Box"/>
          <p:cNvSpPr txBox="1"/>
          <p:nvPr/>
        </p:nvSpPr>
        <p:spPr>
          <a:xfrm>
            <a:off x="10177272" y="3648456"/>
            <a:ext cx="1371600" cy="384048"/>
          </a:xfrm>
          <a:prstGeom prst="rect">
            <a:avLst/>
          </a:prstGeom>
          <a:solidFill>
            <a:srgbClr val="F4F9FF"/>
          </a:solidFill>
          <a:ln w="9525">
            <a:solidFill>
              <a:srgbClr val="BBD7F0"/>
            </a:solidFill>
          </a:ln>
        </p:spPr>
        <p:txBody>
          <a:bodyPr wrap="square" anchor="mid" lIns="45720" rIns="45720" tIns="22860" bIns="22860"/>
          <a:lstStyle/>
          <a:p>
            <a:r>
              <a:rPr lang="en-US" sz="1300" dirty="0">
                <a:solidFill>
                  <a:srgbClr val="1F2937"/>
                </a:solidFill>
              </a:rPr>
              <a:t>Medium-Critical</a:t>
            </a:r>
          </a:p>
        </p:txBody>
      </p:sp>
      <p:sp>
        <p:nvSpPr>
          <p:cNvPr id="38" name="Text Box"/>
          <p:cNvSpPr txBox="1"/>
          <p:nvPr/>
        </p:nvSpPr>
        <p:spPr>
          <a:xfrm>
            <a:off x="347472" y="4032504"/>
            <a:ext cx="3063240" cy="384048"/>
          </a:xfrm>
          <a:prstGeom prst="rect">
            <a:avLst/>
          </a:prstGeom>
          <a:solidFill>
            <a:srgbClr val="FFFFFF"/>
          </a:solidFill>
          <a:ln w="9525">
            <a:solidFill>
              <a:srgbClr val="BBD7F0"/>
            </a:solidFill>
          </a:ln>
        </p:spPr>
        <p:txBody>
          <a:bodyPr wrap="square" anchor="mid" lIns="45720" rIns="45720" tIns="22860" bIns="22860"/>
          <a:lstStyle/>
          <a:p>
            <a:r>
              <a:rPr lang="en-US" sz="1300" dirty="0">
                <a:solidFill>
                  <a:srgbClr val="1F2937"/>
                </a:solidFill>
              </a:rPr>
              <a:t>Weak controls</a:t>
            </a:r>
          </a:p>
        </p:txBody>
      </p:sp>
      <p:sp>
        <p:nvSpPr>
          <p:cNvPr id="39" name="Text Box"/>
          <p:cNvSpPr txBox="1"/>
          <p:nvPr/>
        </p:nvSpPr>
        <p:spPr>
          <a:xfrm>
            <a:off x="3410712" y="4032504"/>
            <a:ext cx="3931920" cy="384048"/>
          </a:xfrm>
          <a:prstGeom prst="rect">
            <a:avLst/>
          </a:prstGeom>
          <a:solidFill>
            <a:srgbClr val="FFFFFF"/>
          </a:solidFill>
          <a:ln w="9525">
            <a:solidFill>
              <a:srgbClr val="BBD7F0"/>
            </a:solidFill>
          </a:ln>
        </p:spPr>
        <p:txBody>
          <a:bodyPr wrap="square" anchor="mid" lIns="45720" rIns="45720" tIns="22860" bIns="22860"/>
          <a:lstStyle/>
          <a:p>
            <a:r>
              <a:rPr lang="en-US" sz="1200" dirty="0">
                <a:solidFill>
                  <a:srgbClr val="1F2937"/>
                </a:solidFill>
              </a:rPr>
              <a:t>Reset passwords, patch, remove malware, restore files</a:t>
            </a:r>
          </a:p>
        </p:txBody>
      </p:sp>
      <p:sp>
        <p:nvSpPr>
          <p:cNvPr id="40" name="Text Box"/>
          <p:cNvSpPr txBox="1"/>
          <p:nvPr/>
        </p:nvSpPr>
        <p:spPr>
          <a:xfrm>
            <a:off x="7342632" y="4032504"/>
            <a:ext cx="2834640" cy="384048"/>
          </a:xfrm>
          <a:prstGeom prst="rect">
            <a:avLst/>
          </a:prstGeom>
          <a:solidFill>
            <a:srgbClr val="FFFFFF"/>
          </a:solidFill>
          <a:ln w="9525">
            <a:solidFill>
              <a:srgbClr val="BBD7F0"/>
            </a:solidFill>
          </a:ln>
        </p:spPr>
        <p:txBody>
          <a:bodyPr wrap="square" anchor="mid" lIns="45720" rIns="45720" tIns="22860" bIns="22860"/>
          <a:lstStyle/>
          <a:p>
            <a:r>
              <a:rPr lang="en-US" sz="1300" dirty="0">
                <a:solidFill>
                  <a:srgbClr val="1F2937"/>
                </a:solidFill>
              </a:rPr>
              <a:t>IT / System Admin</a:t>
            </a:r>
          </a:p>
        </p:txBody>
      </p:sp>
      <p:sp>
        <p:nvSpPr>
          <p:cNvPr id="41" name="Text Box"/>
          <p:cNvSpPr txBox="1"/>
          <p:nvPr/>
        </p:nvSpPr>
        <p:spPr>
          <a:xfrm>
            <a:off x="10177272" y="4032504"/>
            <a:ext cx="1371600" cy="384048"/>
          </a:xfrm>
          <a:prstGeom prst="rect">
            <a:avLst/>
          </a:prstGeom>
          <a:solidFill>
            <a:srgbClr val="FFFFFF"/>
          </a:solidFill>
          <a:ln w="9525">
            <a:solidFill>
              <a:srgbClr val="BBD7F0"/>
            </a:solidFill>
          </a:ln>
        </p:spPr>
        <p:txBody>
          <a:bodyPr wrap="square" anchor="mid" lIns="45720" rIns="45720" tIns="22860" bIns="22860"/>
          <a:lstStyle/>
          <a:p>
            <a:r>
              <a:rPr lang="en-US" sz="1300" dirty="0">
                <a:solidFill>
                  <a:srgbClr val="1F2937"/>
                </a:solidFill>
              </a:rPr>
              <a:t>Medium-Critical</a:t>
            </a:r>
          </a:p>
        </p:txBody>
      </p:sp>
      <p:sp>
        <p:nvSpPr>
          <p:cNvPr id="42" name="Text Box"/>
          <p:cNvSpPr txBox="1"/>
          <p:nvPr/>
        </p:nvSpPr>
        <p:spPr>
          <a:xfrm>
            <a:off x="347472" y="4416552"/>
            <a:ext cx="3063240" cy="384048"/>
          </a:xfrm>
          <a:prstGeom prst="rect">
            <a:avLst/>
          </a:prstGeom>
          <a:solidFill>
            <a:srgbClr val="F4F9FF"/>
          </a:solidFill>
          <a:ln w="9525">
            <a:solidFill>
              <a:srgbClr val="BBD7F0"/>
            </a:solidFill>
          </a:ln>
        </p:spPr>
        <p:txBody>
          <a:bodyPr wrap="square" anchor="mid" lIns="45720" rIns="45720" tIns="22860" bIns="22860"/>
          <a:lstStyle/>
          <a:p>
            <a:r>
              <a:rPr lang="en-US" sz="1300" dirty="0">
                <a:solidFill>
                  <a:srgbClr val="1F2937"/>
                </a:solidFill>
              </a:rPr>
              <a:t>Serious privacy issue</a:t>
            </a:r>
          </a:p>
        </p:txBody>
      </p:sp>
      <p:sp>
        <p:nvSpPr>
          <p:cNvPr id="43" name="Text Box"/>
          <p:cNvSpPr txBox="1"/>
          <p:nvPr/>
        </p:nvSpPr>
        <p:spPr>
          <a:xfrm>
            <a:off x="3410712" y="4416552"/>
            <a:ext cx="3931920" cy="384048"/>
          </a:xfrm>
          <a:prstGeom prst="rect">
            <a:avLst/>
          </a:prstGeom>
          <a:solidFill>
            <a:srgbClr val="F4F9FF"/>
          </a:solidFill>
          <a:ln w="9525">
            <a:solidFill>
              <a:srgbClr val="BBD7F0"/>
            </a:solidFill>
          </a:ln>
        </p:spPr>
        <p:txBody>
          <a:bodyPr wrap="square" anchor="mid" lIns="45720" rIns="45720" tIns="22860" bIns="22860"/>
          <a:lstStyle/>
          <a:p>
            <a:r>
              <a:rPr lang="en-US" sz="1200" dirty="0">
                <a:solidFill>
                  <a:srgbClr val="1F2937"/>
                </a:solidFill>
              </a:rPr>
              <a:t>Notify management, governance board, or DPO</a:t>
            </a:r>
          </a:p>
        </p:txBody>
      </p:sp>
      <p:sp>
        <p:nvSpPr>
          <p:cNvPr id="44" name="Text Box"/>
          <p:cNvSpPr txBox="1"/>
          <p:nvPr/>
        </p:nvSpPr>
        <p:spPr>
          <a:xfrm>
            <a:off x="7342632" y="4416552"/>
            <a:ext cx="2834640" cy="384048"/>
          </a:xfrm>
          <a:prstGeom prst="rect">
            <a:avLst/>
          </a:prstGeom>
          <a:solidFill>
            <a:srgbClr val="F4F9FF"/>
          </a:solidFill>
          <a:ln w="9525">
            <a:solidFill>
              <a:srgbClr val="BBD7F0"/>
            </a:solidFill>
          </a:ln>
        </p:spPr>
        <p:txBody>
          <a:bodyPr wrap="square" anchor="mid" lIns="45720" rIns="45720" tIns="22860" bIns="22860"/>
          <a:lstStyle/>
          <a:p>
            <a:r>
              <a:rPr lang="en-US" sz="1300" dirty="0">
                <a:solidFill>
                  <a:srgbClr val="1F2937"/>
                </a:solidFill>
              </a:rPr>
              <a:t>Security Team / DPO</a:t>
            </a:r>
          </a:p>
        </p:txBody>
      </p:sp>
      <p:sp>
        <p:nvSpPr>
          <p:cNvPr id="45" name="Text Box"/>
          <p:cNvSpPr txBox="1"/>
          <p:nvPr/>
        </p:nvSpPr>
        <p:spPr>
          <a:xfrm>
            <a:off x="10177272" y="4416552"/>
            <a:ext cx="1371600" cy="384048"/>
          </a:xfrm>
          <a:prstGeom prst="rect">
            <a:avLst/>
          </a:prstGeom>
          <a:solidFill>
            <a:srgbClr val="F4F9FF"/>
          </a:solidFill>
          <a:ln w="9525">
            <a:solidFill>
              <a:srgbClr val="BBD7F0"/>
            </a:solidFill>
          </a:ln>
        </p:spPr>
        <p:txBody>
          <a:bodyPr wrap="square" anchor="mid" lIns="45720" rIns="45720" tIns="22860" bIns="22860"/>
          <a:lstStyle/>
          <a:p>
            <a:r>
              <a:rPr lang="en-US" sz="1300" dirty="0">
                <a:solidFill>
                  <a:srgbClr val="1F2937"/>
                </a:solidFill>
              </a:rPr>
              <a:t>High-Critical</a:t>
            </a:r>
          </a:p>
        </p:txBody>
      </p:sp>
      <p:sp>
        <p:nvSpPr>
          <p:cNvPr id="46" name="Text Box"/>
          <p:cNvSpPr txBox="1"/>
          <p:nvPr/>
        </p:nvSpPr>
        <p:spPr>
          <a:xfrm>
            <a:off x="347472" y="4800600"/>
            <a:ext cx="3063240" cy="384048"/>
          </a:xfrm>
          <a:prstGeom prst="rect">
            <a:avLst/>
          </a:prstGeom>
          <a:solidFill>
            <a:srgbClr val="FFFFFF"/>
          </a:solidFill>
          <a:ln w="9525">
            <a:solidFill>
              <a:srgbClr val="BBD7F0"/>
            </a:solidFill>
          </a:ln>
        </p:spPr>
        <p:txBody>
          <a:bodyPr wrap="square" anchor="mid" lIns="45720" rIns="45720" tIns="22860" bIns="22860"/>
          <a:lstStyle/>
          <a:p>
            <a:r>
              <a:rPr lang="en-US" sz="1200" dirty="0">
                <a:solidFill>
                  <a:srgbClr val="1F2937"/>
                </a:solidFill>
              </a:rPr>
              <a:t>Unreliable service/data</a:t>
            </a:r>
          </a:p>
        </p:txBody>
      </p:sp>
      <p:sp>
        <p:nvSpPr>
          <p:cNvPr id="47" name="Text Box"/>
          <p:cNvSpPr txBox="1"/>
          <p:nvPr/>
        </p:nvSpPr>
        <p:spPr>
          <a:xfrm>
            <a:off x="3410712" y="4800600"/>
            <a:ext cx="3931920" cy="384048"/>
          </a:xfrm>
          <a:prstGeom prst="rect">
            <a:avLst/>
          </a:prstGeom>
          <a:solidFill>
            <a:srgbClr val="FFFFFF"/>
          </a:solidFill>
          <a:ln w="9525">
            <a:solidFill>
              <a:srgbClr val="BBD7F0"/>
            </a:solidFill>
          </a:ln>
        </p:spPr>
        <p:txBody>
          <a:bodyPr wrap="square" anchor="mid" lIns="45720" rIns="45720" tIns="22860" bIns="22860"/>
          <a:lstStyle/>
          <a:p>
            <a:r>
              <a:rPr lang="en-US" sz="1200" dirty="0">
                <a:solidFill>
                  <a:srgbClr val="1F2937"/>
                </a:solidFill>
              </a:rPr>
              <a:t>Restore services, verify records, monitor activity</a:t>
            </a:r>
          </a:p>
        </p:txBody>
      </p:sp>
      <p:sp>
        <p:nvSpPr>
          <p:cNvPr id="48" name="Text Box"/>
          <p:cNvSpPr txBox="1"/>
          <p:nvPr/>
        </p:nvSpPr>
        <p:spPr>
          <a:xfrm>
            <a:off x="7342632" y="4800600"/>
            <a:ext cx="2834640" cy="384048"/>
          </a:xfrm>
          <a:prstGeom prst="rect">
            <a:avLst/>
          </a:prstGeom>
          <a:solidFill>
            <a:srgbClr val="FFFFFF"/>
          </a:solidFill>
          <a:ln w="9525">
            <a:solidFill>
              <a:srgbClr val="BBD7F0"/>
            </a:solidFill>
          </a:ln>
        </p:spPr>
        <p:txBody>
          <a:bodyPr wrap="square" anchor="mid" lIns="45720" rIns="45720" tIns="22860" bIns="22860"/>
          <a:lstStyle/>
          <a:p>
            <a:r>
              <a:rPr lang="en-US" sz="1300" dirty="0">
                <a:solidFill>
                  <a:srgbClr val="1F2937"/>
                </a:solidFill>
              </a:rPr>
              <a:t>IT / System Admin</a:t>
            </a:r>
          </a:p>
        </p:txBody>
      </p:sp>
      <p:sp>
        <p:nvSpPr>
          <p:cNvPr id="49" name="Text Box"/>
          <p:cNvSpPr txBox="1"/>
          <p:nvPr/>
        </p:nvSpPr>
        <p:spPr>
          <a:xfrm>
            <a:off x="10177272" y="4800600"/>
            <a:ext cx="1371600" cy="384048"/>
          </a:xfrm>
          <a:prstGeom prst="rect">
            <a:avLst/>
          </a:prstGeom>
          <a:solidFill>
            <a:srgbClr val="FFFFFF"/>
          </a:solidFill>
          <a:ln w="9525">
            <a:solidFill>
              <a:srgbClr val="BBD7F0"/>
            </a:solidFill>
          </a:ln>
        </p:spPr>
        <p:txBody>
          <a:bodyPr wrap="square" anchor="mid" lIns="45720" rIns="45720" tIns="22860" bIns="22860"/>
          <a:lstStyle/>
          <a:p>
            <a:r>
              <a:rPr lang="en-US" sz="1300" dirty="0">
                <a:solidFill>
                  <a:srgbClr val="1F2937"/>
                </a:solidFill>
              </a:rPr>
              <a:t>Medium-Critical</a:t>
            </a:r>
          </a:p>
        </p:txBody>
      </p:sp>
      <p:sp>
        <p:nvSpPr>
          <p:cNvPr id="50" name="Text Box"/>
          <p:cNvSpPr txBox="1"/>
          <p:nvPr/>
        </p:nvSpPr>
        <p:spPr>
          <a:xfrm>
            <a:off x="347472" y="5184648"/>
            <a:ext cx="3063240" cy="384048"/>
          </a:xfrm>
          <a:prstGeom prst="rect">
            <a:avLst/>
          </a:prstGeom>
          <a:solidFill>
            <a:srgbClr val="F4F9FF"/>
          </a:solidFill>
          <a:ln w="9525">
            <a:solidFill>
              <a:srgbClr val="BBD7F0"/>
            </a:solidFill>
          </a:ln>
        </p:spPr>
        <p:txBody>
          <a:bodyPr wrap="square" anchor="mid" lIns="45720" rIns="45720" tIns="22860" bIns="22860"/>
          <a:lstStyle/>
          <a:p>
            <a:r>
              <a:rPr lang="en-US" sz="1300" dirty="0">
                <a:solidFill>
                  <a:srgbClr val="1F2937"/>
                </a:solidFill>
              </a:rPr>
              <a:t>Repeat incident risk</a:t>
            </a:r>
          </a:p>
        </p:txBody>
      </p:sp>
      <p:sp>
        <p:nvSpPr>
          <p:cNvPr id="51" name="Text Box"/>
          <p:cNvSpPr txBox="1"/>
          <p:nvPr/>
        </p:nvSpPr>
        <p:spPr>
          <a:xfrm>
            <a:off x="3410712" y="5184648"/>
            <a:ext cx="3931920" cy="384048"/>
          </a:xfrm>
          <a:prstGeom prst="rect">
            <a:avLst/>
          </a:prstGeom>
          <a:solidFill>
            <a:srgbClr val="F4F9FF"/>
          </a:solidFill>
          <a:ln w="9525">
            <a:solidFill>
              <a:srgbClr val="BBD7F0"/>
            </a:solidFill>
          </a:ln>
        </p:spPr>
        <p:txBody>
          <a:bodyPr wrap="square" anchor="mid" lIns="45720" rIns="45720" tIns="22860" bIns="22860"/>
          <a:lstStyle/>
          <a:p>
            <a:r>
              <a:rPr lang="en-US" sz="1200" dirty="0">
                <a:solidFill>
                  <a:srgbClr val="1F2937"/>
                </a:solidFill>
              </a:rPr>
              <a:t>Identify causes, update controls, train users</a:t>
            </a:r>
          </a:p>
        </p:txBody>
      </p:sp>
      <p:sp>
        <p:nvSpPr>
          <p:cNvPr id="52" name="Text Box"/>
          <p:cNvSpPr txBox="1"/>
          <p:nvPr/>
        </p:nvSpPr>
        <p:spPr>
          <a:xfrm>
            <a:off x="7342632" y="5184648"/>
            <a:ext cx="2834640" cy="384048"/>
          </a:xfrm>
          <a:prstGeom prst="rect">
            <a:avLst/>
          </a:prstGeom>
          <a:solidFill>
            <a:srgbClr val="F4F9FF"/>
          </a:solidFill>
          <a:ln w="9525">
            <a:solidFill>
              <a:srgbClr val="BBD7F0"/>
            </a:solidFill>
          </a:ln>
        </p:spPr>
        <p:txBody>
          <a:bodyPr wrap="square" anchor="mid" lIns="45720" rIns="45720" tIns="22860" bIns="22860"/>
          <a:lstStyle/>
          <a:p>
            <a:r>
              <a:rPr lang="en-US" sz="1300" dirty="0">
                <a:solidFill>
                  <a:srgbClr val="1F2937"/>
                </a:solidFill>
              </a:rPr>
              <a:t>Security Team / Board</a:t>
            </a:r>
          </a:p>
        </p:txBody>
      </p:sp>
      <p:sp>
        <p:nvSpPr>
          <p:cNvPr id="53" name="Text Box"/>
          <p:cNvSpPr txBox="1"/>
          <p:nvPr/>
        </p:nvSpPr>
        <p:spPr>
          <a:xfrm>
            <a:off x="10177272" y="5184648"/>
            <a:ext cx="1371600" cy="384048"/>
          </a:xfrm>
          <a:prstGeom prst="rect">
            <a:avLst/>
          </a:prstGeom>
          <a:solidFill>
            <a:srgbClr val="F4F9FF"/>
          </a:solidFill>
          <a:ln w="9525">
            <a:solidFill>
              <a:srgbClr val="BBD7F0"/>
            </a:solidFill>
          </a:ln>
        </p:spPr>
        <p:txBody>
          <a:bodyPr wrap="square" anchor="mid" lIns="45720" rIns="45720" tIns="22860" bIns="22860"/>
          <a:lstStyle/>
          <a:p>
            <a:r>
              <a:rPr lang="en-US" sz="1300" dirty="0">
                <a:solidFill>
                  <a:srgbClr val="1F2937"/>
                </a:solidFill>
              </a:rPr>
              <a:t>Low-Critical</a:t>
            </a:r>
          </a:p>
        </p:txBody>
      </p:sp>
      <p:sp>
        <p:nvSpPr>
          <p:cNvPr id="3" name="Text Box"/>
          <p:cNvSpPr txBox="1"/>
          <p:nvPr/>
        </p:nvSpPr>
        <p:spPr>
          <a:xfrm>
            <a:off x="411480" y="6446520"/>
            <a:ext cx="11384280" cy="228600"/>
          </a:xfrm>
          <a:prstGeom prst="rect">
            <a:avLst/>
          </a:prstGeom>
          <a:noFill/>
          <a:ln>
            <a:noFill/>
          </a:ln>
        </p:spPr>
        <p:txBody>
          <a:bodyPr wrap="square" anchor="top" lIns="0" rIns="91440" tIns="0" bIns="0"/>
          <a:lstStyle/>
          <a:p>
            <a:r>
              <a:rPr lang="en-US" sz="900" dirty="0">
                <a:solidFill>
                  <a:srgbClr val="64748B"/>
                </a:solidFill>
              </a:rPr>
              <a:t>Incident Matrix</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2192000" cy="6858000"/>
          <a:chOff x="0" y="0"/>
          <a:chExt cx="12192000" cy="6858000"/>
        </a:xfrm>
      </p:grpSpPr>
      <p:sp>
        <p:nvSpPr>
          <p:cNvPr id="2" name="Text Box"/>
          <p:cNvSpPr txBox="1"/>
          <p:nvPr/>
        </p:nvSpPr>
        <p:spPr>
          <a:xfrm>
            <a:off x="0" y="0"/>
            <a:ext cx="12192000" cy="530352"/>
          </a:xfrm>
          <a:prstGeom prst="rect">
            <a:avLst/>
          </a:prstGeom>
          <a:solidFill>
            <a:srgbClr val="034485"/>
          </a:solidFill>
          <a:ln>
            <a:noFill/>
          </a:ln>
        </p:spPr>
        <p:txBody>
          <a:bodyPr wrap="square" anchor="mid" lIns="384048" rIns="91440" tIns="109728" bIns="109728"/>
          <a:lstStyle/>
          <a:p>
            <a:r>
              <a:rPr lang="en-US" sz="1300" dirty="0">
                <a:b/>
                <a:solidFill>
                  <a:srgbClr val="FFFFFF"/>
                </a:solidFill>
              </a:rPr>
              <a:t>Asian College Varsity Management Information Security Policy</a:t>
            </a:r>
          </a:p>
        </p:txBody>
      </p:sp>
      <p:sp>
        <p:nvSpPr>
          <p:cNvPr id="4" name="Text Box"/>
          <p:cNvSpPr txBox="1"/>
          <p:nvPr/>
        </p:nvSpPr>
        <p:spPr>
          <a:xfrm>
            <a:off x="502920" y="749808"/>
            <a:ext cx="10881360" cy="502920"/>
          </a:xfrm>
          <a:prstGeom prst="rect">
            <a:avLst/>
          </a:prstGeom>
          <a:noFill/>
          <a:ln>
            <a:noFill/>
          </a:ln>
        </p:spPr>
        <p:txBody>
          <a:bodyPr wrap="square" anchor="top" lIns="0" rIns="91440" tIns="0" bIns="0"/>
          <a:lstStyle/>
          <a:p>
            <a:r>
              <a:rPr lang="en-US" sz="2700" dirty="0">
                <a:b/>
                <a:solidFill>
                  <a:srgbClr val="102A43"/>
                </a:solidFill>
              </a:rPr>
              <a:t>Compliance and Review</a:t>
            </a:r>
          </a:p>
        </p:txBody>
      </p:sp>
      <p:sp>
        <p:nvSpPr>
          <p:cNvPr id="5" name="Text Box"/>
          <p:cNvSpPr txBox="1"/>
          <p:nvPr/>
        </p:nvSpPr>
        <p:spPr>
          <a:xfrm>
            <a:off x="521207" y="1216152"/>
            <a:ext cx="10241280" cy="301752"/>
          </a:xfrm>
          <a:prstGeom prst="rect">
            <a:avLst/>
          </a:prstGeom>
          <a:noFill/>
          <a:ln>
            <a:noFill/>
          </a:ln>
        </p:spPr>
        <p:txBody>
          <a:bodyPr wrap="square" anchor="top" lIns="0" rIns="91440" tIns="0" bIns="0"/>
          <a:lstStyle/>
          <a:p>
            <a:r>
              <a:rPr lang="en-US" sz="1400" dirty="0">
                <a:solidFill>
                  <a:srgbClr val="64748B"/>
                </a:solidFill>
              </a:rPr>
              <a:t>Maintaining alignment with law, policy, and institutional requirements</a:t>
            </a:r>
          </a:p>
        </p:txBody>
      </p:sp>
      <p:sp>
        <p:nvSpPr>
          <p:cNvPr id="10" name="Text Box"/>
          <p:cNvSpPr txBox="1"/>
          <p:nvPr/>
        </p:nvSpPr>
        <p:spPr>
          <a:xfrm>
            <a:off x="594360" y="1417320"/>
            <a:ext cx="3337560" cy="4663440"/>
          </a:xfrm>
          <a:prstGeom prst="roundRect">
            <a:avLst/>
          </a:prstGeom>
          <a:solidFill>
            <a:srgbClr val="FFFFFF"/>
          </a:solidFill>
          <a:ln w="9525">
            <a:solidFill>
              <a:srgbClr val="BBD7F0"/>
            </a:solidFill>
          </a:ln>
        </p:spPr>
        <p:txBody>
          <a:bodyPr wrap="square" anchor="top" lIns="91440" rIns="91440" tIns="45720" bIns="45720"/>
          <a:lstStyle/>
          <a:p>
            <a:r>
              <a:rPr lang="en-US" sz="2100" dirty="0">
                <a:b/>
                <a:solidFill>
                  <a:srgbClr val="034485"/>
                </a:solidFill>
              </a:rPr>
              <a:t>⚖ Compliance Requirements</a:t>
            </a:r>
          </a:p>
          <a:p>
            <a:r>
              <a:rPr lang="en-US" sz="1500" dirty="0">
                <a:solidFill>
                  <a:srgbClr val="1F2937"/>
                </a:solidFill>
              </a:rPr>
              <a:t>• Philippine Data Privacy Act of 2012</a:t>
            </a:r>
          </a:p>
          <a:p>
            <a:r>
              <a:rPr lang="en-US" sz="1500" dirty="0">
                <a:solidFill>
                  <a:srgbClr val="1F2937"/>
                </a:solidFill>
              </a:rPr>
              <a:t>• Institutional privacy and information security policies</a:t>
            </a:r>
          </a:p>
          <a:p>
            <a:r>
              <a:rPr lang="en-US" sz="1500" dirty="0">
                <a:solidFill>
                  <a:srgbClr val="1F2937"/>
                </a:solidFill>
              </a:rPr>
              <a:t>• Acceptable use and access control policies</a:t>
            </a:r>
          </a:p>
          <a:p>
            <a:r>
              <a:rPr lang="en-US" sz="1500" dirty="0">
                <a:solidFill>
                  <a:srgbClr val="1F2937"/>
                </a:solidFill>
              </a:rPr>
              <a:t>• Records management, retention, contracts, and partner requirements</a:t>
            </a:r>
          </a:p>
        </p:txBody>
      </p:sp>
      <p:sp>
        <p:nvSpPr>
          <p:cNvPr id="11" name="Text Box"/>
          <p:cNvSpPr txBox="1"/>
          <p:nvPr/>
        </p:nvSpPr>
        <p:spPr>
          <a:xfrm>
            <a:off x="4160520" y="1417320"/>
            <a:ext cx="3383280" cy="4663440"/>
          </a:xfrm>
          <a:prstGeom prst="roundRect">
            <a:avLst/>
          </a:prstGeom>
          <a:solidFill>
            <a:srgbClr val="FFFFFF"/>
          </a:solidFill>
          <a:ln w="9525">
            <a:solidFill>
              <a:srgbClr val="BBD7F0"/>
            </a:solidFill>
          </a:ln>
        </p:spPr>
        <p:txBody>
          <a:bodyPr wrap="square" anchor="top" lIns="91440" rIns="91440" tIns="45720" bIns="45720"/>
          <a:lstStyle/>
          <a:p>
            <a:r>
              <a:rPr lang="en-US" sz="2100" dirty="0">
                <a:b/>
                <a:solidFill>
                  <a:srgbClr val="034485"/>
                </a:solidFill>
              </a:rPr>
              <a:t>📊 Evidence of Compliance</a:t>
            </a:r>
          </a:p>
          <a:p>
            <a:r>
              <a:rPr lang="en-US" sz="1500" dirty="0">
                <a:solidFill>
                  <a:srgbClr val="1F2937"/>
                </a:solidFill>
              </a:rPr>
              <a:t>• Internal reviews and user access reviews</a:t>
            </a:r>
          </a:p>
          <a:p>
            <a:r>
              <a:rPr lang="en-US" sz="1500" dirty="0">
                <a:solidFill>
                  <a:srgbClr val="1F2937"/>
                </a:solidFill>
              </a:rPr>
              <a:t>• Audit trail and activity log reviews</a:t>
            </a:r>
          </a:p>
          <a:p>
            <a:r>
              <a:rPr lang="en-US" sz="1500" dirty="0">
                <a:solidFill>
                  <a:srgbClr val="1F2937"/>
                </a:solidFill>
              </a:rPr>
              <a:t>• Gap analysis against documented standards</a:t>
            </a:r>
          </a:p>
          <a:p>
            <a:r>
              <a:rPr lang="en-US" sz="1500" dirty="0">
                <a:solidFill>
                  <a:srgbClr val="1F2937"/>
                </a:solidFill>
              </a:rPr>
              <a:t>• Incident report and corrective action review</a:t>
            </a:r>
          </a:p>
          <a:p>
            <a:r>
              <a:rPr lang="en-US" sz="1500" dirty="0">
                <a:solidFill>
                  <a:srgbClr val="1F2937"/>
                </a:solidFill>
              </a:rPr>
              <a:t>• Information Asset Owner returns and external assessment where required</a:t>
            </a:r>
          </a:p>
        </p:txBody>
      </p:sp>
      <p:sp>
        <p:nvSpPr>
          <p:cNvPr id="12" name="Text Box"/>
          <p:cNvSpPr txBox="1"/>
          <p:nvPr/>
        </p:nvSpPr>
        <p:spPr>
          <a:xfrm>
            <a:off x="7772400" y="1417320"/>
            <a:ext cx="3337560" cy="4663440"/>
          </a:xfrm>
          <a:prstGeom prst="roundRect">
            <a:avLst/>
          </a:prstGeom>
          <a:solidFill>
            <a:srgbClr val="FFFFFF"/>
          </a:solidFill>
          <a:ln w="9525">
            <a:solidFill>
              <a:srgbClr val="BBD7F0"/>
            </a:solidFill>
          </a:ln>
        </p:spPr>
        <p:txBody>
          <a:bodyPr wrap="square" anchor="top" lIns="91440" rIns="91440" tIns="45720" bIns="45720"/>
          <a:lstStyle/>
          <a:p>
            <a:r>
              <a:rPr lang="en-US" sz="2100" dirty="0">
                <a:b/>
                <a:solidFill>
                  <a:srgbClr val="034485"/>
                </a:solidFill>
              </a:rPr>
              <a:t>🔁 Review and Consequences</a:t>
            </a:r>
          </a:p>
          <a:p>
            <a:r>
              <a:rPr lang="en-US" sz="1500" dirty="0">
                <a:solidFill>
                  <a:srgbClr val="1F2937"/>
                </a:solidFill>
              </a:rPr>
              <a:t>• Policy reviewed annually or after major changes</a:t>
            </a:r>
          </a:p>
          <a:p>
            <a:r>
              <a:rPr lang="en-US" sz="1500" dirty="0">
                <a:solidFill>
                  <a:srgbClr val="1F2937"/>
                </a:solidFill>
              </a:rPr>
              <a:t>• Updates approved before implementation and communication</a:t>
            </a:r>
          </a:p>
          <a:p>
            <a:r>
              <a:rPr lang="en-US" sz="1500" dirty="0">
                <a:solidFill>
                  <a:srgbClr val="1F2937"/>
                </a:solidFill>
              </a:rPr>
              <a:t>• Non-compliance may lead to corrective action, access restriction, training, discipline, or escalation</a:t>
            </a:r>
          </a:p>
        </p:txBody>
      </p:sp>
      <p:sp>
        <p:nvSpPr>
          <p:cNvPr id="3" name="Text Box"/>
          <p:cNvSpPr txBox="1"/>
          <p:nvPr/>
        </p:nvSpPr>
        <p:spPr>
          <a:xfrm>
            <a:off x="411480" y="6446520"/>
            <a:ext cx="11384280" cy="228600"/>
          </a:xfrm>
          <a:prstGeom prst="rect">
            <a:avLst/>
          </a:prstGeom>
          <a:noFill/>
          <a:ln>
            <a:noFill/>
          </a:ln>
        </p:spPr>
        <p:txBody>
          <a:bodyPr wrap="square" anchor="top" lIns="0" rIns="91440" tIns="0" bIns="0"/>
          <a:lstStyle/>
          <a:p>
            <a:r>
              <a:rPr lang="en-US" sz="900" dirty="0">
                <a:solidFill>
                  <a:srgbClr val="64748B"/>
                </a:solidFill>
              </a:rPr>
              <a:t>Compliance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2192000" cy="6858000"/>
          <a:chOff x="0" y="0"/>
          <a:chExt cx="12192000" cy="6858000"/>
        </a:xfrm>
      </p:grpSpPr>
      <p:sp>
        <p:nvSpPr>
          <p:cNvPr id="2" name="Text Box"/>
          <p:cNvSpPr txBox="1"/>
          <p:nvPr/>
        </p:nvSpPr>
        <p:spPr>
          <a:xfrm>
            <a:off x="0" y="0"/>
            <a:ext cx="12192000" cy="530352"/>
          </a:xfrm>
          <a:prstGeom prst="rect">
            <a:avLst/>
          </a:prstGeom>
          <a:solidFill>
            <a:srgbClr val="034485"/>
          </a:solidFill>
          <a:ln>
            <a:noFill/>
          </a:ln>
        </p:spPr>
        <p:txBody>
          <a:bodyPr wrap="square" anchor="mid" lIns="384048" rIns="91440" tIns="109728" bIns="109728"/>
          <a:lstStyle/>
          <a:p>
            <a:r>
              <a:rPr lang="en-US" sz="1300" dirty="0">
                <a:b/>
                <a:solidFill>
                  <a:srgbClr val="FFFFFF"/>
                </a:solidFill>
              </a:rPr>
              <a:t>Asian College Varsity Management Information Security Policy</a:t>
            </a:r>
          </a:p>
        </p:txBody>
      </p:sp>
      <p:sp>
        <p:nvSpPr>
          <p:cNvPr id="4" name="Text Box"/>
          <p:cNvSpPr txBox="1"/>
          <p:nvPr/>
        </p:nvSpPr>
        <p:spPr>
          <a:xfrm>
            <a:off x="502920" y="749808"/>
            <a:ext cx="10881360" cy="502920"/>
          </a:xfrm>
          <a:prstGeom prst="rect">
            <a:avLst/>
          </a:prstGeom>
          <a:noFill/>
          <a:ln>
            <a:noFill/>
          </a:ln>
        </p:spPr>
        <p:txBody>
          <a:bodyPr wrap="square" anchor="top" lIns="0" rIns="91440" tIns="0" bIns="0"/>
          <a:lstStyle/>
          <a:p>
            <a:r>
              <a:rPr lang="en-US" sz="2700" dirty="0">
                <a:b/>
                <a:solidFill>
                  <a:srgbClr val="102A43"/>
                </a:solidFill>
              </a:rPr>
              <a:t>Role-Based Access Model</a:t>
            </a:r>
          </a:p>
        </p:txBody>
      </p:sp>
      <p:sp>
        <p:nvSpPr>
          <p:cNvPr id="5" name="Text Box"/>
          <p:cNvSpPr txBox="1"/>
          <p:nvPr/>
        </p:nvSpPr>
        <p:spPr>
          <a:xfrm>
            <a:off x="521207" y="1216152"/>
            <a:ext cx="10241280" cy="301752"/>
          </a:xfrm>
          <a:prstGeom prst="rect">
            <a:avLst/>
          </a:prstGeom>
          <a:noFill/>
          <a:ln>
            <a:noFill/>
          </a:ln>
        </p:spPr>
        <p:txBody>
          <a:bodyPr wrap="square" anchor="top" lIns="0" rIns="91440" tIns="0" bIns="0"/>
          <a:lstStyle/>
          <a:p>
            <a:r>
              <a:rPr lang="en-US" sz="1400" dirty="0">
                <a:solidFill>
                  <a:srgbClr val="64748B"/>
                </a:solidFill>
              </a:rPr>
              <a:t>User assignment and resource access by role</a:t>
            </a:r>
          </a:p>
        </p:txBody>
      </p:sp>
      <p:sp>
        <p:nvSpPr>
          <p:cNvPr id="10" name="Text Box"/>
          <p:cNvSpPr txBox="1"/>
          <p:nvPr/>
        </p:nvSpPr>
        <p:spPr>
          <a:xfrm>
            <a:off x="594360" y="1444752"/>
            <a:ext cx="2743200" cy="502920"/>
          </a:xfrm>
          <a:prstGeom prst="rect">
            <a:avLst/>
          </a:prstGeom>
          <a:solidFill>
            <a:srgbClr val="034485"/>
          </a:solidFill>
          <a:ln w="9525">
            <a:solidFill>
              <a:srgbClr val="BBD7F0"/>
            </a:solidFill>
          </a:ln>
        </p:spPr>
        <p:txBody>
          <a:bodyPr wrap="square" anchor="mid" lIns="45720" rIns="45720" tIns="22860" bIns="22860"/>
          <a:lstStyle/>
          <a:p>
            <a:r>
              <a:rPr lang="en-US" sz="1300" dirty="0">
                <a:b/>
                <a:solidFill>
                  <a:srgbClr val="FFFFFF"/>
                </a:solidFill>
              </a:rPr>
              <a:t>User</a:t>
            </a:r>
          </a:p>
        </p:txBody>
      </p:sp>
      <p:sp>
        <p:nvSpPr>
          <p:cNvPr id="11" name="Text Box"/>
          <p:cNvSpPr txBox="1"/>
          <p:nvPr/>
        </p:nvSpPr>
        <p:spPr>
          <a:xfrm>
            <a:off x="3337560" y="1444752"/>
            <a:ext cx="3200400" cy="502920"/>
          </a:xfrm>
          <a:prstGeom prst="rect">
            <a:avLst/>
          </a:prstGeom>
          <a:solidFill>
            <a:srgbClr val="034485"/>
          </a:solidFill>
          <a:ln w="9525">
            <a:solidFill>
              <a:srgbClr val="BBD7F0"/>
            </a:solidFill>
          </a:ln>
        </p:spPr>
        <p:txBody>
          <a:bodyPr wrap="square" anchor="mid" lIns="45720" rIns="45720" tIns="22860" bIns="22860"/>
          <a:lstStyle/>
          <a:p>
            <a:r>
              <a:rPr lang="en-US" sz="1300" dirty="0">
                <a:b/>
                <a:solidFill>
                  <a:srgbClr val="FFFFFF"/>
                </a:solidFill>
              </a:rPr>
              <a:t>Assigned Role</a:t>
            </a:r>
          </a:p>
        </p:txBody>
      </p:sp>
      <p:sp>
        <p:nvSpPr>
          <p:cNvPr id="12" name="Text Box"/>
          <p:cNvSpPr txBox="1"/>
          <p:nvPr/>
        </p:nvSpPr>
        <p:spPr>
          <a:xfrm>
            <a:off x="594360" y="1947672"/>
            <a:ext cx="2743200" cy="502920"/>
          </a:xfrm>
          <a:prstGeom prst="rect">
            <a:avLst/>
          </a:prstGeom>
          <a:solidFill>
            <a:srgbClr val="FFFFFF"/>
          </a:solidFill>
          <a:ln w="9525">
            <a:solidFill>
              <a:srgbClr val="BBD7F0"/>
            </a:solidFill>
          </a:ln>
        </p:spPr>
        <p:txBody>
          <a:bodyPr wrap="square" anchor="mid" lIns="45720" rIns="45720" tIns="22860" bIns="22860"/>
          <a:lstStyle/>
          <a:p>
            <a:r>
              <a:rPr lang="en-US" sz="1300" dirty="0">
                <a:solidFill>
                  <a:srgbClr val="1F2937"/>
                </a:solidFill>
              </a:rPr>
              <a:t>Maria Santos</a:t>
            </a:r>
          </a:p>
        </p:txBody>
      </p:sp>
      <p:sp>
        <p:nvSpPr>
          <p:cNvPr id="13" name="Text Box"/>
          <p:cNvSpPr txBox="1"/>
          <p:nvPr/>
        </p:nvSpPr>
        <p:spPr>
          <a:xfrm>
            <a:off x="3337560" y="1947672"/>
            <a:ext cx="3200400" cy="502920"/>
          </a:xfrm>
          <a:prstGeom prst="rect">
            <a:avLst/>
          </a:prstGeom>
          <a:solidFill>
            <a:srgbClr val="FFFFFF"/>
          </a:solidFill>
          <a:ln w="9525">
            <a:solidFill>
              <a:srgbClr val="BBD7F0"/>
            </a:solidFill>
          </a:ln>
        </p:spPr>
        <p:txBody>
          <a:bodyPr wrap="square" anchor="mid" lIns="45720" rIns="45720" tIns="22860" bIns="22860"/>
          <a:lstStyle/>
          <a:p>
            <a:r>
              <a:rPr lang="en-US" sz="1300" dirty="0">
                <a:solidFill>
                  <a:srgbClr val="1F2937"/>
                </a:solidFill>
              </a:rPr>
              <a:t>Administrator</a:t>
            </a:r>
          </a:p>
        </p:txBody>
      </p:sp>
      <p:sp>
        <p:nvSpPr>
          <p:cNvPr id="14" name="Text Box"/>
          <p:cNvSpPr txBox="1"/>
          <p:nvPr/>
        </p:nvSpPr>
        <p:spPr>
          <a:xfrm>
            <a:off x="594360" y="2450592"/>
            <a:ext cx="2743200" cy="502920"/>
          </a:xfrm>
          <a:prstGeom prst="rect">
            <a:avLst/>
          </a:prstGeom>
          <a:solidFill>
            <a:srgbClr val="F4F9FF"/>
          </a:solidFill>
          <a:ln w="9525">
            <a:solidFill>
              <a:srgbClr val="BBD7F0"/>
            </a:solidFill>
          </a:ln>
        </p:spPr>
        <p:txBody>
          <a:bodyPr wrap="square" anchor="mid" lIns="45720" rIns="45720" tIns="22860" bIns="22860"/>
          <a:lstStyle/>
          <a:p>
            <a:r>
              <a:rPr lang="en-US" sz="1300" dirty="0">
                <a:solidFill>
                  <a:srgbClr val="1F2937"/>
                </a:solidFill>
              </a:rPr>
              <a:t>Coach Reyes</a:t>
            </a:r>
          </a:p>
        </p:txBody>
      </p:sp>
      <p:sp>
        <p:nvSpPr>
          <p:cNvPr id="15" name="Text Box"/>
          <p:cNvSpPr txBox="1"/>
          <p:nvPr/>
        </p:nvSpPr>
        <p:spPr>
          <a:xfrm>
            <a:off x="3337560" y="2450592"/>
            <a:ext cx="3200400" cy="502920"/>
          </a:xfrm>
          <a:prstGeom prst="rect">
            <a:avLst/>
          </a:prstGeom>
          <a:solidFill>
            <a:srgbClr val="F4F9FF"/>
          </a:solidFill>
          <a:ln w="9525">
            <a:solidFill>
              <a:srgbClr val="BBD7F0"/>
            </a:solidFill>
          </a:ln>
        </p:spPr>
        <p:txBody>
          <a:bodyPr wrap="square" anchor="mid" lIns="45720" rIns="45720" tIns="22860" bIns="22860"/>
          <a:lstStyle/>
          <a:p>
            <a:r>
              <a:rPr lang="en-US" sz="1300" dirty="0">
                <a:solidFill>
                  <a:srgbClr val="1F2937"/>
                </a:solidFill>
              </a:rPr>
              <a:t>Coach</a:t>
            </a:r>
          </a:p>
        </p:txBody>
      </p:sp>
      <p:sp>
        <p:nvSpPr>
          <p:cNvPr id="16" name="Text Box"/>
          <p:cNvSpPr txBox="1"/>
          <p:nvPr/>
        </p:nvSpPr>
        <p:spPr>
          <a:xfrm>
            <a:off x="594360" y="2953512"/>
            <a:ext cx="2743200" cy="502920"/>
          </a:xfrm>
          <a:prstGeom prst="rect">
            <a:avLst/>
          </a:prstGeom>
          <a:solidFill>
            <a:srgbClr val="FFFFFF"/>
          </a:solidFill>
          <a:ln w="9525">
            <a:solidFill>
              <a:srgbClr val="BBD7F0"/>
            </a:solidFill>
          </a:ln>
        </p:spPr>
        <p:txBody>
          <a:bodyPr wrap="square" anchor="mid" lIns="45720" rIns="45720" tIns="22860" bIns="22860"/>
          <a:lstStyle/>
          <a:p>
            <a:r>
              <a:rPr lang="en-US" sz="1300" dirty="0">
                <a:solidFill>
                  <a:srgbClr val="1F2937"/>
                </a:solidFill>
              </a:rPr>
              <a:t>Juan Dela Cruz</a:t>
            </a:r>
          </a:p>
        </p:txBody>
      </p:sp>
      <p:sp>
        <p:nvSpPr>
          <p:cNvPr id="17" name="Text Box"/>
          <p:cNvSpPr txBox="1"/>
          <p:nvPr/>
        </p:nvSpPr>
        <p:spPr>
          <a:xfrm>
            <a:off x="3337560" y="2953512"/>
            <a:ext cx="3200400" cy="502920"/>
          </a:xfrm>
          <a:prstGeom prst="rect">
            <a:avLst/>
          </a:prstGeom>
          <a:solidFill>
            <a:srgbClr val="FFFFFF"/>
          </a:solidFill>
          <a:ln w="9525">
            <a:solidFill>
              <a:srgbClr val="BBD7F0"/>
            </a:solidFill>
          </a:ln>
        </p:spPr>
        <p:txBody>
          <a:bodyPr wrap="square" anchor="mid" lIns="45720" rIns="45720" tIns="22860" bIns="22860"/>
          <a:lstStyle/>
          <a:p>
            <a:r>
              <a:rPr lang="en-US" sz="1300" dirty="0">
                <a:solidFill>
                  <a:srgbClr val="1F2937"/>
                </a:solidFill>
              </a:rPr>
              <a:t>Student-Athlete</a:t>
            </a:r>
          </a:p>
        </p:txBody>
      </p:sp>
      <p:sp>
        <p:nvSpPr>
          <p:cNvPr id="18" name="Text Box"/>
          <p:cNvSpPr txBox="1"/>
          <p:nvPr/>
        </p:nvSpPr>
        <p:spPr>
          <a:xfrm>
            <a:off x="594360" y="3794760"/>
            <a:ext cx="2788920" cy="228600"/>
          </a:xfrm>
          <a:prstGeom prst="rect">
            <a:avLst/>
          </a:prstGeom>
          <a:solidFill>
            <a:srgbClr val="034485"/>
          </a:solidFill>
          <a:ln w="9525">
            <a:solidFill>
              <a:srgbClr val="BBD7F0"/>
            </a:solidFill>
          </a:ln>
        </p:spPr>
        <p:txBody>
          <a:bodyPr wrap="square" anchor="mid" lIns="45720" rIns="45720" tIns="22860" bIns="22860"/>
          <a:lstStyle/>
          <a:p>
            <a:r>
              <a:rPr lang="en-US" sz="1300" dirty="0">
                <a:b/>
                <a:solidFill>
                  <a:srgbClr val="FFFFFF"/>
                </a:solidFill>
              </a:rPr>
              <a:t>Resource</a:t>
            </a:r>
          </a:p>
        </p:txBody>
      </p:sp>
      <p:sp>
        <p:nvSpPr>
          <p:cNvPr id="19" name="Text Box"/>
          <p:cNvSpPr txBox="1"/>
          <p:nvPr/>
        </p:nvSpPr>
        <p:spPr>
          <a:xfrm>
            <a:off x="3383280" y="3794760"/>
            <a:ext cx="2514600" cy="228600"/>
          </a:xfrm>
          <a:prstGeom prst="rect">
            <a:avLst/>
          </a:prstGeom>
          <a:solidFill>
            <a:srgbClr val="034485"/>
          </a:solidFill>
          <a:ln w="9525">
            <a:solidFill>
              <a:srgbClr val="BBD7F0"/>
            </a:solidFill>
          </a:ln>
        </p:spPr>
        <p:txBody>
          <a:bodyPr wrap="square" anchor="mid" lIns="45720" rIns="45720" tIns="22860" bIns="22860"/>
          <a:lstStyle/>
          <a:p>
            <a:r>
              <a:rPr lang="en-US" sz="1300" dirty="0">
                <a:b/>
                <a:solidFill>
                  <a:srgbClr val="FFFFFF"/>
                </a:solidFill>
              </a:rPr>
              <a:t>Administrator</a:t>
            </a:r>
          </a:p>
        </p:txBody>
      </p:sp>
      <p:sp>
        <p:nvSpPr>
          <p:cNvPr id="20" name="Text Box"/>
          <p:cNvSpPr txBox="1"/>
          <p:nvPr/>
        </p:nvSpPr>
        <p:spPr>
          <a:xfrm>
            <a:off x="5897880" y="3794760"/>
            <a:ext cx="2514600" cy="228600"/>
          </a:xfrm>
          <a:prstGeom prst="rect">
            <a:avLst/>
          </a:prstGeom>
          <a:solidFill>
            <a:srgbClr val="034485"/>
          </a:solidFill>
          <a:ln w="9525">
            <a:solidFill>
              <a:srgbClr val="BBD7F0"/>
            </a:solidFill>
          </a:ln>
        </p:spPr>
        <p:txBody>
          <a:bodyPr wrap="square" anchor="mid" lIns="45720" rIns="45720" tIns="22860" bIns="22860"/>
          <a:lstStyle/>
          <a:p>
            <a:r>
              <a:rPr lang="en-US" sz="1300" dirty="0">
                <a:b/>
                <a:solidFill>
                  <a:srgbClr val="FFFFFF"/>
                </a:solidFill>
              </a:rPr>
              <a:t>Coach</a:t>
            </a:r>
          </a:p>
        </p:txBody>
      </p:sp>
      <p:sp>
        <p:nvSpPr>
          <p:cNvPr id="21" name="Text Box"/>
          <p:cNvSpPr txBox="1"/>
          <p:nvPr/>
        </p:nvSpPr>
        <p:spPr>
          <a:xfrm>
            <a:off x="8412480" y="3794760"/>
            <a:ext cx="2971800" cy="228600"/>
          </a:xfrm>
          <a:prstGeom prst="rect">
            <a:avLst/>
          </a:prstGeom>
          <a:solidFill>
            <a:srgbClr val="034485"/>
          </a:solidFill>
          <a:ln w="9525">
            <a:solidFill>
              <a:srgbClr val="BBD7F0"/>
            </a:solidFill>
          </a:ln>
        </p:spPr>
        <p:txBody>
          <a:bodyPr wrap="square" anchor="mid" lIns="45720" rIns="45720" tIns="22860" bIns="22860"/>
          <a:lstStyle/>
          <a:p>
            <a:r>
              <a:rPr lang="en-US" sz="1300" dirty="0">
                <a:b/>
                <a:solidFill>
                  <a:srgbClr val="FFFFFF"/>
                </a:solidFill>
              </a:rPr>
              <a:t>Student-Athlete</a:t>
            </a:r>
          </a:p>
        </p:txBody>
      </p:sp>
      <p:sp>
        <p:nvSpPr>
          <p:cNvPr id="22" name="Text Box"/>
          <p:cNvSpPr txBox="1"/>
          <p:nvPr/>
        </p:nvSpPr>
        <p:spPr>
          <a:xfrm>
            <a:off x="594360" y="4023360"/>
            <a:ext cx="2788920" cy="228600"/>
          </a:xfrm>
          <a:prstGeom prst="rect">
            <a:avLst/>
          </a:prstGeom>
          <a:solidFill>
            <a:srgbClr val="FFFFFF"/>
          </a:solidFill>
          <a:ln w="9525">
            <a:solidFill>
              <a:srgbClr val="BBD7F0"/>
            </a:solidFill>
          </a:ln>
        </p:spPr>
        <p:txBody>
          <a:bodyPr wrap="square" anchor="mid" lIns="45720" rIns="45720" tIns="22860" bIns="22860"/>
          <a:lstStyle/>
          <a:p>
            <a:r>
              <a:rPr lang="en-US" sz="1300" dirty="0">
                <a:solidFill>
                  <a:srgbClr val="1F2937"/>
                </a:solidFill>
              </a:rPr>
              <a:t>User Records</a:t>
            </a:r>
          </a:p>
        </p:txBody>
      </p:sp>
      <p:sp>
        <p:nvSpPr>
          <p:cNvPr id="23" name="Text Box"/>
          <p:cNvSpPr txBox="1"/>
          <p:nvPr/>
        </p:nvSpPr>
        <p:spPr>
          <a:xfrm>
            <a:off x="3383280" y="4023360"/>
            <a:ext cx="2514600" cy="228600"/>
          </a:xfrm>
          <a:prstGeom prst="rect">
            <a:avLst/>
          </a:prstGeom>
          <a:solidFill>
            <a:srgbClr val="FFFFFF"/>
          </a:solidFill>
          <a:ln w="9525">
            <a:solidFill>
              <a:srgbClr val="BBD7F0"/>
            </a:solidFill>
          </a:ln>
        </p:spPr>
        <p:txBody>
          <a:bodyPr wrap="square" anchor="mid" lIns="45720" rIns="45720" tIns="22860" bIns="22860"/>
          <a:lstStyle/>
          <a:p>
            <a:r>
              <a:rPr lang="en-US" sz="1300" dirty="0">
                <a:solidFill>
                  <a:srgbClr val="1F2937"/>
                </a:solidFill>
              </a:rPr>
              <a:t>Read/Write</a:t>
            </a:r>
          </a:p>
        </p:txBody>
      </p:sp>
      <p:sp>
        <p:nvSpPr>
          <p:cNvPr id="24" name="Text Box"/>
          <p:cNvSpPr txBox="1"/>
          <p:nvPr/>
        </p:nvSpPr>
        <p:spPr>
          <a:xfrm>
            <a:off x="5897880" y="4023360"/>
            <a:ext cx="2514600" cy="228600"/>
          </a:xfrm>
          <a:prstGeom prst="rect">
            <a:avLst/>
          </a:prstGeom>
          <a:solidFill>
            <a:srgbClr val="FFFFFF"/>
          </a:solidFill>
          <a:ln w="9525">
            <a:solidFill>
              <a:srgbClr val="BBD7F0"/>
            </a:solidFill>
          </a:ln>
        </p:spPr>
        <p:txBody>
          <a:bodyPr wrap="square" anchor="mid" lIns="45720" rIns="45720" tIns="22860" bIns="22860"/>
          <a:lstStyle/>
          <a:p>
            <a:r>
              <a:rPr lang="en-US" sz="1300" dirty="0">
                <a:solidFill>
                  <a:srgbClr val="1F2937"/>
                </a:solidFill>
              </a:rPr>
              <a:t>Read Only</a:t>
            </a:r>
          </a:p>
        </p:txBody>
      </p:sp>
      <p:sp>
        <p:nvSpPr>
          <p:cNvPr id="25" name="Text Box"/>
          <p:cNvSpPr txBox="1"/>
          <p:nvPr/>
        </p:nvSpPr>
        <p:spPr>
          <a:xfrm>
            <a:off x="8412480" y="4023360"/>
            <a:ext cx="2971800" cy="228600"/>
          </a:xfrm>
          <a:prstGeom prst="rect">
            <a:avLst/>
          </a:prstGeom>
          <a:solidFill>
            <a:srgbClr val="FFFFFF"/>
          </a:solidFill>
          <a:ln w="9525">
            <a:solidFill>
              <a:srgbClr val="BBD7F0"/>
            </a:solidFill>
          </a:ln>
        </p:spPr>
        <p:txBody>
          <a:bodyPr wrap="square" anchor="mid" lIns="45720" rIns="45720" tIns="22860" bIns="22860"/>
          <a:lstStyle/>
          <a:p>
            <a:r>
              <a:rPr lang="en-US" sz="1300" dirty="0">
                <a:solidFill>
                  <a:srgbClr val="1F2937"/>
                </a:solidFill>
              </a:rPr>
              <a:t>Own Record Only</a:t>
            </a:r>
          </a:p>
        </p:txBody>
      </p:sp>
      <p:sp>
        <p:nvSpPr>
          <p:cNvPr id="26" name="Text Box"/>
          <p:cNvSpPr txBox="1"/>
          <p:nvPr/>
        </p:nvSpPr>
        <p:spPr>
          <a:xfrm>
            <a:off x="594360" y="4251960"/>
            <a:ext cx="2788920" cy="228600"/>
          </a:xfrm>
          <a:prstGeom prst="rect">
            <a:avLst/>
          </a:prstGeom>
          <a:solidFill>
            <a:srgbClr val="F4F9FF"/>
          </a:solidFill>
          <a:ln w="9525">
            <a:solidFill>
              <a:srgbClr val="BBD7F0"/>
            </a:solidFill>
          </a:ln>
        </p:spPr>
        <p:txBody>
          <a:bodyPr wrap="square" anchor="mid" lIns="45720" rIns="45720" tIns="22860" bIns="22860"/>
          <a:lstStyle/>
          <a:p>
            <a:r>
              <a:rPr lang="en-US" sz="1300" dirty="0">
                <a:solidFill>
                  <a:srgbClr val="1F2937"/>
                </a:solidFill>
              </a:rPr>
              <a:t>Coach Accounts</a:t>
            </a:r>
          </a:p>
        </p:txBody>
      </p:sp>
      <p:sp>
        <p:nvSpPr>
          <p:cNvPr id="27" name="Text Box"/>
          <p:cNvSpPr txBox="1"/>
          <p:nvPr/>
        </p:nvSpPr>
        <p:spPr>
          <a:xfrm>
            <a:off x="3383280" y="4251960"/>
            <a:ext cx="2514600" cy="228600"/>
          </a:xfrm>
          <a:prstGeom prst="rect">
            <a:avLst/>
          </a:prstGeom>
          <a:solidFill>
            <a:srgbClr val="F4F9FF"/>
          </a:solidFill>
          <a:ln w="9525">
            <a:solidFill>
              <a:srgbClr val="BBD7F0"/>
            </a:solidFill>
          </a:ln>
        </p:spPr>
        <p:txBody>
          <a:bodyPr wrap="square" anchor="mid" lIns="45720" rIns="45720" tIns="22860" bIns="22860"/>
          <a:lstStyle/>
          <a:p>
            <a:r>
              <a:rPr lang="en-US" sz="1300" dirty="0">
                <a:solidFill>
                  <a:srgbClr val="1F2937"/>
                </a:solidFill>
              </a:rPr>
              <a:t>Read/Write</a:t>
            </a:r>
          </a:p>
        </p:txBody>
      </p:sp>
      <p:sp>
        <p:nvSpPr>
          <p:cNvPr id="28" name="Text Box"/>
          <p:cNvSpPr txBox="1"/>
          <p:nvPr/>
        </p:nvSpPr>
        <p:spPr>
          <a:xfrm>
            <a:off x="5897880" y="4251960"/>
            <a:ext cx="2514600" cy="228600"/>
          </a:xfrm>
          <a:prstGeom prst="rect">
            <a:avLst/>
          </a:prstGeom>
          <a:solidFill>
            <a:srgbClr val="F4F9FF"/>
          </a:solidFill>
          <a:ln w="9525">
            <a:solidFill>
              <a:srgbClr val="BBD7F0"/>
            </a:solidFill>
          </a:ln>
        </p:spPr>
        <p:txBody>
          <a:bodyPr wrap="square" anchor="mid" lIns="45720" rIns="45720" tIns="22860" bIns="22860"/>
          <a:lstStyle/>
          <a:p>
            <a:r>
              <a:rPr lang="en-US" sz="1300" dirty="0">
                <a:solidFill>
                  <a:srgbClr val="1F2937"/>
                </a:solidFill>
              </a:rPr>
              <a:t>Own Account Only</a:t>
            </a:r>
          </a:p>
        </p:txBody>
      </p:sp>
      <p:sp>
        <p:nvSpPr>
          <p:cNvPr id="29" name="Text Box"/>
          <p:cNvSpPr txBox="1"/>
          <p:nvPr/>
        </p:nvSpPr>
        <p:spPr>
          <a:xfrm>
            <a:off x="8412480" y="4251960"/>
            <a:ext cx="2971800" cy="228600"/>
          </a:xfrm>
          <a:prstGeom prst="rect">
            <a:avLst/>
          </a:prstGeom>
          <a:solidFill>
            <a:srgbClr val="F4F9FF"/>
          </a:solidFill>
          <a:ln w="9525">
            <a:solidFill>
              <a:srgbClr val="BBD7F0"/>
            </a:solidFill>
          </a:ln>
        </p:spPr>
        <p:txBody>
          <a:bodyPr wrap="square" anchor="mid" lIns="45720" rIns="45720" tIns="22860" bIns="22860"/>
          <a:lstStyle/>
          <a:p>
            <a:r>
              <a:rPr lang="en-US" sz="1300" dirty="0">
                <a:solidFill>
                  <a:srgbClr val="1F2937"/>
                </a:solidFill>
              </a:rPr>
              <a:t>No Access</a:t>
            </a:r>
          </a:p>
        </p:txBody>
      </p:sp>
      <p:sp>
        <p:nvSpPr>
          <p:cNvPr id="30" name="Text Box"/>
          <p:cNvSpPr txBox="1"/>
          <p:nvPr/>
        </p:nvSpPr>
        <p:spPr>
          <a:xfrm>
            <a:off x="594360" y="4480560"/>
            <a:ext cx="2788920" cy="228600"/>
          </a:xfrm>
          <a:prstGeom prst="rect">
            <a:avLst/>
          </a:prstGeom>
          <a:solidFill>
            <a:srgbClr val="FFFFFF"/>
          </a:solidFill>
          <a:ln w="9525">
            <a:solidFill>
              <a:srgbClr val="BBD7F0"/>
            </a:solidFill>
          </a:ln>
        </p:spPr>
        <p:txBody>
          <a:bodyPr wrap="square" anchor="mid" lIns="45720" rIns="45720" tIns="22860" bIns="22860"/>
          <a:lstStyle/>
          <a:p>
            <a:r>
              <a:rPr lang="en-US" sz="1300" dirty="0">
                <a:solidFill>
                  <a:srgbClr val="1F2937"/>
                </a:solidFill>
              </a:rPr>
              <a:t>Applications</a:t>
            </a:r>
          </a:p>
        </p:txBody>
      </p:sp>
      <p:sp>
        <p:nvSpPr>
          <p:cNvPr id="31" name="Text Box"/>
          <p:cNvSpPr txBox="1"/>
          <p:nvPr/>
        </p:nvSpPr>
        <p:spPr>
          <a:xfrm>
            <a:off x="3383280" y="4480560"/>
            <a:ext cx="2514600" cy="228600"/>
          </a:xfrm>
          <a:prstGeom prst="rect">
            <a:avLst/>
          </a:prstGeom>
          <a:solidFill>
            <a:srgbClr val="FFFFFF"/>
          </a:solidFill>
          <a:ln w="9525">
            <a:solidFill>
              <a:srgbClr val="BBD7F0"/>
            </a:solidFill>
          </a:ln>
        </p:spPr>
        <p:txBody>
          <a:bodyPr wrap="square" anchor="mid" lIns="45720" rIns="45720" tIns="22860" bIns="22860"/>
          <a:lstStyle/>
          <a:p>
            <a:r>
              <a:rPr lang="en-US" sz="1300" dirty="0">
                <a:solidFill>
                  <a:srgbClr val="1F2937"/>
                </a:solidFill>
              </a:rPr>
              <a:t>Read Only</a:t>
            </a:r>
          </a:p>
        </p:txBody>
      </p:sp>
      <p:sp>
        <p:nvSpPr>
          <p:cNvPr id="32" name="Text Box"/>
          <p:cNvSpPr txBox="1"/>
          <p:nvPr/>
        </p:nvSpPr>
        <p:spPr>
          <a:xfrm>
            <a:off x="5897880" y="4480560"/>
            <a:ext cx="2514600" cy="228600"/>
          </a:xfrm>
          <a:prstGeom prst="rect">
            <a:avLst/>
          </a:prstGeom>
          <a:solidFill>
            <a:srgbClr val="FFFFFF"/>
          </a:solidFill>
          <a:ln w="9525">
            <a:solidFill>
              <a:srgbClr val="BBD7F0"/>
            </a:solidFill>
          </a:ln>
        </p:spPr>
        <p:txBody>
          <a:bodyPr wrap="square" anchor="mid" lIns="45720" rIns="45720" tIns="22860" bIns="22860"/>
          <a:lstStyle/>
          <a:p>
            <a:r>
              <a:rPr lang="en-US" sz="1300" dirty="0">
                <a:solidFill>
                  <a:srgbClr val="1F2937"/>
                </a:solidFill>
              </a:rPr>
              <a:t>Read/Write</a:t>
            </a:r>
          </a:p>
        </p:txBody>
      </p:sp>
      <p:sp>
        <p:nvSpPr>
          <p:cNvPr id="33" name="Text Box"/>
          <p:cNvSpPr txBox="1"/>
          <p:nvPr/>
        </p:nvSpPr>
        <p:spPr>
          <a:xfrm>
            <a:off x="8412480" y="4480560"/>
            <a:ext cx="2971800" cy="228600"/>
          </a:xfrm>
          <a:prstGeom prst="rect">
            <a:avLst/>
          </a:prstGeom>
          <a:solidFill>
            <a:srgbClr val="FFFFFF"/>
          </a:solidFill>
          <a:ln w="9525">
            <a:solidFill>
              <a:srgbClr val="BBD7F0"/>
            </a:solidFill>
          </a:ln>
        </p:spPr>
        <p:txBody>
          <a:bodyPr wrap="square" anchor="mid" lIns="45720" rIns="45720" tIns="22860" bIns="22860"/>
          <a:lstStyle/>
          <a:p>
            <a:r>
              <a:rPr lang="en-US" sz="1300" dirty="0">
                <a:solidFill>
                  <a:srgbClr val="1F2937"/>
                </a:solidFill>
              </a:rPr>
              <a:t>Submit/View Own</a:t>
            </a:r>
          </a:p>
        </p:txBody>
      </p:sp>
      <p:sp>
        <p:nvSpPr>
          <p:cNvPr id="34" name="Text Box"/>
          <p:cNvSpPr txBox="1"/>
          <p:nvPr/>
        </p:nvSpPr>
        <p:spPr>
          <a:xfrm>
            <a:off x="594360" y="4709160"/>
            <a:ext cx="2788920" cy="228600"/>
          </a:xfrm>
          <a:prstGeom prst="rect">
            <a:avLst/>
          </a:prstGeom>
          <a:solidFill>
            <a:srgbClr val="F4F9FF"/>
          </a:solidFill>
          <a:ln w="9525">
            <a:solidFill>
              <a:srgbClr val="BBD7F0"/>
            </a:solidFill>
          </a:ln>
        </p:spPr>
        <p:txBody>
          <a:bodyPr wrap="square" anchor="mid" lIns="45720" rIns="45720" tIns="22860" bIns="22860"/>
          <a:lstStyle/>
          <a:p>
            <a:r>
              <a:rPr lang="en-US" sz="1300" dirty="0">
                <a:solidFill>
                  <a:srgbClr val="1F2937"/>
                </a:solidFill>
              </a:rPr>
              <a:t>Teams/Roster</a:t>
            </a:r>
          </a:p>
        </p:txBody>
      </p:sp>
      <p:sp>
        <p:nvSpPr>
          <p:cNvPr id="35" name="Text Box"/>
          <p:cNvSpPr txBox="1"/>
          <p:nvPr/>
        </p:nvSpPr>
        <p:spPr>
          <a:xfrm>
            <a:off x="3383280" y="4709160"/>
            <a:ext cx="2514600" cy="228600"/>
          </a:xfrm>
          <a:prstGeom prst="rect">
            <a:avLst/>
          </a:prstGeom>
          <a:solidFill>
            <a:srgbClr val="F4F9FF"/>
          </a:solidFill>
          <a:ln w="9525">
            <a:solidFill>
              <a:srgbClr val="BBD7F0"/>
            </a:solidFill>
          </a:ln>
        </p:spPr>
        <p:txBody>
          <a:bodyPr wrap="square" anchor="mid" lIns="45720" rIns="45720" tIns="22860" bIns="22860"/>
          <a:lstStyle/>
          <a:p>
            <a:r>
              <a:rPr lang="en-US" sz="1300" dirty="0">
                <a:solidFill>
                  <a:srgbClr val="1F2937"/>
                </a:solidFill>
              </a:rPr>
              <a:t>Read Only</a:t>
            </a:r>
          </a:p>
        </p:txBody>
      </p:sp>
      <p:sp>
        <p:nvSpPr>
          <p:cNvPr id="36" name="Text Box"/>
          <p:cNvSpPr txBox="1"/>
          <p:nvPr/>
        </p:nvSpPr>
        <p:spPr>
          <a:xfrm>
            <a:off x="5897880" y="4709160"/>
            <a:ext cx="2514600" cy="228600"/>
          </a:xfrm>
          <a:prstGeom prst="rect">
            <a:avLst/>
          </a:prstGeom>
          <a:solidFill>
            <a:srgbClr val="F4F9FF"/>
          </a:solidFill>
          <a:ln w="9525">
            <a:solidFill>
              <a:srgbClr val="BBD7F0"/>
            </a:solidFill>
          </a:ln>
        </p:spPr>
        <p:txBody>
          <a:bodyPr wrap="square" anchor="mid" lIns="45720" rIns="45720" tIns="22860" bIns="22860"/>
          <a:lstStyle/>
          <a:p>
            <a:r>
              <a:rPr lang="en-US" sz="1300" dirty="0">
                <a:solidFill>
                  <a:srgbClr val="1F2937"/>
                </a:solidFill>
              </a:rPr>
              <a:t>Read/Write</a:t>
            </a:r>
          </a:p>
        </p:txBody>
      </p:sp>
      <p:sp>
        <p:nvSpPr>
          <p:cNvPr id="37" name="Text Box"/>
          <p:cNvSpPr txBox="1"/>
          <p:nvPr/>
        </p:nvSpPr>
        <p:spPr>
          <a:xfrm>
            <a:off x="8412480" y="4709160"/>
            <a:ext cx="2971800" cy="228600"/>
          </a:xfrm>
          <a:prstGeom prst="rect">
            <a:avLst/>
          </a:prstGeom>
          <a:solidFill>
            <a:srgbClr val="F4F9FF"/>
          </a:solidFill>
          <a:ln w="9525">
            <a:solidFill>
              <a:srgbClr val="BBD7F0"/>
            </a:solidFill>
          </a:ln>
        </p:spPr>
        <p:txBody>
          <a:bodyPr wrap="square" anchor="mid" lIns="45720" rIns="45720" tIns="22860" bIns="22860"/>
          <a:lstStyle/>
          <a:p>
            <a:r>
              <a:rPr lang="en-US" sz="1300" dirty="0">
                <a:solidFill>
                  <a:srgbClr val="1F2937"/>
                </a:solidFill>
              </a:rPr>
              <a:t>View/Read Own</a:t>
            </a:r>
          </a:p>
        </p:txBody>
      </p:sp>
      <p:sp>
        <p:nvSpPr>
          <p:cNvPr id="38" name="Text Box"/>
          <p:cNvSpPr txBox="1"/>
          <p:nvPr/>
        </p:nvSpPr>
        <p:spPr>
          <a:xfrm>
            <a:off x="594360" y="4937760"/>
            <a:ext cx="2788920" cy="228600"/>
          </a:xfrm>
          <a:prstGeom prst="rect">
            <a:avLst/>
          </a:prstGeom>
          <a:solidFill>
            <a:srgbClr val="FFFFFF"/>
          </a:solidFill>
          <a:ln w="9525">
            <a:solidFill>
              <a:srgbClr val="BBD7F0"/>
            </a:solidFill>
          </a:ln>
        </p:spPr>
        <p:txBody>
          <a:bodyPr wrap="square" anchor="mid" lIns="45720" rIns="45720" tIns="22860" bIns="22860"/>
          <a:lstStyle/>
          <a:p>
            <a:r>
              <a:rPr lang="en-US" sz="1300" dirty="0">
                <a:solidFill>
                  <a:srgbClr val="1F2937"/>
                </a:solidFill>
              </a:rPr>
              <a:t>Schedules</a:t>
            </a:r>
          </a:p>
        </p:txBody>
      </p:sp>
      <p:sp>
        <p:nvSpPr>
          <p:cNvPr id="39" name="Text Box"/>
          <p:cNvSpPr txBox="1"/>
          <p:nvPr/>
        </p:nvSpPr>
        <p:spPr>
          <a:xfrm>
            <a:off x="3383280" y="4937760"/>
            <a:ext cx="2514600" cy="228600"/>
          </a:xfrm>
          <a:prstGeom prst="rect">
            <a:avLst/>
          </a:prstGeom>
          <a:solidFill>
            <a:srgbClr val="FFFFFF"/>
          </a:solidFill>
          <a:ln w="9525">
            <a:solidFill>
              <a:srgbClr val="BBD7F0"/>
            </a:solidFill>
          </a:ln>
        </p:spPr>
        <p:txBody>
          <a:bodyPr wrap="square" anchor="mid" lIns="45720" rIns="45720" tIns="22860" bIns="22860"/>
          <a:lstStyle/>
          <a:p>
            <a:r>
              <a:rPr lang="en-US" sz="1300" dirty="0">
                <a:solidFill>
                  <a:srgbClr val="1F2937"/>
                </a:solidFill>
              </a:rPr>
              <a:t>Read Only</a:t>
            </a:r>
          </a:p>
        </p:txBody>
      </p:sp>
      <p:sp>
        <p:nvSpPr>
          <p:cNvPr id="40" name="Text Box"/>
          <p:cNvSpPr txBox="1"/>
          <p:nvPr/>
        </p:nvSpPr>
        <p:spPr>
          <a:xfrm>
            <a:off x="5897880" y="4937760"/>
            <a:ext cx="2514600" cy="228600"/>
          </a:xfrm>
          <a:prstGeom prst="rect">
            <a:avLst/>
          </a:prstGeom>
          <a:solidFill>
            <a:srgbClr val="FFFFFF"/>
          </a:solidFill>
          <a:ln w="9525">
            <a:solidFill>
              <a:srgbClr val="BBD7F0"/>
            </a:solidFill>
          </a:ln>
        </p:spPr>
        <p:txBody>
          <a:bodyPr wrap="square" anchor="mid" lIns="45720" rIns="45720" tIns="22860" bIns="22860"/>
          <a:lstStyle/>
          <a:p>
            <a:r>
              <a:rPr lang="en-US" sz="1300" dirty="0">
                <a:solidFill>
                  <a:srgbClr val="1F2937"/>
                </a:solidFill>
              </a:rPr>
              <a:t>Read/Write</a:t>
            </a:r>
          </a:p>
        </p:txBody>
      </p:sp>
      <p:sp>
        <p:nvSpPr>
          <p:cNvPr id="41" name="Text Box"/>
          <p:cNvSpPr txBox="1"/>
          <p:nvPr/>
        </p:nvSpPr>
        <p:spPr>
          <a:xfrm>
            <a:off x="8412480" y="4937760"/>
            <a:ext cx="2971800" cy="228600"/>
          </a:xfrm>
          <a:prstGeom prst="rect">
            <a:avLst/>
          </a:prstGeom>
          <a:solidFill>
            <a:srgbClr val="FFFFFF"/>
          </a:solidFill>
          <a:ln w="9525">
            <a:solidFill>
              <a:srgbClr val="BBD7F0"/>
            </a:solidFill>
          </a:ln>
        </p:spPr>
        <p:txBody>
          <a:bodyPr wrap="square" anchor="mid" lIns="45720" rIns="45720" tIns="22860" bIns="22860"/>
          <a:lstStyle/>
          <a:p>
            <a:r>
              <a:rPr lang="en-US" sz="1300" dirty="0">
                <a:solidFill>
                  <a:srgbClr val="1F2937"/>
                </a:solidFill>
              </a:rPr>
              <a:t>Read Only</a:t>
            </a:r>
          </a:p>
        </p:txBody>
      </p:sp>
      <p:sp>
        <p:nvSpPr>
          <p:cNvPr id="42" name="Text Box"/>
          <p:cNvSpPr txBox="1"/>
          <p:nvPr/>
        </p:nvSpPr>
        <p:spPr>
          <a:xfrm>
            <a:off x="594360" y="5166360"/>
            <a:ext cx="2788920" cy="228600"/>
          </a:xfrm>
          <a:prstGeom prst="rect">
            <a:avLst/>
          </a:prstGeom>
          <a:solidFill>
            <a:srgbClr val="F4F9FF"/>
          </a:solidFill>
          <a:ln w="9525">
            <a:solidFill>
              <a:srgbClr val="BBD7F0"/>
            </a:solidFill>
          </a:ln>
        </p:spPr>
        <p:txBody>
          <a:bodyPr wrap="square" anchor="mid" lIns="45720" rIns="45720" tIns="22860" bIns="22860"/>
          <a:lstStyle/>
          <a:p>
            <a:r>
              <a:rPr lang="en-US" sz="1300" dirty="0">
                <a:solidFill>
                  <a:srgbClr val="1F2937"/>
                </a:solidFill>
              </a:rPr>
              <a:t>Attendance</a:t>
            </a:r>
          </a:p>
        </p:txBody>
      </p:sp>
      <p:sp>
        <p:nvSpPr>
          <p:cNvPr id="43" name="Text Box"/>
          <p:cNvSpPr txBox="1"/>
          <p:nvPr/>
        </p:nvSpPr>
        <p:spPr>
          <a:xfrm>
            <a:off x="3383280" y="5166360"/>
            <a:ext cx="2514600" cy="228600"/>
          </a:xfrm>
          <a:prstGeom prst="rect">
            <a:avLst/>
          </a:prstGeom>
          <a:solidFill>
            <a:srgbClr val="F4F9FF"/>
          </a:solidFill>
          <a:ln w="9525">
            <a:solidFill>
              <a:srgbClr val="BBD7F0"/>
            </a:solidFill>
          </a:ln>
        </p:spPr>
        <p:txBody>
          <a:bodyPr wrap="square" anchor="mid" lIns="45720" rIns="45720" tIns="22860" bIns="22860"/>
          <a:lstStyle/>
          <a:p>
            <a:r>
              <a:rPr lang="en-US" sz="1300" dirty="0">
                <a:solidFill>
                  <a:srgbClr val="1F2937"/>
                </a:solidFill>
              </a:rPr>
              <a:t>Read/Write</a:t>
            </a:r>
          </a:p>
        </p:txBody>
      </p:sp>
      <p:sp>
        <p:nvSpPr>
          <p:cNvPr id="44" name="Text Box"/>
          <p:cNvSpPr txBox="1"/>
          <p:nvPr/>
        </p:nvSpPr>
        <p:spPr>
          <a:xfrm>
            <a:off x="5897880" y="5166360"/>
            <a:ext cx="2514600" cy="228600"/>
          </a:xfrm>
          <a:prstGeom prst="rect">
            <a:avLst/>
          </a:prstGeom>
          <a:solidFill>
            <a:srgbClr val="F4F9FF"/>
          </a:solidFill>
          <a:ln w="9525">
            <a:solidFill>
              <a:srgbClr val="BBD7F0"/>
            </a:solidFill>
          </a:ln>
        </p:spPr>
        <p:txBody>
          <a:bodyPr wrap="square" anchor="mid" lIns="45720" rIns="45720" tIns="22860" bIns="22860"/>
          <a:lstStyle/>
          <a:p>
            <a:r>
              <a:rPr lang="en-US" sz="1300" dirty="0">
                <a:solidFill>
                  <a:srgbClr val="1F2937"/>
                </a:solidFill>
              </a:rPr>
              <a:t>Read/Write</a:t>
            </a:r>
          </a:p>
        </p:txBody>
      </p:sp>
      <p:sp>
        <p:nvSpPr>
          <p:cNvPr id="45" name="Text Box"/>
          <p:cNvSpPr txBox="1"/>
          <p:nvPr/>
        </p:nvSpPr>
        <p:spPr>
          <a:xfrm>
            <a:off x="8412480" y="5166360"/>
            <a:ext cx="2971800" cy="228600"/>
          </a:xfrm>
          <a:prstGeom prst="rect">
            <a:avLst/>
          </a:prstGeom>
          <a:solidFill>
            <a:srgbClr val="F4F9FF"/>
          </a:solidFill>
          <a:ln w="9525">
            <a:solidFill>
              <a:srgbClr val="BBD7F0"/>
            </a:solidFill>
          </a:ln>
        </p:spPr>
        <p:txBody>
          <a:bodyPr wrap="square" anchor="mid" lIns="45720" rIns="45720" tIns="22860" bIns="22860"/>
          <a:lstStyle/>
          <a:p>
            <a:r>
              <a:rPr lang="en-US" sz="1300" dirty="0">
                <a:solidFill>
                  <a:srgbClr val="1F2937"/>
                </a:solidFill>
              </a:rPr>
              <a:t>View Own</a:t>
            </a:r>
          </a:p>
        </p:txBody>
      </p:sp>
      <p:sp>
        <p:nvSpPr>
          <p:cNvPr id="46" name="Text Box"/>
          <p:cNvSpPr txBox="1"/>
          <p:nvPr/>
        </p:nvSpPr>
        <p:spPr>
          <a:xfrm>
            <a:off x="594360" y="5394960"/>
            <a:ext cx="2788920" cy="228600"/>
          </a:xfrm>
          <a:prstGeom prst="rect">
            <a:avLst/>
          </a:prstGeom>
          <a:solidFill>
            <a:srgbClr val="FFFFFF"/>
          </a:solidFill>
          <a:ln w="9525">
            <a:solidFill>
              <a:srgbClr val="BBD7F0"/>
            </a:solidFill>
          </a:ln>
        </p:spPr>
        <p:txBody>
          <a:bodyPr wrap="square" anchor="mid" lIns="45720" rIns="45720" tIns="22860" bIns="22860"/>
          <a:lstStyle/>
          <a:p>
            <a:r>
              <a:rPr lang="en-US" sz="1300" dirty="0">
                <a:solidFill>
                  <a:srgbClr val="1F2937"/>
                </a:solidFill>
              </a:rPr>
              <a:t>Academics</a:t>
            </a:r>
          </a:p>
        </p:txBody>
      </p:sp>
      <p:sp>
        <p:nvSpPr>
          <p:cNvPr id="47" name="Text Box"/>
          <p:cNvSpPr txBox="1"/>
          <p:nvPr/>
        </p:nvSpPr>
        <p:spPr>
          <a:xfrm>
            <a:off x="3383280" y="5394960"/>
            <a:ext cx="2514600" cy="228600"/>
          </a:xfrm>
          <a:prstGeom prst="rect">
            <a:avLst/>
          </a:prstGeom>
          <a:solidFill>
            <a:srgbClr val="FFFFFF"/>
          </a:solidFill>
          <a:ln w="9525">
            <a:solidFill>
              <a:srgbClr val="BBD7F0"/>
            </a:solidFill>
          </a:ln>
        </p:spPr>
        <p:txBody>
          <a:bodyPr wrap="square" anchor="mid" lIns="45720" rIns="45720" tIns="22860" bIns="22860"/>
          <a:lstStyle/>
          <a:p>
            <a:r>
              <a:rPr lang="en-US" sz="1300" dirty="0">
                <a:solidFill>
                  <a:srgbClr val="1F2937"/>
                </a:solidFill>
              </a:rPr>
              <a:t>Read/Write</a:t>
            </a:r>
          </a:p>
        </p:txBody>
      </p:sp>
      <p:sp>
        <p:nvSpPr>
          <p:cNvPr id="48" name="Text Box"/>
          <p:cNvSpPr txBox="1"/>
          <p:nvPr/>
        </p:nvSpPr>
        <p:spPr>
          <a:xfrm>
            <a:off x="5897880" y="5394960"/>
            <a:ext cx="2514600" cy="228600"/>
          </a:xfrm>
          <a:prstGeom prst="rect">
            <a:avLst/>
          </a:prstGeom>
          <a:solidFill>
            <a:srgbClr val="FFFFFF"/>
          </a:solidFill>
          <a:ln w="9525">
            <a:solidFill>
              <a:srgbClr val="BBD7F0"/>
            </a:solidFill>
          </a:ln>
        </p:spPr>
        <p:txBody>
          <a:bodyPr wrap="square" anchor="mid" lIns="45720" rIns="45720" tIns="22860" bIns="22860"/>
          <a:lstStyle/>
          <a:p>
            <a:r>
              <a:rPr lang="en-US" sz="1300" dirty="0">
                <a:solidFill>
                  <a:srgbClr val="1F2937"/>
                </a:solidFill>
              </a:rPr>
              <a:t>Read Only</a:t>
            </a:r>
          </a:p>
        </p:txBody>
      </p:sp>
      <p:sp>
        <p:nvSpPr>
          <p:cNvPr id="49" name="Text Box"/>
          <p:cNvSpPr txBox="1"/>
          <p:nvPr/>
        </p:nvSpPr>
        <p:spPr>
          <a:xfrm>
            <a:off x="8412480" y="5394960"/>
            <a:ext cx="2971800" cy="228600"/>
          </a:xfrm>
          <a:prstGeom prst="rect">
            <a:avLst/>
          </a:prstGeom>
          <a:solidFill>
            <a:srgbClr val="FFFFFF"/>
          </a:solidFill>
          <a:ln w="9525">
            <a:solidFill>
              <a:srgbClr val="BBD7F0"/>
            </a:solidFill>
          </a:ln>
        </p:spPr>
        <p:txBody>
          <a:bodyPr wrap="square" anchor="mid" lIns="45720" rIns="45720" tIns="22860" bIns="22860"/>
          <a:lstStyle/>
          <a:p>
            <a:r>
              <a:rPr lang="en-US" sz="1300" dirty="0">
                <a:solidFill>
                  <a:srgbClr val="1F2937"/>
                </a:solidFill>
              </a:rPr>
              <a:t>Submit/View Own</a:t>
            </a:r>
          </a:p>
        </p:txBody>
      </p:sp>
      <p:sp>
        <p:nvSpPr>
          <p:cNvPr id="50" name="Text Box"/>
          <p:cNvSpPr txBox="1"/>
          <p:nvPr/>
        </p:nvSpPr>
        <p:spPr>
          <a:xfrm>
            <a:off x="594360" y="5623560"/>
            <a:ext cx="2788920" cy="228600"/>
          </a:xfrm>
          <a:prstGeom prst="rect">
            <a:avLst/>
          </a:prstGeom>
          <a:solidFill>
            <a:srgbClr val="F4F9FF"/>
          </a:solidFill>
          <a:ln w="9525">
            <a:solidFill>
              <a:srgbClr val="BBD7F0"/>
            </a:solidFill>
          </a:ln>
        </p:spPr>
        <p:txBody>
          <a:bodyPr wrap="square" anchor="mid" lIns="45720" rIns="45720" tIns="22860" bIns="22860"/>
          <a:lstStyle/>
          <a:p>
            <a:r>
              <a:rPr lang="en-US" sz="1300" dirty="0">
                <a:solidFill>
                  <a:srgbClr val="1F2937"/>
                </a:solidFill>
              </a:rPr>
              <a:t>Documents</a:t>
            </a:r>
          </a:p>
        </p:txBody>
      </p:sp>
      <p:sp>
        <p:nvSpPr>
          <p:cNvPr id="51" name="Text Box"/>
          <p:cNvSpPr txBox="1"/>
          <p:nvPr/>
        </p:nvSpPr>
        <p:spPr>
          <a:xfrm>
            <a:off x="3383280" y="5623560"/>
            <a:ext cx="2514600" cy="228600"/>
          </a:xfrm>
          <a:prstGeom prst="rect">
            <a:avLst/>
          </a:prstGeom>
          <a:solidFill>
            <a:srgbClr val="F4F9FF"/>
          </a:solidFill>
          <a:ln w="9525">
            <a:solidFill>
              <a:srgbClr val="BBD7F0"/>
            </a:solidFill>
          </a:ln>
        </p:spPr>
        <p:txBody>
          <a:bodyPr wrap="square" anchor="mid" lIns="45720" rIns="45720" tIns="22860" bIns="22860"/>
          <a:lstStyle/>
          <a:p>
            <a:r>
              <a:rPr lang="en-US" sz="1300" dirty="0">
                <a:solidFill>
                  <a:srgbClr val="1F2937"/>
                </a:solidFill>
              </a:rPr>
              <a:t>Read/Write</a:t>
            </a:r>
          </a:p>
        </p:txBody>
      </p:sp>
      <p:sp>
        <p:nvSpPr>
          <p:cNvPr id="52" name="Text Box"/>
          <p:cNvSpPr txBox="1"/>
          <p:nvPr/>
        </p:nvSpPr>
        <p:spPr>
          <a:xfrm>
            <a:off x="5897880" y="5623560"/>
            <a:ext cx="2514600" cy="228600"/>
          </a:xfrm>
          <a:prstGeom prst="rect">
            <a:avLst/>
          </a:prstGeom>
          <a:solidFill>
            <a:srgbClr val="F4F9FF"/>
          </a:solidFill>
          <a:ln w="9525">
            <a:solidFill>
              <a:srgbClr val="BBD7F0"/>
            </a:solidFill>
          </a:ln>
        </p:spPr>
        <p:txBody>
          <a:bodyPr wrap="square" anchor="mid" lIns="45720" rIns="45720" tIns="22860" bIns="22860"/>
          <a:lstStyle/>
          <a:p>
            <a:r>
              <a:rPr lang="en-US" sz="1300" dirty="0">
                <a:solidFill>
                  <a:srgbClr val="1F2937"/>
                </a:solidFill>
              </a:rPr>
              <a:t>Read Only</a:t>
            </a:r>
          </a:p>
        </p:txBody>
      </p:sp>
      <p:sp>
        <p:nvSpPr>
          <p:cNvPr id="53" name="Text Box"/>
          <p:cNvSpPr txBox="1"/>
          <p:nvPr/>
        </p:nvSpPr>
        <p:spPr>
          <a:xfrm>
            <a:off x="8412480" y="5623560"/>
            <a:ext cx="2971800" cy="228600"/>
          </a:xfrm>
          <a:prstGeom prst="rect">
            <a:avLst/>
          </a:prstGeom>
          <a:solidFill>
            <a:srgbClr val="F4F9FF"/>
          </a:solidFill>
          <a:ln w="9525">
            <a:solidFill>
              <a:srgbClr val="BBD7F0"/>
            </a:solidFill>
          </a:ln>
        </p:spPr>
        <p:txBody>
          <a:bodyPr wrap="square" anchor="mid" lIns="45720" rIns="45720" tIns="22860" bIns="22860"/>
          <a:lstStyle/>
          <a:p>
            <a:r>
              <a:rPr lang="en-US" sz="1300" dirty="0">
                <a:solidFill>
                  <a:srgbClr val="1F2937"/>
                </a:solidFill>
              </a:rPr>
              <a:t>Upload/View Own</a:t>
            </a:r>
          </a:p>
        </p:txBody>
      </p:sp>
      <p:sp>
        <p:nvSpPr>
          <p:cNvPr id="54" name="Text Box"/>
          <p:cNvSpPr txBox="1"/>
          <p:nvPr/>
        </p:nvSpPr>
        <p:spPr>
          <a:xfrm>
            <a:off x="594360" y="5852160"/>
            <a:ext cx="2788920" cy="228600"/>
          </a:xfrm>
          <a:prstGeom prst="rect">
            <a:avLst/>
          </a:prstGeom>
          <a:solidFill>
            <a:srgbClr val="FFFFFF"/>
          </a:solidFill>
          <a:ln w="9525">
            <a:solidFill>
              <a:srgbClr val="BBD7F0"/>
            </a:solidFill>
          </a:ln>
        </p:spPr>
        <p:txBody>
          <a:bodyPr wrap="square" anchor="mid" lIns="45720" rIns="45720" tIns="22860" bIns="22860"/>
          <a:lstStyle/>
          <a:p>
            <a:r>
              <a:rPr lang="en-US" sz="1300" dirty="0">
                <a:solidFill>
                  <a:srgbClr val="1F2937"/>
                </a:solidFill>
              </a:rPr>
              <a:t>Reports</a:t>
            </a:r>
          </a:p>
        </p:txBody>
      </p:sp>
      <p:sp>
        <p:nvSpPr>
          <p:cNvPr id="55" name="Text Box"/>
          <p:cNvSpPr txBox="1"/>
          <p:nvPr/>
        </p:nvSpPr>
        <p:spPr>
          <a:xfrm>
            <a:off x="3383280" y="5852160"/>
            <a:ext cx="2514600" cy="228600"/>
          </a:xfrm>
          <a:prstGeom prst="rect">
            <a:avLst/>
          </a:prstGeom>
          <a:solidFill>
            <a:srgbClr val="FFFFFF"/>
          </a:solidFill>
          <a:ln w="9525">
            <a:solidFill>
              <a:srgbClr val="BBD7F0"/>
            </a:solidFill>
          </a:ln>
        </p:spPr>
        <p:txBody>
          <a:bodyPr wrap="square" anchor="mid" lIns="45720" rIns="45720" tIns="22860" bIns="22860"/>
          <a:lstStyle/>
          <a:p>
            <a:r>
              <a:rPr lang="en-US" sz="1300" dirty="0">
                <a:solidFill>
                  <a:srgbClr val="1F2937"/>
                </a:solidFill>
              </a:rPr>
              <a:t>Read/Write</a:t>
            </a:r>
          </a:p>
        </p:txBody>
      </p:sp>
      <p:sp>
        <p:nvSpPr>
          <p:cNvPr id="56" name="Text Box"/>
          <p:cNvSpPr txBox="1"/>
          <p:nvPr/>
        </p:nvSpPr>
        <p:spPr>
          <a:xfrm>
            <a:off x="5897880" y="5852160"/>
            <a:ext cx="2514600" cy="228600"/>
          </a:xfrm>
          <a:prstGeom prst="rect">
            <a:avLst/>
          </a:prstGeom>
          <a:solidFill>
            <a:srgbClr val="FFFFFF"/>
          </a:solidFill>
          <a:ln w="9525">
            <a:solidFill>
              <a:srgbClr val="BBD7F0"/>
            </a:solidFill>
          </a:ln>
        </p:spPr>
        <p:txBody>
          <a:bodyPr wrap="square" anchor="mid" lIns="45720" rIns="45720" tIns="22860" bIns="22860"/>
          <a:lstStyle/>
          <a:p>
            <a:r>
              <a:rPr lang="en-US" sz="1300" dirty="0">
                <a:solidFill>
                  <a:srgbClr val="1F2937"/>
                </a:solidFill>
              </a:rPr>
              <a:t>Limited Read</a:t>
            </a:r>
          </a:p>
        </p:txBody>
      </p:sp>
      <p:sp>
        <p:nvSpPr>
          <p:cNvPr id="57" name="Text Box"/>
          <p:cNvSpPr txBox="1"/>
          <p:nvPr/>
        </p:nvSpPr>
        <p:spPr>
          <a:xfrm>
            <a:off x="8412480" y="5852160"/>
            <a:ext cx="2971800" cy="228600"/>
          </a:xfrm>
          <a:prstGeom prst="rect">
            <a:avLst/>
          </a:prstGeom>
          <a:solidFill>
            <a:srgbClr val="FFFFFF"/>
          </a:solidFill>
          <a:ln w="9525">
            <a:solidFill>
              <a:srgbClr val="BBD7F0"/>
            </a:solidFill>
          </a:ln>
        </p:spPr>
        <p:txBody>
          <a:bodyPr wrap="square" anchor="mid" lIns="45720" rIns="45720" tIns="22860" bIns="22860"/>
          <a:lstStyle/>
          <a:p>
            <a:r>
              <a:rPr lang="en-US" sz="1300" dirty="0">
                <a:solidFill>
                  <a:srgbClr val="1F2937"/>
                </a:solidFill>
              </a:rPr>
              <a:t>No Access</a:t>
            </a:r>
          </a:p>
        </p:txBody>
      </p:sp>
      <p:sp>
        <p:nvSpPr>
          <p:cNvPr id="58" name="Text Box"/>
          <p:cNvSpPr txBox="1"/>
          <p:nvPr/>
        </p:nvSpPr>
        <p:spPr>
          <a:xfrm>
            <a:off x="594360" y="6080760"/>
            <a:ext cx="2788920" cy="228600"/>
          </a:xfrm>
          <a:prstGeom prst="rect">
            <a:avLst/>
          </a:prstGeom>
          <a:solidFill>
            <a:srgbClr val="F4F9FF"/>
          </a:solidFill>
          <a:ln w="9525">
            <a:solidFill>
              <a:srgbClr val="BBD7F0"/>
            </a:solidFill>
          </a:ln>
        </p:spPr>
        <p:txBody>
          <a:bodyPr wrap="square" anchor="mid" lIns="45720" rIns="45720" tIns="22860" bIns="22860"/>
          <a:lstStyle/>
          <a:p>
            <a:r>
              <a:rPr lang="en-US" sz="1300" dirty="0">
                <a:solidFill>
                  <a:srgbClr val="1F2937"/>
                </a:solidFill>
              </a:rPr>
              <a:t>Announcements</a:t>
            </a:r>
          </a:p>
        </p:txBody>
      </p:sp>
      <p:sp>
        <p:nvSpPr>
          <p:cNvPr id="59" name="Text Box"/>
          <p:cNvSpPr txBox="1"/>
          <p:nvPr/>
        </p:nvSpPr>
        <p:spPr>
          <a:xfrm>
            <a:off x="3383280" y="6080760"/>
            <a:ext cx="2514600" cy="228600"/>
          </a:xfrm>
          <a:prstGeom prst="rect">
            <a:avLst/>
          </a:prstGeom>
          <a:solidFill>
            <a:srgbClr val="F4F9FF"/>
          </a:solidFill>
          <a:ln w="9525">
            <a:solidFill>
              <a:srgbClr val="BBD7F0"/>
            </a:solidFill>
          </a:ln>
        </p:spPr>
        <p:txBody>
          <a:bodyPr wrap="square" anchor="mid" lIns="45720" rIns="45720" tIns="22860" bIns="22860"/>
          <a:lstStyle/>
          <a:p>
            <a:r>
              <a:rPr lang="en-US" sz="1300" dirty="0">
                <a:solidFill>
                  <a:srgbClr val="1F2937"/>
                </a:solidFill>
              </a:rPr>
              <a:t>Read/Write</a:t>
            </a:r>
          </a:p>
        </p:txBody>
      </p:sp>
      <p:sp>
        <p:nvSpPr>
          <p:cNvPr id="60" name="Text Box"/>
          <p:cNvSpPr txBox="1"/>
          <p:nvPr/>
        </p:nvSpPr>
        <p:spPr>
          <a:xfrm>
            <a:off x="5897880" y="6080760"/>
            <a:ext cx="2514600" cy="228600"/>
          </a:xfrm>
          <a:prstGeom prst="rect">
            <a:avLst/>
          </a:prstGeom>
          <a:solidFill>
            <a:srgbClr val="F4F9FF"/>
          </a:solidFill>
          <a:ln w="9525">
            <a:solidFill>
              <a:srgbClr val="BBD7F0"/>
            </a:solidFill>
          </a:ln>
        </p:spPr>
        <p:txBody>
          <a:bodyPr wrap="square" anchor="mid" lIns="45720" rIns="45720" tIns="22860" bIns="22860"/>
          <a:lstStyle/>
          <a:p>
            <a:r>
              <a:rPr lang="en-US" sz="1300" dirty="0">
                <a:solidFill>
                  <a:srgbClr val="1F2937"/>
                </a:solidFill>
              </a:rPr>
              <a:t>Read Only</a:t>
            </a:r>
          </a:p>
        </p:txBody>
      </p:sp>
      <p:sp>
        <p:nvSpPr>
          <p:cNvPr id="61" name="Text Box"/>
          <p:cNvSpPr txBox="1"/>
          <p:nvPr/>
        </p:nvSpPr>
        <p:spPr>
          <a:xfrm>
            <a:off x="8412480" y="6080760"/>
            <a:ext cx="2971800" cy="228600"/>
          </a:xfrm>
          <a:prstGeom prst="rect">
            <a:avLst/>
          </a:prstGeom>
          <a:solidFill>
            <a:srgbClr val="F4F9FF"/>
          </a:solidFill>
          <a:ln w="9525">
            <a:solidFill>
              <a:srgbClr val="BBD7F0"/>
            </a:solidFill>
          </a:ln>
        </p:spPr>
        <p:txBody>
          <a:bodyPr wrap="square" anchor="mid" lIns="45720" rIns="45720" tIns="22860" bIns="22860"/>
          <a:lstStyle/>
          <a:p>
            <a:r>
              <a:rPr lang="en-US" sz="1300" dirty="0">
                <a:solidFill>
                  <a:srgbClr val="1F2937"/>
                </a:solidFill>
              </a:rPr>
              <a:t>Read Only</a:t>
            </a:r>
          </a:p>
        </p:txBody>
      </p:sp>
      <p:sp>
        <p:nvSpPr>
          <p:cNvPr id="62" name="Text Box"/>
          <p:cNvSpPr txBox="1"/>
          <p:nvPr/>
        </p:nvSpPr>
        <p:spPr>
          <a:xfrm>
            <a:off x="594360" y="6309360"/>
            <a:ext cx="2788920" cy="228600"/>
          </a:xfrm>
          <a:prstGeom prst="rect">
            <a:avLst/>
          </a:prstGeom>
          <a:solidFill>
            <a:srgbClr val="FFFFFF"/>
          </a:solidFill>
          <a:ln w="9525">
            <a:solidFill>
              <a:srgbClr val="BBD7F0"/>
            </a:solidFill>
          </a:ln>
        </p:spPr>
        <p:txBody>
          <a:bodyPr wrap="square" anchor="mid" lIns="45720" rIns="45720" tIns="22860" bIns="22860"/>
          <a:lstStyle/>
          <a:p>
            <a:r>
              <a:rPr lang="en-US" sz="1300" dirty="0">
                <a:solidFill>
                  <a:srgbClr val="1F2937"/>
                </a:solidFill>
              </a:rPr>
              <a:t>Audit Trail</a:t>
            </a:r>
          </a:p>
        </p:txBody>
      </p:sp>
      <p:sp>
        <p:nvSpPr>
          <p:cNvPr id="63" name="Text Box"/>
          <p:cNvSpPr txBox="1"/>
          <p:nvPr/>
        </p:nvSpPr>
        <p:spPr>
          <a:xfrm>
            <a:off x="3383280" y="6309360"/>
            <a:ext cx="2514600" cy="228600"/>
          </a:xfrm>
          <a:prstGeom prst="rect">
            <a:avLst/>
          </a:prstGeom>
          <a:solidFill>
            <a:srgbClr val="FFFFFF"/>
          </a:solidFill>
          <a:ln w="9525">
            <a:solidFill>
              <a:srgbClr val="BBD7F0"/>
            </a:solidFill>
          </a:ln>
        </p:spPr>
        <p:txBody>
          <a:bodyPr wrap="square" anchor="mid" lIns="45720" rIns="45720" tIns="22860" bIns="22860"/>
          <a:lstStyle/>
          <a:p>
            <a:r>
              <a:rPr lang="en-US" sz="1300" dirty="0">
                <a:solidFill>
                  <a:srgbClr val="1F2937"/>
                </a:solidFill>
              </a:rPr>
              <a:t>Read Only</a:t>
            </a:r>
          </a:p>
        </p:txBody>
      </p:sp>
      <p:sp>
        <p:nvSpPr>
          <p:cNvPr id="64" name="Text Box"/>
          <p:cNvSpPr txBox="1"/>
          <p:nvPr/>
        </p:nvSpPr>
        <p:spPr>
          <a:xfrm>
            <a:off x="5897880" y="6309360"/>
            <a:ext cx="2514600" cy="228600"/>
          </a:xfrm>
          <a:prstGeom prst="rect">
            <a:avLst/>
          </a:prstGeom>
          <a:solidFill>
            <a:srgbClr val="FFFFFF"/>
          </a:solidFill>
          <a:ln w="9525">
            <a:solidFill>
              <a:srgbClr val="BBD7F0"/>
            </a:solidFill>
          </a:ln>
        </p:spPr>
        <p:txBody>
          <a:bodyPr wrap="square" anchor="mid" lIns="45720" rIns="45720" tIns="22860" bIns="22860"/>
          <a:lstStyle/>
          <a:p>
            <a:r>
              <a:rPr lang="en-US" sz="1300" dirty="0">
                <a:solidFill>
                  <a:srgbClr val="1F2937"/>
                </a:solidFill>
              </a:rPr>
              <a:t>No Access</a:t>
            </a:r>
          </a:p>
        </p:txBody>
      </p:sp>
      <p:sp>
        <p:nvSpPr>
          <p:cNvPr id="65" name="Text Box"/>
          <p:cNvSpPr txBox="1"/>
          <p:nvPr/>
        </p:nvSpPr>
        <p:spPr>
          <a:xfrm>
            <a:off x="8412480" y="6309360"/>
            <a:ext cx="2971800" cy="228600"/>
          </a:xfrm>
          <a:prstGeom prst="rect">
            <a:avLst/>
          </a:prstGeom>
          <a:solidFill>
            <a:srgbClr val="FFFFFF"/>
          </a:solidFill>
          <a:ln w="9525">
            <a:solidFill>
              <a:srgbClr val="BBD7F0"/>
            </a:solidFill>
          </a:ln>
        </p:spPr>
        <p:txBody>
          <a:bodyPr wrap="square" anchor="mid" lIns="45720" rIns="45720" tIns="22860" bIns="22860"/>
          <a:lstStyle/>
          <a:p>
            <a:r>
              <a:rPr lang="en-US" sz="1300" dirty="0">
                <a:solidFill>
                  <a:srgbClr val="1F2937"/>
                </a:solidFill>
              </a:rPr>
              <a:t>No Access</a:t>
            </a:r>
          </a:p>
        </p:txBody>
      </p:sp>
      <p:sp>
        <p:nvSpPr>
          <p:cNvPr id="3" name="Text Box"/>
          <p:cNvSpPr txBox="1"/>
          <p:nvPr/>
        </p:nvSpPr>
        <p:spPr>
          <a:xfrm>
            <a:off x="411480" y="6446520"/>
            <a:ext cx="11384280" cy="228600"/>
          </a:xfrm>
          <a:prstGeom prst="rect">
            <a:avLst/>
          </a:prstGeom>
          <a:noFill/>
          <a:ln>
            <a:noFill/>
          </a:ln>
        </p:spPr>
        <p:txBody>
          <a:bodyPr wrap="square" anchor="top" lIns="0" rIns="91440" tIns="0" bIns="0"/>
          <a:lstStyle/>
          <a:p>
            <a:r>
              <a:rPr lang="en-US" sz="900" dirty="0">
                <a:solidFill>
                  <a:srgbClr val="64748B"/>
                </a:solidFill>
              </a:rPr>
              <a:t>RBAC 1</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2192000" cy="6858000"/>
          <a:chOff x="0" y="0"/>
          <a:chExt cx="12192000" cy="6858000"/>
        </a:xfrm>
      </p:grpSpPr>
      <p:sp>
        <p:nvSpPr>
          <p:cNvPr id="2" name="Text Box"/>
          <p:cNvSpPr txBox="1"/>
          <p:nvPr/>
        </p:nvSpPr>
        <p:spPr>
          <a:xfrm>
            <a:off x="0" y="0"/>
            <a:ext cx="12192000" cy="530352"/>
          </a:xfrm>
          <a:prstGeom prst="rect">
            <a:avLst/>
          </a:prstGeom>
          <a:solidFill>
            <a:srgbClr val="034485"/>
          </a:solidFill>
          <a:ln>
            <a:noFill/>
          </a:ln>
        </p:spPr>
        <p:txBody>
          <a:bodyPr wrap="square" anchor="mid" lIns="384048" rIns="91440" tIns="109728" bIns="109728"/>
          <a:lstStyle/>
          <a:p>
            <a:r>
              <a:rPr lang="en-US" sz="1300" dirty="0">
                <a:b/>
                <a:solidFill>
                  <a:srgbClr val="FFFFFF"/>
                </a:solidFill>
              </a:rPr>
              <a:t>Asian College Varsity Management Information Security Policy</a:t>
            </a:r>
          </a:p>
        </p:txBody>
      </p:sp>
      <p:sp>
        <p:nvSpPr>
          <p:cNvPr id="4" name="Text Box"/>
          <p:cNvSpPr txBox="1"/>
          <p:nvPr/>
        </p:nvSpPr>
        <p:spPr>
          <a:xfrm>
            <a:off x="502920" y="749808"/>
            <a:ext cx="10881360" cy="502920"/>
          </a:xfrm>
          <a:prstGeom prst="rect">
            <a:avLst/>
          </a:prstGeom>
          <a:noFill/>
          <a:ln>
            <a:noFill/>
          </a:ln>
        </p:spPr>
        <p:txBody>
          <a:bodyPr wrap="square" anchor="top" lIns="0" rIns="91440" tIns="0" bIns="0"/>
          <a:lstStyle/>
          <a:p>
            <a:r>
              <a:rPr lang="en-US" sz="2700" dirty="0">
                <a:b/>
                <a:solidFill>
                  <a:srgbClr val="102A43"/>
                </a:solidFill>
              </a:rPr>
              <a:t>User Access Level Based on Role</a:t>
            </a:r>
          </a:p>
        </p:txBody>
      </p:sp>
      <p:sp>
        <p:nvSpPr>
          <p:cNvPr id="5" name="Text Box"/>
          <p:cNvSpPr txBox="1"/>
          <p:nvPr/>
        </p:nvSpPr>
        <p:spPr>
          <a:xfrm>
            <a:off x="521207" y="1216152"/>
            <a:ext cx="10241280" cy="301752"/>
          </a:xfrm>
          <a:prstGeom prst="rect">
            <a:avLst/>
          </a:prstGeom>
          <a:noFill/>
          <a:ln>
            <a:noFill/>
          </a:ln>
        </p:spPr>
        <p:txBody>
          <a:bodyPr wrap="square" anchor="top" lIns="0" rIns="91440" tIns="0" bIns="0"/>
          <a:lstStyle/>
          <a:p>
            <a:r>
              <a:rPr lang="en-US" sz="1400" dirty="0">
                <a:solidFill>
                  <a:srgbClr val="64748B"/>
                </a:solidFill>
              </a:rPr>
              <a:t>Examples of effective permissions after role assignment</a:t>
            </a:r>
          </a:p>
        </p:txBody>
      </p:sp>
      <p:sp>
        <p:nvSpPr>
          <p:cNvPr id="10" name="Text Box"/>
          <p:cNvSpPr txBox="1"/>
          <p:nvPr/>
        </p:nvSpPr>
        <p:spPr>
          <a:xfrm>
            <a:off x="502920" y="1417320"/>
            <a:ext cx="2377440" cy="411480"/>
          </a:xfrm>
          <a:prstGeom prst="rect">
            <a:avLst/>
          </a:prstGeom>
          <a:solidFill>
            <a:srgbClr val="034485"/>
          </a:solidFill>
          <a:ln w="9525">
            <a:solidFill>
              <a:srgbClr val="BBD7F0"/>
            </a:solidFill>
          </a:ln>
        </p:spPr>
        <p:txBody>
          <a:bodyPr wrap="square" anchor="mid" lIns="45720" rIns="45720" tIns="22860" bIns="22860"/>
          <a:lstStyle/>
          <a:p>
            <a:r>
              <a:rPr lang="en-US" sz="1300" dirty="0">
                <a:b/>
                <a:solidFill>
                  <a:srgbClr val="FFFFFF"/>
                </a:solidFill>
              </a:rPr>
              <a:t>User</a:t>
            </a:r>
          </a:p>
        </p:txBody>
      </p:sp>
      <p:sp>
        <p:nvSpPr>
          <p:cNvPr id="11" name="Text Box"/>
          <p:cNvSpPr txBox="1"/>
          <p:nvPr/>
        </p:nvSpPr>
        <p:spPr>
          <a:xfrm>
            <a:off x="2880360" y="1417320"/>
            <a:ext cx="5623560" cy="411480"/>
          </a:xfrm>
          <a:prstGeom prst="rect">
            <a:avLst/>
          </a:prstGeom>
          <a:solidFill>
            <a:srgbClr val="034485"/>
          </a:solidFill>
          <a:ln w="9525">
            <a:solidFill>
              <a:srgbClr val="BBD7F0"/>
            </a:solidFill>
          </a:ln>
        </p:spPr>
        <p:txBody>
          <a:bodyPr wrap="square" anchor="mid" lIns="45720" rIns="45720" tIns="22860" bIns="22860"/>
          <a:lstStyle/>
          <a:p>
            <a:r>
              <a:rPr lang="en-US" sz="1300" dirty="0">
                <a:b/>
                <a:solidFill>
                  <a:srgbClr val="FFFFFF"/>
                </a:solidFill>
              </a:rPr>
              <a:t>Resource</a:t>
            </a:r>
          </a:p>
        </p:txBody>
      </p:sp>
      <p:sp>
        <p:nvSpPr>
          <p:cNvPr id="12" name="Text Box"/>
          <p:cNvSpPr txBox="1"/>
          <p:nvPr/>
        </p:nvSpPr>
        <p:spPr>
          <a:xfrm>
            <a:off x="8503920" y="1417320"/>
            <a:ext cx="3474720" cy="411480"/>
          </a:xfrm>
          <a:prstGeom prst="rect">
            <a:avLst/>
          </a:prstGeom>
          <a:solidFill>
            <a:srgbClr val="034485"/>
          </a:solidFill>
          <a:ln w="9525">
            <a:solidFill>
              <a:srgbClr val="BBD7F0"/>
            </a:solidFill>
          </a:ln>
        </p:spPr>
        <p:txBody>
          <a:bodyPr wrap="square" anchor="mid" lIns="45720" rIns="45720" tIns="22860" bIns="22860"/>
          <a:lstStyle/>
          <a:p>
            <a:r>
              <a:rPr lang="en-US" sz="1200" dirty="0">
                <a:b/>
                <a:solidFill>
                  <a:srgbClr val="FFFFFF"/>
                </a:solidFill>
              </a:rPr>
              <a:t>Access Level Based on Role</a:t>
            </a:r>
          </a:p>
        </p:txBody>
      </p:sp>
      <p:sp>
        <p:nvSpPr>
          <p:cNvPr id="13" name="Text Box"/>
          <p:cNvSpPr txBox="1"/>
          <p:nvPr/>
        </p:nvSpPr>
        <p:spPr>
          <a:xfrm>
            <a:off x="502920" y="1828800"/>
            <a:ext cx="2377440" cy="411480"/>
          </a:xfrm>
          <a:prstGeom prst="rect">
            <a:avLst/>
          </a:prstGeom>
          <a:solidFill>
            <a:srgbClr val="FFFFFF"/>
          </a:solidFill>
          <a:ln w="9525">
            <a:solidFill>
              <a:srgbClr val="BBD7F0"/>
            </a:solidFill>
          </a:ln>
        </p:spPr>
        <p:txBody>
          <a:bodyPr wrap="square" anchor="mid" lIns="45720" rIns="45720" tIns="22860" bIns="22860"/>
          <a:lstStyle/>
          <a:p>
            <a:r>
              <a:rPr lang="en-US" sz="1300" dirty="0">
                <a:solidFill>
                  <a:srgbClr val="1F2937"/>
                </a:solidFill>
              </a:rPr>
              <a:t>Maria Santos</a:t>
            </a:r>
          </a:p>
        </p:txBody>
      </p:sp>
      <p:sp>
        <p:nvSpPr>
          <p:cNvPr id="14" name="Text Box"/>
          <p:cNvSpPr txBox="1"/>
          <p:nvPr/>
        </p:nvSpPr>
        <p:spPr>
          <a:xfrm>
            <a:off x="2880360" y="1828800"/>
            <a:ext cx="5623560" cy="411480"/>
          </a:xfrm>
          <a:prstGeom prst="rect">
            <a:avLst/>
          </a:prstGeom>
          <a:solidFill>
            <a:srgbClr val="FFFFFF"/>
          </a:solidFill>
          <a:ln w="9525">
            <a:solidFill>
              <a:srgbClr val="BBD7F0"/>
            </a:solidFill>
          </a:ln>
        </p:spPr>
        <p:txBody>
          <a:bodyPr wrap="square" anchor="mid" lIns="45720" rIns="45720" tIns="22860" bIns="22860"/>
          <a:lstStyle/>
          <a:p>
            <a:r>
              <a:rPr lang="en-US" sz="1200" dirty="0">
                <a:solidFill>
                  <a:srgbClr val="1F2937"/>
                </a:solidFill>
              </a:rPr>
              <a:t>User Records, Coach Accounts, Academic Periods, Reports</a:t>
            </a:r>
          </a:p>
        </p:txBody>
      </p:sp>
      <p:sp>
        <p:nvSpPr>
          <p:cNvPr id="15" name="Text Box"/>
          <p:cNvSpPr txBox="1"/>
          <p:nvPr/>
        </p:nvSpPr>
        <p:spPr>
          <a:xfrm>
            <a:off x="8503920" y="1828800"/>
            <a:ext cx="3474720" cy="411480"/>
          </a:xfrm>
          <a:prstGeom prst="rect">
            <a:avLst/>
          </a:prstGeom>
          <a:solidFill>
            <a:srgbClr val="FFFFFF"/>
          </a:solidFill>
          <a:ln w="9525">
            <a:solidFill>
              <a:srgbClr val="BBD7F0"/>
            </a:solidFill>
          </a:ln>
        </p:spPr>
        <p:txBody>
          <a:bodyPr wrap="square" anchor="mid" lIns="45720" rIns="45720" tIns="22860" bIns="22860"/>
          <a:lstStyle/>
          <a:p>
            <a:r>
              <a:rPr lang="en-US" sz="1300" dirty="0">
                <a:solidFill>
                  <a:srgbClr val="1F2937"/>
                </a:solidFill>
              </a:rPr>
              <a:t>Read/Write</a:t>
            </a:r>
          </a:p>
        </p:txBody>
      </p:sp>
      <p:sp>
        <p:nvSpPr>
          <p:cNvPr id="16" name="Text Box"/>
          <p:cNvSpPr txBox="1"/>
          <p:nvPr/>
        </p:nvSpPr>
        <p:spPr>
          <a:xfrm>
            <a:off x="502920" y="2240280"/>
            <a:ext cx="2377440" cy="411480"/>
          </a:xfrm>
          <a:prstGeom prst="rect">
            <a:avLst/>
          </a:prstGeom>
          <a:solidFill>
            <a:srgbClr val="F4F9FF"/>
          </a:solidFill>
          <a:ln w="9525">
            <a:solidFill>
              <a:srgbClr val="BBD7F0"/>
            </a:solidFill>
          </a:ln>
        </p:spPr>
        <p:txBody>
          <a:bodyPr wrap="square" anchor="mid" lIns="45720" rIns="45720" tIns="22860" bIns="22860"/>
          <a:lstStyle/>
          <a:p>
            <a:r>
              <a:rPr lang="en-US" sz="1300" dirty="0">
                <a:solidFill>
                  <a:srgbClr val="1F2937"/>
                </a:solidFill>
              </a:rPr>
              <a:t>Maria Santos</a:t>
            </a:r>
          </a:p>
        </p:txBody>
      </p:sp>
      <p:sp>
        <p:nvSpPr>
          <p:cNvPr id="17" name="Text Box"/>
          <p:cNvSpPr txBox="1"/>
          <p:nvPr/>
        </p:nvSpPr>
        <p:spPr>
          <a:xfrm>
            <a:off x="2880360" y="2240280"/>
            <a:ext cx="5623560" cy="411480"/>
          </a:xfrm>
          <a:prstGeom prst="rect">
            <a:avLst/>
          </a:prstGeom>
          <a:solidFill>
            <a:srgbClr val="F4F9FF"/>
          </a:solidFill>
          <a:ln w="9525">
            <a:solidFill>
              <a:srgbClr val="BBD7F0"/>
            </a:solidFill>
          </a:ln>
        </p:spPr>
        <p:txBody>
          <a:bodyPr wrap="square" anchor="mid" lIns="45720" rIns="45720" tIns="22860" bIns="22860"/>
          <a:lstStyle/>
          <a:p>
            <a:r>
              <a:rPr lang="en-US" sz="1200" dirty="0">
                <a:solidFill>
                  <a:srgbClr val="1F2937"/>
                </a:solidFill>
              </a:rPr>
              <a:t>Applications, Teams, Roster, Invite Codes, Schedules, Audit Trail</a:t>
            </a:r>
          </a:p>
        </p:txBody>
      </p:sp>
      <p:sp>
        <p:nvSpPr>
          <p:cNvPr id="18" name="Text Box"/>
          <p:cNvSpPr txBox="1"/>
          <p:nvPr/>
        </p:nvSpPr>
        <p:spPr>
          <a:xfrm>
            <a:off x="8503920" y="2240280"/>
            <a:ext cx="3474720" cy="411480"/>
          </a:xfrm>
          <a:prstGeom prst="rect">
            <a:avLst/>
          </a:prstGeom>
          <a:solidFill>
            <a:srgbClr val="F4F9FF"/>
          </a:solidFill>
          <a:ln w="9525">
            <a:solidFill>
              <a:srgbClr val="BBD7F0"/>
            </a:solidFill>
          </a:ln>
        </p:spPr>
        <p:txBody>
          <a:bodyPr wrap="square" anchor="mid" lIns="45720" rIns="45720" tIns="22860" bIns="22860"/>
          <a:lstStyle/>
          <a:p>
            <a:r>
              <a:rPr lang="en-US" sz="1300" dirty="0">
                <a:solidFill>
                  <a:srgbClr val="1F2937"/>
                </a:solidFill>
              </a:rPr>
              <a:t>Read Only</a:t>
            </a:r>
          </a:p>
        </p:txBody>
      </p:sp>
      <p:sp>
        <p:nvSpPr>
          <p:cNvPr id="19" name="Text Box"/>
          <p:cNvSpPr txBox="1"/>
          <p:nvPr/>
        </p:nvSpPr>
        <p:spPr>
          <a:xfrm>
            <a:off x="502920" y="2651760"/>
            <a:ext cx="2377440" cy="411480"/>
          </a:xfrm>
          <a:prstGeom prst="rect">
            <a:avLst/>
          </a:prstGeom>
          <a:solidFill>
            <a:srgbClr val="FFFFFF"/>
          </a:solidFill>
          <a:ln w="9525">
            <a:solidFill>
              <a:srgbClr val="BBD7F0"/>
            </a:solidFill>
          </a:ln>
        </p:spPr>
        <p:txBody>
          <a:bodyPr wrap="square" anchor="mid" lIns="45720" rIns="45720" tIns="22860" bIns="22860"/>
          <a:lstStyle/>
          <a:p>
            <a:r>
              <a:rPr lang="en-US" sz="1300" dirty="0">
                <a:solidFill>
                  <a:srgbClr val="1F2937"/>
                </a:solidFill>
              </a:rPr>
              <a:t>Coach Reyes</a:t>
            </a:r>
          </a:p>
        </p:txBody>
      </p:sp>
      <p:sp>
        <p:nvSpPr>
          <p:cNvPr id="20" name="Text Box"/>
          <p:cNvSpPr txBox="1"/>
          <p:nvPr/>
        </p:nvSpPr>
        <p:spPr>
          <a:xfrm>
            <a:off x="2880360" y="2651760"/>
            <a:ext cx="5623560" cy="411480"/>
          </a:xfrm>
          <a:prstGeom prst="rect">
            <a:avLst/>
          </a:prstGeom>
          <a:solidFill>
            <a:srgbClr val="FFFFFF"/>
          </a:solidFill>
          <a:ln w="9525">
            <a:solidFill>
              <a:srgbClr val="BBD7F0"/>
            </a:solidFill>
          </a:ln>
        </p:spPr>
        <p:txBody>
          <a:bodyPr wrap="square" anchor="mid" lIns="45720" rIns="45720" tIns="22860" bIns="22860"/>
          <a:lstStyle/>
          <a:p>
            <a:r>
              <a:rPr lang="en-US" sz="1200" dirty="0">
                <a:solidFill>
                  <a:srgbClr val="1F2937"/>
                </a:solidFill>
              </a:rPr>
              <a:t>Applications, Teams, Roster, Invite Codes, Schedules, Attendance</a:t>
            </a:r>
          </a:p>
        </p:txBody>
      </p:sp>
      <p:sp>
        <p:nvSpPr>
          <p:cNvPr id="21" name="Text Box"/>
          <p:cNvSpPr txBox="1"/>
          <p:nvPr/>
        </p:nvSpPr>
        <p:spPr>
          <a:xfrm>
            <a:off x="8503920" y="2651760"/>
            <a:ext cx="3474720" cy="411480"/>
          </a:xfrm>
          <a:prstGeom prst="rect">
            <a:avLst/>
          </a:prstGeom>
          <a:solidFill>
            <a:srgbClr val="FFFFFF"/>
          </a:solidFill>
          <a:ln w="9525">
            <a:solidFill>
              <a:srgbClr val="BBD7F0"/>
            </a:solidFill>
          </a:ln>
        </p:spPr>
        <p:txBody>
          <a:bodyPr wrap="square" anchor="mid" lIns="45720" rIns="45720" tIns="22860" bIns="22860"/>
          <a:lstStyle/>
          <a:p>
            <a:r>
              <a:rPr lang="en-US" sz="1300" dirty="0">
                <a:solidFill>
                  <a:srgbClr val="1F2937"/>
                </a:solidFill>
              </a:rPr>
              <a:t>Read/Write</a:t>
            </a:r>
          </a:p>
        </p:txBody>
      </p:sp>
      <p:sp>
        <p:nvSpPr>
          <p:cNvPr id="22" name="Text Box"/>
          <p:cNvSpPr txBox="1"/>
          <p:nvPr/>
        </p:nvSpPr>
        <p:spPr>
          <a:xfrm>
            <a:off x="502920" y="3063240"/>
            <a:ext cx="2377440" cy="411480"/>
          </a:xfrm>
          <a:prstGeom prst="rect">
            <a:avLst/>
          </a:prstGeom>
          <a:solidFill>
            <a:srgbClr val="F4F9FF"/>
          </a:solidFill>
          <a:ln w="9525">
            <a:solidFill>
              <a:srgbClr val="BBD7F0"/>
            </a:solidFill>
          </a:ln>
        </p:spPr>
        <p:txBody>
          <a:bodyPr wrap="square" anchor="mid" lIns="45720" rIns="45720" tIns="22860" bIns="22860"/>
          <a:lstStyle/>
          <a:p>
            <a:r>
              <a:rPr lang="en-US" sz="1300" dirty="0">
                <a:solidFill>
                  <a:srgbClr val="1F2937"/>
                </a:solidFill>
              </a:rPr>
              <a:t>Coach Reyes</a:t>
            </a:r>
          </a:p>
        </p:txBody>
      </p:sp>
      <p:sp>
        <p:nvSpPr>
          <p:cNvPr id="23" name="Text Box"/>
          <p:cNvSpPr txBox="1"/>
          <p:nvPr/>
        </p:nvSpPr>
        <p:spPr>
          <a:xfrm>
            <a:off x="2880360" y="3063240"/>
            <a:ext cx="5623560" cy="411480"/>
          </a:xfrm>
          <a:prstGeom prst="rect">
            <a:avLst/>
          </a:prstGeom>
          <a:solidFill>
            <a:srgbClr val="F4F9FF"/>
          </a:solidFill>
          <a:ln w="9525">
            <a:solidFill>
              <a:srgbClr val="BBD7F0"/>
            </a:solidFill>
          </a:ln>
        </p:spPr>
        <p:txBody>
          <a:bodyPr wrap="square" anchor="mid" lIns="45720" rIns="45720" tIns="22860" bIns="22860"/>
          <a:lstStyle/>
          <a:p>
            <a:r>
              <a:rPr lang="en-US" sz="1200" dirty="0">
                <a:solidFill>
                  <a:srgbClr val="1F2937"/>
                </a:solidFill>
              </a:rPr>
              <a:t>Academics, Documents, Announcements, User Records</a:t>
            </a:r>
          </a:p>
        </p:txBody>
      </p:sp>
      <p:sp>
        <p:nvSpPr>
          <p:cNvPr id="24" name="Text Box"/>
          <p:cNvSpPr txBox="1"/>
          <p:nvPr/>
        </p:nvSpPr>
        <p:spPr>
          <a:xfrm>
            <a:off x="8503920" y="3063240"/>
            <a:ext cx="3474720" cy="411480"/>
          </a:xfrm>
          <a:prstGeom prst="rect">
            <a:avLst/>
          </a:prstGeom>
          <a:solidFill>
            <a:srgbClr val="F4F9FF"/>
          </a:solidFill>
          <a:ln w="9525">
            <a:solidFill>
              <a:srgbClr val="BBD7F0"/>
            </a:solidFill>
          </a:ln>
        </p:spPr>
        <p:txBody>
          <a:bodyPr wrap="square" anchor="mid" lIns="45720" rIns="45720" tIns="22860" bIns="22860"/>
          <a:lstStyle/>
          <a:p>
            <a:r>
              <a:rPr lang="en-US" sz="1300" dirty="0">
                <a:solidFill>
                  <a:srgbClr val="1F2937"/>
                </a:solidFill>
              </a:rPr>
              <a:t>Read Only / Limited</a:t>
            </a:r>
          </a:p>
        </p:txBody>
      </p:sp>
      <p:sp>
        <p:nvSpPr>
          <p:cNvPr id="25" name="Text Box"/>
          <p:cNvSpPr txBox="1"/>
          <p:nvPr/>
        </p:nvSpPr>
        <p:spPr>
          <a:xfrm>
            <a:off x="502920" y="3474720"/>
            <a:ext cx="2377440" cy="411480"/>
          </a:xfrm>
          <a:prstGeom prst="rect">
            <a:avLst/>
          </a:prstGeom>
          <a:solidFill>
            <a:srgbClr val="FFFFFF"/>
          </a:solidFill>
          <a:ln w="9525">
            <a:solidFill>
              <a:srgbClr val="BBD7F0"/>
            </a:solidFill>
          </a:ln>
        </p:spPr>
        <p:txBody>
          <a:bodyPr wrap="square" anchor="mid" lIns="45720" rIns="45720" tIns="22860" bIns="22860"/>
          <a:lstStyle/>
          <a:p>
            <a:r>
              <a:rPr lang="en-US" sz="1300" dirty="0">
                <a:solidFill>
                  <a:srgbClr val="1F2937"/>
                </a:solidFill>
              </a:rPr>
              <a:t>Coach Reyes</a:t>
            </a:r>
          </a:p>
        </p:txBody>
      </p:sp>
      <p:sp>
        <p:nvSpPr>
          <p:cNvPr id="26" name="Text Box"/>
          <p:cNvSpPr txBox="1"/>
          <p:nvPr/>
        </p:nvSpPr>
        <p:spPr>
          <a:xfrm>
            <a:off x="2880360" y="3474720"/>
            <a:ext cx="5623560" cy="411480"/>
          </a:xfrm>
          <a:prstGeom prst="rect">
            <a:avLst/>
          </a:prstGeom>
          <a:solidFill>
            <a:srgbClr val="FFFFFF"/>
          </a:solidFill>
          <a:ln w="9525">
            <a:solidFill>
              <a:srgbClr val="BBD7F0"/>
            </a:solidFill>
          </a:ln>
        </p:spPr>
        <p:txBody>
          <a:bodyPr wrap="square" anchor="mid" lIns="45720" rIns="45720" tIns="22860" bIns="22860"/>
          <a:lstStyle/>
          <a:p>
            <a:r>
              <a:rPr lang="en-US" sz="1300" dirty="0">
                <a:solidFill>
                  <a:srgbClr val="1F2937"/>
                </a:solidFill>
              </a:rPr>
              <a:t>Audit Trail</a:t>
            </a:r>
          </a:p>
        </p:txBody>
      </p:sp>
      <p:sp>
        <p:nvSpPr>
          <p:cNvPr id="27" name="Text Box"/>
          <p:cNvSpPr txBox="1"/>
          <p:nvPr/>
        </p:nvSpPr>
        <p:spPr>
          <a:xfrm>
            <a:off x="8503920" y="3474720"/>
            <a:ext cx="3474720" cy="411480"/>
          </a:xfrm>
          <a:prstGeom prst="rect">
            <a:avLst/>
          </a:prstGeom>
          <a:solidFill>
            <a:srgbClr val="FFFFFF"/>
          </a:solidFill>
          <a:ln w="9525">
            <a:solidFill>
              <a:srgbClr val="BBD7F0"/>
            </a:solidFill>
          </a:ln>
        </p:spPr>
        <p:txBody>
          <a:bodyPr wrap="square" anchor="mid" lIns="45720" rIns="45720" tIns="22860" bIns="22860"/>
          <a:lstStyle/>
          <a:p>
            <a:r>
              <a:rPr lang="en-US" sz="1300" dirty="0">
                <a:solidFill>
                  <a:srgbClr val="1F2937"/>
                </a:solidFill>
              </a:rPr>
              <a:t>No Access</a:t>
            </a:r>
          </a:p>
        </p:txBody>
      </p:sp>
      <p:sp>
        <p:nvSpPr>
          <p:cNvPr id="28" name="Text Box"/>
          <p:cNvSpPr txBox="1"/>
          <p:nvPr/>
        </p:nvSpPr>
        <p:spPr>
          <a:xfrm>
            <a:off x="502920" y="3886200"/>
            <a:ext cx="2377440" cy="411480"/>
          </a:xfrm>
          <a:prstGeom prst="rect">
            <a:avLst/>
          </a:prstGeom>
          <a:solidFill>
            <a:srgbClr val="F4F9FF"/>
          </a:solidFill>
          <a:ln w="9525">
            <a:solidFill>
              <a:srgbClr val="BBD7F0"/>
            </a:solidFill>
          </a:ln>
        </p:spPr>
        <p:txBody>
          <a:bodyPr wrap="square" anchor="mid" lIns="45720" rIns="45720" tIns="22860" bIns="22860"/>
          <a:lstStyle/>
          <a:p>
            <a:r>
              <a:rPr lang="en-US" sz="1300" dirty="0">
                <a:solidFill>
                  <a:srgbClr val="1F2937"/>
                </a:solidFill>
              </a:rPr>
              <a:t>Juan Dela Cruz</a:t>
            </a:r>
          </a:p>
        </p:txBody>
      </p:sp>
      <p:sp>
        <p:nvSpPr>
          <p:cNvPr id="29" name="Text Box"/>
          <p:cNvSpPr txBox="1"/>
          <p:nvPr/>
        </p:nvSpPr>
        <p:spPr>
          <a:xfrm>
            <a:off x="2880360" y="3886200"/>
            <a:ext cx="5623560" cy="411480"/>
          </a:xfrm>
          <a:prstGeom prst="rect">
            <a:avLst/>
          </a:prstGeom>
          <a:solidFill>
            <a:srgbClr val="F4F9FF"/>
          </a:solidFill>
          <a:ln w="9525">
            <a:solidFill>
              <a:srgbClr val="BBD7F0"/>
            </a:solidFill>
          </a:ln>
        </p:spPr>
        <p:txBody>
          <a:bodyPr wrap="square" anchor="mid" lIns="45720" rIns="45720" tIns="22860" bIns="22860"/>
          <a:lstStyle/>
          <a:p>
            <a:r>
              <a:rPr lang="en-US" sz="1200" dirty="0">
                <a:solidFill>
                  <a:srgbClr val="1F2937"/>
                </a:solidFill>
              </a:rPr>
              <a:t>Applications and Academic Submissions</a:t>
            </a:r>
          </a:p>
        </p:txBody>
      </p:sp>
      <p:sp>
        <p:nvSpPr>
          <p:cNvPr id="30" name="Text Box"/>
          <p:cNvSpPr txBox="1"/>
          <p:nvPr/>
        </p:nvSpPr>
        <p:spPr>
          <a:xfrm>
            <a:off x="8503920" y="3886200"/>
            <a:ext cx="3474720" cy="411480"/>
          </a:xfrm>
          <a:prstGeom prst="rect">
            <a:avLst/>
          </a:prstGeom>
          <a:solidFill>
            <a:srgbClr val="F4F9FF"/>
          </a:solidFill>
          <a:ln w="9525">
            <a:solidFill>
              <a:srgbClr val="BBD7F0"/>
            </a:solidFill>
          </a:ln>
        </p:spPr>
        <p:txBody>
          <a:bodyPr wrap="square" anchor="mid" lIns="45720" rIns="45720" tIns="22860" bIns="22860"/>
          <a:lstStyle/>
          <a:p>
            <a:r>
              <a:rPr lang="en-US" sz="1300" dirty="0">
                <a:solidFill>
                  <a:srgbClr val="1F2937"/>
                </a:solidFill>
              </a:rPr>
              <a:t>Submit/View Own</a:t>
            </a:r>
          </a:p>
        </p:txBody>
      </p:sp>
      <p:sp>
        <p:nvSpPr>
          <p:cNvPr id="31" name="Text Box"/>
          <p:cNvSpPr txBox="1"/>
          <p:nvPr/>
        </p:nvSpPr>
        <p:spPr>
          <a:xfrm>
            <a:off x="502920" y="4297680"/>
            <a:ext cx="2377440" cy="411480"/>
          </a:xfrm>
          <a:prstGeom prst="rect">
            <a:avLst/>
          </a:prstGeom>
          <a:solidFill>
            <a:srgbClr val="FFFFFF"/>
          </a:solidFill>
          <a:ln w="9525">
            <a:solidFill>
              <a:srgbClr val="BBD7F0"/>
            </a:solidFill>
          </a:ln>
        </p:spPr>
        <p:txBody>
          <a:bodyPr wrap="square" anchor="mid" lIns="45720" rIns="45720" tIns="22860" bIns="22860"/>
          <a:lstStyle/>
          <a:p>
            <a:r>
              <a:rPr lang="en-US" sz="1300" dirty="0">
                <a:solidFill>
                  <a:srgbClr val="1F2937"/>
                </a:solidFill>
              </a:rPr>
              <a:t>Juan Dela Cruz</a:t>
            </a:r>
          </a:p>
        </p:txBody>
      </p:sp>
      <p:sp>
        <p:nvSpPr>
          <p:cNvPr id="32" name="Text Box"/>
          <p:cNvSpPr txBox="1"/>
          <p:nvPr/>
        </p:nvSpPr>
        <p:spPr>
          <a:xfrm>
            <a:off x="2880360" y="4297680"/>
            <a:ext cx="5623560" cy="411480"/>
          </a:xfrm>
          <a:prstGeom prst="rect">
            <a:avLst/>
          </a:prstGeom>
          <a:solidFill>
            <a:srgbClr val="FFFFFF"/>
          </a:solidFill>
          <a:ln w="9525">
            <a:solidFill>
              <a:srgbClr val="BBD7F0"/>
            </a:solidFill>
          </a:ln>
        </p:spPr>
        <p:txBody>
          <a:bodyPr wrap="square" anchor="mid" lIns="45720" rIns="45720" tIns="22860" bIns="22860"/>
          <a:lstStyle/>
          <a:p>
            <a:r>
              <a:rPr lang="en-US" sz="1300" dirty="0">
                <a:solidFill>
                  <a:srgbClr val="1F2937"/>
                </a:solidFill>
              </a:rPr>
              <a:t>Documents</a:t>
            </a:r>
          </a:p>
        </p:txBody>
      </p:sp>
      <p:sp>
        <p:nvSpPr>
          <p:cNvPr id="33" name="Text Box"/>
          <p:cNvSpPr txBox="1"/>
          <p:nvPr/>
        </p:nvSpPr>
        <p:spPr>
          <a:xfrm>
            <a:off x="8503920" y="4297680"/>
            <a:ext cx="3474720" cy="411480"/>
          </a:xfrm>
          <a:prstGeom prst="rect">
            <a:avLst/>
          </a:prstGeom>
          <a:solidFill>
            <a:srgbClr val="FFFFFF"/>
          </a:solidFill>
          <a:ln w="9525">
            <a:solidFill>
              <a:srgbClr val="BBD7F0"/>
            </a:solidFill>
          </a:ln>
        </p:spPr>
        <p:txBody>
          <a:bodyPr wrap="square" anchor="mid" lIns="45720" rIns="45720" tIns="22860" bIns="22860"/>
          <a:lstStyle/>
          <a:p>
            <a:r>
              <a:rPr lang="en-US" sz="1300" dirty="0">
                <a:solidFill>
                  <a:srgbClr val="1F2937"/>
                </a:solidFill>
              </a:rPr>
              <a:t>Upload/View Own</a:t>
            </a:r>
          </a:p>
        </p:txBody>
      </p:sp>
      <p:sp>
        <p:nvSpPr>
          <p:cNvPr id="34" name="Text Box"/>
          <p:cNvSpPr txBox="1"/>
          <p:nvPr/>
        </p:nvSpPr>
        <p:spPr>
          <a:xfrm>
            <a:off x="502920" y="4709160"/>
            <a:ext cx="2377440" cy="411480"/>
          </a:xfrm>
          <a:prstGeom prst="rect">
            <a:avLst/>
          </a:prstGeom>
          <a:solidFill>
            <a:srgbClr val="F4F9FF"/>
          </a:solidFill>
          <a:ln w="9525">
            <a:solidFill>
              <a:srgbClr val="BBD7F0"/>
            </a:solidFill>
          </a:ln>
        </p:spPr>
        <p:txBody>
          <a:bodyPr wrap="square" anchor="mid" lIns="45720" rIns="45720" tIns="22860" bIns="22860"/>
          <a:lstStyle/>
          <a:p>
            <a:r>
              <a:rPr lang="en-US" sz="1300" dirty="0">
                <a:solidFill>
                  <a:srgbClr val="1F2937"/>
                </a:solidFill>
              </a:rPr>
              <a:t>Juan Dela Cruz</a:t>
            </a:r>
          </a:p>
        </p:txBody>
      </p:sp>
      <p:sp>
        <p:nvSpPr>
          <p:cNvPr id="35" name="Text Box"/>
          <p:cNvSpPr txBox="1"/>
          <p:nvPr/>
        </p:nvSpPr>
        <p:spPr>
          <a:xfrm>
            <a:off x="2880360" y="4709160"/>
            <a:ext cx="5623560" cy="411480"/>
          </a:xfrm>
          <a:prstGeom prst="rect">
            <a:avLst/>
          </a:prstGeom>
          <a:solidFill>
            <a:srgbClr val="F4F9FF"/>
          </a:solidFill>
          <a:ln w="9525">
            <a:solidFill>
              <a:srgbClr val="BBD7F0"/>
            </a:solidFill>
          </a:ln>
        </p:spPr>
        <p:txBody>
          <a:bodyPr wrap="square" anchor="mid" lIns="45720" rIns="45720" tIns="22860" bIns="22860"/>
          <a:lstStyle/>
          <a:p>
            <a:r>
              <a:rPr lang="en-US" sz="1200" dirty="0">
                <a:solidFill>
                  <a:srgbClr val="1F2937"/>
                </a:solidFill>
              </a:rPr>
              <a:t>User Records, Attendance, Team</a:t>
            </a:r>
          </a:p>
        </p:txBody>
      </p:sp>
      <p:sp>
        <p:nvSpPr>
          <p:cNvPr id="36" name="Text Box"/>
          <p:cNvSpPr txBox="1"/>
          <p:nvPr/>
        </p:nvSpPr>
        <p:spPr>
          <a:xfrm>
            <a:off x="8503920" y="4709160"/>
            <a:ext cx="3474720" cy="411480"/>
          </a:xfrm>
          <a:prstGeom prst="rect">
            <a:avLst/>
          </a:prstGeom>
          <a:solidFill>
            <a:srgbClr val="F4F9FF"/>
          </a:solidFill>
          <a:ln w="9525">
            <a:solidFill>
              <a:srgbClr val="BBD7F0"/>
            </a:solidFill>
          </a:ln>
        </p:spPr>
        <p:txBody>
          <a:bodyPr wrap="square" anchor="mid" lIns="45720" rIns="45720" tIns="22860" bIns="22860"/>
          <a:lstStyle/>
          <a:p>
            <a:r>
              <a:rPr lang="en-US" sz="1300" dirty="0">
                <a:solidFill>
                  <a:srgbClr val="1F2937"/>
                </a:solidFill>
              </a:rPr>
              <a:t>Own Record / View Own</a:t>
            </a:r>
          </a:p>
        </p:txBody>
      </p:sp>
      <p:sp>
        <p:nvSpPr>
          <p:cNvPr id="37" name="Text Box"/>
          <p:cNvSpPr txBox="1"/>
          <p:nvPr/>
        </p:nvSpPr>
        <p:spPr>
          <a:xfrm>
            <a:off x="502920" y="5120640"/>
            <a:ext cx="2377440" cy="411480"/>
          </a:xfrm>
          <a:prstGeom prst="rect">
            <a:avLst/>
          </a:prstGeom>
          <a:solidFill>
            <a:srgbClr val="FFFFFF"/>
          </a:solidFill>
          <a:ln w="9525">
            <a:solidFill>
              <a:srgbClr val="BBD7F0"/>
            </a:solidFill>
          </a:ln>
        </p:spPr>
        <p:txBody>
          <a:bodyPr wrap="square" anchor="mid" lIns="45720" rIns="45720" tIns="22860" bIns="22860"/>
          <a:lstStyle/>
          <a:p>
            <a:r>
              <a:rPr lang="en-US" sz="1300" dirty="0">
                <a:solidFill>
                  <a:srgbClr val="1F2937"/>
                </a:solidFill>
              </a:rPr>
              <a:t>Juan Dela Cruz</a:t>
            </a:r>
          </a:p>
        </p:txBody>
      </p:sp>
      <p:sp>
        <p:nvSpPr>
          <p:cNvPr id="38" name="Text Box"/>
          <p:cNvSpPr txBox="1"/>
          <p:nvPr/>
        </p:nvSpPr>
        <p:spPr>
          <a:xfrm>
            <a:off x="2880360" y="5120640"/>
            <a:ext cx="5623560" cy="411480"/>
          </a:xfrm>
          <a:prstGeom prst="rect">
            <a:avLst/>
          </a:prstGeom>
          <a:solidFill>
            <a:srgbClr val="FFFFFF"/>
          </a:solidFill>
          <a:ln w="9525">
            <a:solidFill>
              <a:srgbClr val="BBD7F0"/>
            </a:solidFill>
          </a:ln>
        </p:spPr>
        <p:txBody>
          <a:bodyPr wrap="square" anchor="mid" lIns="45720" rIns="45720" tIns="22860" bIns="22860"/>
          <a:lstStyle/>
          <a:p>
            <a:r>
              <a:rPr lang="en-US" sz="1200" dirty="0">
                <a:solidFill>
                  <a:srgbClr val="1F2937"/>
                </a:solidFill>
              </a:rPr>
              <a:t>Reports, Audit Trail, Coach Accounts</a:t>
            </a:r>
          </a:p>
        </p:txBody>
      </p:sp>
      <p:sp>
        <p:nvSpPr>
          <p:cNvPr id="39" name="Text Box"/>
          <p:cNvSpPr txBox="1"/>
          <p:nvPr/>
        </p:nvSpPr>
        <p:spPr>
          <a:xfrm>
            <a:off x="8503920" y="5120640"/>
            <a:ext cx="3474720" cy="411480"/>
          </a:xfrm>
          <a:prstGeom prst="rect">
            <a:avLst/>
          </a:prstGeom>
          <a:solidFill>
            <a:srgbClr val="FFFFFF"/>
          </a:solidFill>
          <a:ln w="9525">
            <a:solidFill>
              <a:srgbClr val="BBD7F0"/>
            </a:solidFill>
          </a:ln>
        </p:spPr>
        <p:txBody>
          <a:bodyPr wrap="square" anchor="mid" lIns="45720" rIns="45720" tIns="22860" bIns="22860"/>
          <a:lstStyle/>
          <a:p>
            <a:r>
              <a:rPr lang="en-US" sz="1300" dirty="0">
                <a:solidFill>
                  <a:srgbClr val="1F2937"/>
                </a:solidFill>
              </a:rPr>
              <a:t>No Access</a:t>
            </a:r>
          </a:p>
        </p:txBody>
      </p:sp>
      <p:sp>
        <p:nvSpPr>
          <p:cNvPr id="3" name="Text Box"/>
          <p:cNvSpPr txBox="1"/>
          <p:nvPr/>
        </p:nvSpPr>
        <p:spPr>
          <a:xfrm>
            <a:off x="411480" y="6446520"/>
            <a:ext cx="11384280" cy="228600"/>
          </a:xfrm>
          <a:prstGeom prst="rect">
            <a:avLst/>
          </a:prstGeom>
          <a:noFill/>
          <a:ln>
            <a:noFill/>
          </a:ln>
        </p:spPr>
        <p:txBody>
          <a:bodyPr wrap="square" anchor="top" lIns="0" rIns="91440" tIns="0" bIns="0"/>
          <a:lstStyle/>
          <a:p>
            <a:r>
              <a:rPr lang="en-US" sz="900" dirty="0">
                <a:solidFill>
                  <a:srgbClr val="64748B"/>
                </a:solidFill>
              </a:rPr>
              <a:t>RBAC 2</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2192000" cy="6858000"/>
          <a:chOff x="0" y="0"/>
          <a:chExt cx="12192000" cy="6858000"/>
        </a:xfrm>
      </p:grpSpPr>
      <p:sp>
        <p:nvSpPr>
          <p:cNvPr id="2" name="Text Box"/>
          <p:cNvSpPr txBox="1"/>
          <p:nvPr/>
        </p:nvSpPr>
        <p:spPr>
          <a:xfrm>
            <a:off x="0" y="0"/>
            <a:ext cx="12192000" cy="530352"/>
          </a:xfrm>
          <a:prstGeom prst="rect">
            <a:avLst/>
          </a:prstGeom>
          <a:solidFill>
            <a:srgbClr val="034485"/>
          </a:solidFill>
          <a:ln>
            <a:noFill/>
          </a:ln>
        </p:spPr>
        <p:txBody>
          <a:bodyPr wrap="square" anchor="mid" lIns="384048" rIns="91440" tIns="109728" bIns="109728"/>
          <a:lstStyle/>
          <a:p>
            <a:r>
              <a:rPr lang="en-US" sz="1300" dirty="0">
                <a:b/>
                <a:solidFill>
                  <a:srgbClr val="FFFFFF"/>
                </a:solidFill>
              </a:rPr>
              <a:t>Asian College Varsity Management Information Security Policy</a:t>
            </a:r>
          </a:p>
        </p:txBody>
      </p:sp>
      <p:sp>
        <p:nvSpPr>
          <p:cNvPr id="4" name="Text Box"/>
          <p:cNvSpPr txBox="1"/>
          <p:nvPr/>
        </p:nvSpPr>
        <p:spPr>
          <a:xfrm>
            <a:off x="502920" y="749808"/>
            <a:ext cx="10881360" cy="502920"/>
          </a:xfrm>
          <a:prstGeom prst="rect">
            <a:avLst/>
          </a:prstGeom>
          <a:noFill/>
          <a:ln>
            <a:noFill/>
          </a:ln>
        </p:spPr>
        <p:txBody>
          <a:bodyPr wrap="square" anchor="top" lIns="0" rIns="91440" tIns="0" bIns="0"/>
          <a:lstStyle/>
          <a:p>
            <a:r>
              <a:rPr lang="en-US" sz="2700" dirty="0">
                <a:b/>
                <a:solidFill>
                  <a:srgbClr val="102A43"/>
                </a:solidFill>
              </a:rPr>
              <a:t>Summary</a:t>
            </a:r>
          </a:p>
        </p:txBody>
      </p:sp>
      <p:sp>
        <p:nvSpPr>
          <p:cNvPr id="5" name="Text Box"/>
          <p:cNvSpPr txBox="1"/>
          <p:nvPr/>
        </p:nvSpPr>
        <p:spPr>
          <a:xfrm>
            <a:off x="521207" y="1216152"/>
            <a:ext cx="10241280" cy="301752"/>
          </a:xfrm>
          <a:prstGeom prst="rect">
            <a:avLst/>
          </a:prstGeom>
          <a:noFill/>
          <a:ln>
            <a:noFill/>
          </a:ln>
        </p:spPr>
        <p:txBody>
          <a:bodyPr wrap="square" anchor="top" lIns="0" rIns="91440" tIns="0" bIns="0"/>
          <a:lstStyle/>
          <a:p>
            <a:r>
              <a:rPr lang="en-US" sz="1400" dirty="0">
                <a:solidFill>
                  <a:srgbClr val="64748B"/>
                </a:solidFill>
              </a:rPr>
              <a:t>Key takeaways from the Information Security Policy</a:t>
            </a:r>
          </a:p>
        </p:txBody>
      </p:sp>
      <p:sp>
        <p:nvSpPr>
          <p:cNvPr id="20" name="Text Box"/>
          <p:cNvSpPr txBox="1"/>
          <p:nvPr/>
        </p:nvSpPr>
        <p:spPr>
          <a:xfrm>
            <a:off x="777240" y="1417320"/>
            <a:ext cx="10607040" cy="841248"/>
          </a:xfrm>
          <a:prstGeom prst="roundRect">
            <a:avLst/>
          </a:prstGeom>
          <a:solidFill>
            <a:srgbClr val="F4F9FF"/>
          </a:solidFill>
          <a:ln w="9525">
            <a:solidFill>
              <a:srgbClr val="BBD7F0"/>
            </a:solidFill>
          </a:ln>
        </p:spPr>
        <p:txBody>
          <a:bodyPr wrap="square" anchor="mid" lIns="91440" rIns="91440" tIns="45720" bIns="45720"/>
          <a:lstStyle/>
          <a:p>
            <a:r>
              <a:rPr lang="en-US" sz="1700" dirty="0">
                <a:b/>
                <a:solidFill>
                  <a:srgbClr val="034485"/>
                </a:solidFill>
              </a:rPr>
              <a:t>Policy Foundation</a:t>
            </a:r>
          </a:p>
          <a:p>
            <a:r>
              <a:rPr lang="en-US" sz="1200" dirty="0">
                <a:solidFill>
                  <a:srgbClr val="1F2937"/>
                </a:solidFill>
              </a:rPr>
              <a:t>AC-VMIS protects institutional and personal information across student-athlete, coach, team, academic, document, report, and operational records.</a:t>
            </a:r>
          </a:p>
        </p:txBody>
      </p:sp>
      <p:sp>
        <p:nvSpPr>
          <p:cNvPr id="21" name="Text Box"/>
          <p:cNvSpPr txBox="1"/>
          <p:nvPr/>
        </p:nvSpPr>
        <p:spPr>
          <a:xfrm>
            <a:off x="777240" y="2532888"/>
            <a:ext cx="10607040" cy="841248"/>
          </a:xfrm>
          <a:prstGeom prst="roundRect">
            <a:avLst/>
          </a:prstGeom>
          <a:solidFill>
            <a:srgbClr val="FFFFFF"/>
          </a:solidFill>
          <a:ln w="9525">
            <a:solidFill>
              <a:srgbClr val="BBD7F0"/>
            </a:solidFill>
          </a:ln>
        </p:spPr>
        <p:txBody>
          <a:bodyPr wrap="square" anchor="mid" lIns="91440" rIns="91440" tIns="45720" bIns="45720"/>
          <a:lstStyle/>
          <a:p>
            <a:r>
              <a:rPr lang="en-US" sz="1700" dirty="0">
                <a:b/>
                <a:solidFill>
                  <a:srgbClr val="034485"/>
                </a:solidFill>
              </a:rPr>
              <a:t>Control Framework</a:t>
            </a:r>
          </a:p>
          <a:p>
            <a:r>
              <a:rPr lang="en-US" sz="1200" dirty="0">
                <a:solidFill>
                  <a:srgbClr val="1F2937"/>
                </a:solidFill>
              </a:rPr>
              <a:t>The policy combines governance, risk management, access control, cryptography, physical controls, operations security, communications security, development security, and supplier oversight.</a:t>
            </a:r>
          </a:p>
        </p:txBody>
      </p:sp>
      <p:sp>
        <p:nvSpPr>
          <p:cNvPr id="22" name="Text Box"/>
          <p:cNvSpPr txBox="1"/>
          <p:nvPr/>
        </p:nvSpPr>
        <p:spPr>
          <a:xfrm>
            <a:off x="777240" y="3648456"/>
            <a:ext cx="10607040" cy="841248"/>
          </a:xfrm>
          <a:prstGeom prst="roundRect">
            <a:avLst/>
          </a:prstGeom>
          <a:solidFill>
            <a:srgbClr val="F4F9FF"/>
          </a:solidFill>
          <a:ln w="9525">
            <a:solidFill>
              <a:srgbClr val="BBD7F0"/>
            </a:solidFill>
          </a:ln>
        </p:spPr>
        <p:txBody>
          <a:bodyPr wrap="square" anchor="mid" lIns="91440" rIns="91440" tIns="45720" bIns="45720"/>
          <a:lstStyle/>
          <a:p>
            <a:r>
              <a:rPr lang="en-US" sz="1700" dirty="0">
                <a:b/>
                <a:solidFill>
                  <a:srgbClr val="034485"/>
                </a:solidFill>
              </a:rPr>
              <a:t>Accountability</a:t>
            </a:r>
          </a:p>
          <a:p>
            <a:r>
              <a:rPr lang="en-US" sz="1200" dirty="0">
                <a:solidFill>
                  <a:srgbClr val="1F2937"/>
                </a:solidFill>
              </a:rPr>
              <a:t>Monitoring, audit logs, incident reporting, annual review, and corrective action help the institution maintain compliance and improve controls.</a:t>
            </a:r>
          </a:p>
        </p:txBody>
      </p:sp>
      <p:sp>
        <p:nvSpPr>
          <p:cNvPr id="23" name="Text Box"/>
          <p:cNvSpPr txBox="1"/>
          <p:nvPr/>
        </p:nvSpPr>
        <p:spPr>
          <a:xfrm>
            <a:off x="777240" y="4764024"/>
            <a:ext cx="10607040" cy="841248"/>
          </a:xfrm>
          <a:prstGeom prst="roundRect">
            <a:avLst/>
          </a:prstGeom>
          <a:solidFill>
            <a:srgbClr val="FFFFFF"/>
          </a:solidFill>
          <a:ln w="9525">
            <a:solidFill>
              <a:srgbClr val="BBD7F0"/>
            </a:solidFill>
          </a:ln>
        </p:spPr>
        <p:txBody>
          <a:bodyPr wrap="square" anchor="mid" lIns="91440" rIns="91440" tIns="45720" bIns="45720"/>
          <a:lstStyle/>
          <a:p>
            <a:r>
              <a:rPr lang="en-US" sz="1700" dirty="0">
                <a:b/>
                <a:solidFill>
                  <a:srgbClr val="034485"/>
                </a:solidFill>
              </a:rPr>
              <a:t>Role-Based Protection</a:t>
            </a:r>
          </a:p>
          <a:p>
            <a:r>
              <a:rPr lang="en-US" sz="1200" dirty="0">
                <a:solidFill>
                  <a:srgbClr val="1F2937"/>
                </a:solidFill>
              </a:rPr>
              <a:t>Administrator, Coach, and Student-Athlete permissions support least privilege and controlled access to system resources.</a:t>
            </a:r>
          </a:p>
        </p:txBody>
      </p:sp>
      <p:sp>
        <p:nvSpPr>
          <p:cNvPr id="30" name="Text Box"/>
          <p:cNvSpPr txBox="1"/>
          <p:nvPr/>
        </p:nvSpPr>
        <p:spPr>
          <a:xfrm>
            <a:off x="1920240" y="5623560"/>
            <a:ext cx="8366760" cy="411480"/>
          </a:xfrm>
          <a:prstGeom prst="roundRect">
            <a:avLst/>
          </a:prstGeom>
          <a:solidFill>
            <a:srgbClr val="034485"/>
          </a:solidFill>
          <a:ln w="9525">
            <a:solidFill>
              <a:srgbClr val="034485"/>
            </a:solidFill>
          </a:ln>
        </p:spPr>
        <p:txBody>
          <a:bodyPr wrap="square" anchor="mid" lIns="91440" rIns="91440" tIns="45720" bIns="45720"/>
          <a:lstStyle/>
          <a:p>
            <a:r>
              <a:rPr lang="en-US" sz="1400" dirty="0">
                <a:b/>
                <a:solidFill>
                  <a:srgbClr val="FFFFFF"/>
                </a:solidFill>
              </a:rPr>
              <a:t>Security is a shared institutional responsibility supported by clear roles, controls, monitoring, and continuous improvement.</a:t>
            </a:r>
          </a:p>
        </p:txBody>
      </p:sp>
      <p:sp>
        <p:nvSpPr>
          <p:cNvPr id="3" name="Text Box"/>
          <p:cNvSpPr txBox="1"/>
          <p:nvPr/>
        </p:nvSpPr>
        <p:spPr>
          <a:xfrm>
            <a:off x="411480" y="6446520"/>
            <a:ext cx="11384280" cy="228600"/>
          </a:xfrm>
          <a:prstGeom prst="rect">
            <a:avLst/>
          </a:prstGeom>
          <a:noFill/>
          <a:ln>
            <a:noFill/>
          </a:ln>
        </p:spPr>
        <p:txBody>
          <a:bodyPr wrap="square" anchor="top" lIns="0" rIns="91440" tIns="0" bIns="0"/>
          <a:lstStyle/>
          <a:p>
            <a:r>
              <a:rPr lang="en-US" sz="900" dirty="0">
                <a:solidFill>
                  <a:srgbClr val="64748B"/>
                </a:solidFill>
              </a:rPr>
              <a:t>Summary</a:t>
            </a:r>
          </a:p>
        </p:txBody>
      </p:sp>
    </p:spTree>
  </p:cSld>
  <p:clrMapOvr>
    <a:masterClrMapping/>
  </p:clrMapOvr>
</p:sld>
</file>

<file path=ppt/theme/theme1.xml><?xml version="1.0" encoding="utf-8"?>
<a:theme xmlns:a="http://schemas.openxmlformats.org/drawingml/2006/main" name="AC-VMIS Academic Blue">
  <a:themeElements>
    <a:clrScheme name="AC-VMIS">
      <a:dk1>
        <a:srgbClr val="102A43"/>
      </a:dk1>
      <a:lt1>
        <a:srgbClr val="FFFFFF"/>
      </a:lt1>
      <a:dk2>
        <a:srgbClr val="034485"/>
      </a:dk2>
      <a:lt2>
        <a:srgbClr val="F4F9FF"/>
      </a:lt2>
      <a:accent1>
        <a:srgbClr val="034485"/>
      </a:accent1>
      <a:accent2>
        <a:srgbClr val="0A66B2"/>
      </a:accent2>
      <a:accent3>
        <a:srgbClr val="0F766E"/>
      </a:accent3>
      <a:accent4>
        <a:srgbClr val="C2410C"/>
      </a:accent4>
      <a:accent5>
        <a:srgbClr val="B91C1C"/>
      </a:accent5>
      <a:accent6>
        <a:srgbClr val="64748B"/>
      </a:accent6>
      <a:hlink>
        <a:srgbClr val="0A66B2"/>
      </a:hlink>
      <a:folHlink>
        <a:srgbClr val="034485"/>
      </a:folHlink>
    </a:clrScheme>
    <a:fontScheme name="Aptos">
      <a:majorFont>
        <a:latin typeface="Aptos Display"/>
      </a:majorFont>
      <a:minorFont>
        <a:latin typeface="Aptos"/>
      </a:minorFont>
    </a:fontScheme>
    <a:fmtScheme name="Office">
      <a:fillStyleLst>
        <a:solidFill>
          <a:schemeClr val="phClr"/>
        </a:solidFill>
      </a:fillStyleLst>
      <a:lnStyleLst>
        <a:ln w="9525">
          <a:solidFill>
            <a:schemeClr val="phClr"/>
          </a:solidFill>
        </a:ln>
      </a:lnStyleLst>
      <a:effectStyleLst>
        <a:effectStyle>
          <a:effectLst/>
        </a:effectStyle>
      </a:effectStyleLst>
      <a:bgFillStyleLst>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Application>Codex</Application>
  <PresentationFormat>On-screen Show (16:9)</PresentationFormat>
  <Slides>19</Slides>
  <Notes>19</Note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Asian College Varsity Management Information Security Policy Presentation</dc:title>
  <dc:subject>Information Security Policy</dc:subject>
  <dc:creator>Codex</dc:creator>
  <cp:lastModifiedBy>Codex</cp:lastModifiedBy>
  <dcterms:created xsi:type="dcterms:W3CDTF">2026-06-27T00:00:00Z</dcterms:created>
  <dcterms:modified xsi:type="dcterms:W3CDTF">2026-06-27T00:00:00Z</dcterms:modified>
</cp:coreProperties>
</file>